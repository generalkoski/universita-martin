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82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1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6E6E6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D23244C-8D76-4DF8-B735-88283C9CD9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022867-483B-4EE4-90CA-F718C8440A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E2E25C4C-3321-46A0-AFC0-0945CD0D45C9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ABFC5-FFC3-4061-BDF3-DE337BFAFC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A6EE7-9FBD-412F-A54B-1342E1F9B2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21A69ECB-54C7-4F30-A3DA-E961BC2C8D26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C3B887F-017A-44CB-AF18-8E266B78073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F009CCB-D089-49B8-A661-28A83FCA013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D3033CB-AE86-4F81-8BF6-811D2233BC3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0BB7A54A-96E6-4C0B-99ED-73CECFA7881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ED72B503-B2E2-43EB-AE77-A864701391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CE8A9AE6-72AE-46EA-9A88-F361A01002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1DA1BCAC-4613-43FD-B5D2-C6BF19DA7004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89F22E62-0298-4AFA-B8EB-D97996527D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3C457C3-DBF4-4CD6-A9EC-1B45BF4808C4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92C0F2F3-83A6-471B-B0C4-CCECF4C9E4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FDAD5D5-5233-4BA9-9E6A-1701427EA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96B3166B-56EB-4943-A53D-32057B07B1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EA9E4CA-37E8-4A57-8276-9F8004A6B78D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C4D536F3-2C85-4B2A-81D6-8EC32101641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C40104B9-BB8D-4CE2-9CE5-54884F785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2C5BC6B7-5712-4392-9FF4-9A85835ABD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6ACEE7A-FB11-4925-AF1D-DDEA04E11FD3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0DE8A015-3135-47A3-B0E2-19DF19869E7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F764EB4-7F63-481D-BC69-48FEABD21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822E426A-880F-4FDB-ADAD-CC697A6F5A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A2932EA-0191-4D13-A2A0-FB4B5C10449B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6805E01A-E288-40A5-8E00-68FBADF8F87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A621DA8-3D58-4597-930B-A1195CBA8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B04AB282-A4D0-47CE-B47F-54BEF29C64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A8FA852-3B97-4350-95E4-CBE0CA7C282C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4A9D4D20-E033-4F53-8926-5B8795E62AF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D1C871F-41EA-4041-A8FE-34633FAED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F9E5BA3B-172B-4FB5-8D2A-A6A922286C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5E5443E-2DD8-489F-B76B-46965F9E595B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1CC5C715-1505-4B9B-B527-E947F8CE28B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96442C1-EF40-49B9-A317-53E072BDEF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0F05082D-C8AF-49BB-93A5-33E08DF0FD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6638E24-60F9-407E-B452-16A9B9342235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295D3AFC-7A9E-4DD2-A7BE-3422EDC2F12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234D890-35F1-4807-AB46-1FD5CEA4B8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99FA93B6-4822-493B-AD51-8FAF00B952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A22D2FD-FB3F-4FAB-9195-1922376C042C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48717F28-B7AE-4073-AF5F-B6CB5508B29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2AB2CA6C-4E1D-4AD1-9BE5-E7E8FBB445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49EB6E41-1A05-493C-B632-CCBBE5ED7E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D3CFA45-17F7-4040-AC7F-B8F1AAEA644D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BD66B85D-A8E7-45C6-AFF2-DD7B2C8E7D9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F9650E4-F7F8-4272-8D75-6A77221DD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D97B859A-3635-4338-824B-6D67E93868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4AEADD5-384F-4038-83E0-C2A72D28F0D7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F8BF11B2-4524-4127-AF83-1CF4222FFF6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2626D92-9A15-4082-A5C9-E893B31B7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008C4FD7-1C4F-4F48-B780-9C7146E57D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8CBD53A-CCAB-402E-804C-49D876007480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0DC77D6C-1FA8-4CB9-A35E-3F30473BF16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B52BF8F-B257-4AC6-AE67-4AE4FE9C27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BA728358-9262-4092-92F8-E4A73D3DC9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0F0E18D-D393-4231-AA2D-E95BF21709A0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07A7B47C-D66D-4417-9131-8D40270FCA1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05386DE-EDBC-46A3-94CD-5415AA3D0E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4CCA2C61-3E06-436A-8FF4-35D63C98A5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F2FB438-EF1C-4EEC-A877-80F91C006ECF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1AE3554B-8B5B-4FD2-A325-2124CDFEE7D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943AE6B-C483-4C4C-A85F-98428A4488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6C42531F-E6A8-407B-BE93-937507A731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8A64E56-1AEE-44AB-B4CA-3EA7D904CB2B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84596B09-0446-4602-B2B6-D7109AE2E99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EA4B9CD-C55B-4C82-9C9F-B657985811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CF682B3A-80A8-413F-9EE1-2FA826456B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6C7465E-FB81-44F6-8309-A2BE13FA477A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B0BD91FA-E7CD-4FA7-A466-48DF24BCA4E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CCFE914-6B69-41A2-AA88-541867719A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F9C72EA6-8560-4FB9-A268-50DCD3C8FF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4B0E7CF-8850-4CF8-8C01-A64201859359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0AFF2014-A2B8-490E-ABB5-7CD8CFF9078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378BFB65-93C0-459A-8884-E23EFC8021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0B76C224-A754-4004-B940-69A296E1A7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EA68086-8827-4722-9B4F-74D3CA979DEF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77CCEC70-CD62-4E5F-9CE3-8FD53A66049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BCA45FE-60C9-4C96-8060-FCDB14C1A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4D9C02A4-0327-4192-967F-140B25FE4E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342C823-4D59-43E2-9EDD-27CC3D43C5E7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9F2AA165-447F-47D5-A53B-43948FA129B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E0F7E63-9DA2-4AD8-B7D1-F3B8A3E8DE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33901110-6FAB-4F57-AE30-C0F7335423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944FE09-1B0B-4AFC-84E5-25B46026E56B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0CD13450-9F80-43CD-AD1B-7C0CEB965DF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3505BF85-9628-4CE9-8F36-FBA50505C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38BEEBBE-BDBA-4AE3-A6BA-DA167BA9B5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CDA3E30-78C2-42ED-9D90-BB7A16A75B11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1F7622C4-4A24-4339-A304-3ED29C12D47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EC595B1-50CE-48DA-80DC-8A78619447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60749C98-6507-4465-8DFB-7F7099B18B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9D5C91B-B544-4677-B911-49B49458BB48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140415AA-7529-486C-A54B-6077467E13D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E6FBFC2-9B0E-4197-B886-6377AAA916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5C7D874B-B8F8-4047-BAD8-D6849084A7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54F204C-EF84-4A0F-8B6B-B00E16F94C57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06976483-FA8A-4F3F-9CF4-94B47592B73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D2A969A-A2A9-4D3C-997E-AE3CA3389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25540108-12B6-4A95-94A5-132CB4AE81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0E0E319-6AEF-4611-8478-9E4806D6BBD4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C7697391-74B0-4835-A6C8-6CCD99D45A2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14E526B4-6449-4DF3-905A-3BA3C93E5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06663B1C-FEA4-49D5-B938-ED07B36758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968E839-538A-4C6A-9C56-78498CB7F3E4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D0D39A67-640F-4F24-96BE-DF06561DF78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B956500E-DEC3-432A-8B22-26BDB50D03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85D9E1A-035C-4787-85B9-2F8AD418344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F935CF-8E42-4A2E-949E-468901A09D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1472CC-8ADA-42CE-87A6-1BC1BDEE13A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8247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F1438E6-E056-4DB6-909F-9E4B477DD3E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278BD4D-7275-4355-9A0D-BA29B3585D9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A2DBF7-8F8E-469F-81DE-DE491F4E766F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832409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F654F9E-C73E-4D77-AB97-4368E49E42B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5A37E1E-5904-412E-970B-99A07AB7576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EDC854-8A3E-4945-9268-25A1E405A5E9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27574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7BCC5E-7442-429C-AF9E-FEB2E8F7D6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1B1AE9-DF82-453F-8FCC-95A910A951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C7CB84-188A-48B7-B6BE-61A4F33DC51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837096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1D890FB-A528-404A-8F3E-9FB4DCE7583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AAA66AD-69CA-4D65-ADD4-75141ECC584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EE4EDA-D39C-4F8E-BD5B-B159784108F6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7825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0FD9344-57B0-4CBC-9426-68B5EECF186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FD90385-CBEB-4B79-AD6F-E8CC6EA39D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CF1AB2-F7EE-4575-8501-FDBC74D769E2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84832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A303398-4BB9-453B-8723-BF5A312D5D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8B0DB54-F27B-434F-AF86-D21A7A84E20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41C7A1-5233-4D47-8353-21B1856291D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925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03590C-C81B-4DFC-86FE-D40D9A9CF5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0CDE66-B3C2-4DEA-9E5D-2029F1A03C3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AF5F86-5B6A-4059-A475-00CE731D88E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810260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A8CBA7-AF4B-4A9F-8A67-4DF54AB80F9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0F9177-392A-4DB3-990C-0DD73C806A7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9B0098-B5B8-47BF-B8A3-28253360BA5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828017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8B31FEC-6154-4BA4-A68F-5C5705F30C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F65C082-212A-4F23-B532-12CD1AC8874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9CA8A6-7972-4CCA-B47C-8F286118883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090067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9885687-18DB-4D7D-AAAA-8756DE6DFB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D9E215A-93F8-4755-818D-0FBD38D3B10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57FFFF-BA04-4DB4-93DE-AF418761BD4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27089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71CD274-BC84-4B47-A617-391328C9BD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8939A95-7E2E-4D06-9BA3-50325DBDD7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94D94B5-A9E6-44EB-93C1-4F64623000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15FBF-4644-42E2-A530-DEEBA0D9652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2D46B4D1-78C0-4EF3-9914-DABA78F0F1AD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C7AC052D-B01A-468E-B76F-9F51AAC296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841EB22C-BDD5-442E-9325-65AD9F12910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0785A9A7-A7BB-4F46-A3DE-10ACD9DC47D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Intermediate Representations</a:t>
            </a:r>
            <a:br>
              <a:rPr lang="en-US" altLang="it-IT" sz="3200" i="1"/>
            </a:br>
            <a:br>
              <a:rPr lang="en-US" altLang="it-IT" sz="32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7F282C8-1F76-4E83-A5FF-55AD7E0092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6E733BF3-9FA7-444F-96BB-D45D507DA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8">
            <a:extLst>
              <a:ext uri="{FF2B5EF4-FFF2-40B4-BE49-F238E27FC236}">
                <a16:creationId xmlns:a16="http://schemas.microsoft.com/office/drawing/2014/main" id="{73A3159E-B794-4CF4-92FA-271DCC177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  <p:sp>
        <p:nvSpPr>
          <p:cNvPr id="14342" name="Text Box 9">
            <a:extLst>
              <a:ext uri="{FF2B5EF4-FFF2-40B4-BE49-F238E27FC236}">
                <a16:creationId xmlns:a16="http://schemas.microsoft.com/office/drawing/2014/main" id="{E88F3F77-4948-480B-8932-2CDAF1041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657600"/>
            <a:ext cx="2438400" cy="83502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Most of the material in this lecture comes from Chapter 5 of </a:t>
            </a: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EaC</a:t>
            </a:r>
            <a:endParaRPr lang="en-US" sz="1600" dirty="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Content Placeholder 2">
            <a:extLst>
              <a:ext uri="{FF2B5EF4-FFF2-40B4-BE49-F238E27FC236}">
                <a16:creationId xmlns:a16="http://schemas.microsoft.com/office/drawing/2014/main" id="{199527DC-8487-4A9B-AC54-9EA0D23BF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Obvious answer:</a:t>
            </a:r>
            <a:r>
              <a:rPr lang="en-US" altLang="it-IT"/>
              <a:t> at the start of Chapter 5 in EaC</a:t>
            </a:r>
          </a:p>
          <a:p>
            <a:pPr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More important answer</a:t>
            </a:r>
          </a:p>
          <a:p>
            <a:pPr>
              <a:spcBef>
                <a:spcPts val="600"/>
              </a:spcBef>
            </a:pPr>
            <a:r>
              <a:rPr lang="en-US" altLang="it-IT"/>
              <a:t>We are on the cusp of the art, science, &amp; engineering of compilation</a:t>
            </a:r>
          </a:p>
          <a:p>
            <a:pPr>
              <a:spcBef>
                <a:spcPts val="600"/>
              </a:spcBef>
            </a:pPr>
            <a:r>
              <a:rPr lang="en-US" altLang="it-IT"/>
              <a:t>Scanning &amp; parsing are applications of automata theory</a:t>
            </a:r>
          </a:p>
          <a:p>
            <a:pPr>
              <a:spcBef>
                <a:spcPts val="600"/>
              </a:spcBef>
            </a:pPr>
            <a:r>
              <a:rPr lang="en-US" altLang="it-IT"/>
              <a:t>Context-sensitive analysis, as covered in class, is mostly software engineering</a:t>
            </a:r>
          </a:p>
          <a:p>
            <a:pPr>
              <a:spcBef>
                <a:spcPts val="600"/>
              </a:spcBef>
            </a:pPr>
            <a:r>
              <a:rPr lang="en-US" altLang="it-IT"/>
              <a:t>The mid-section of the course will focus on issues where the compiler writer needs to choose among alternatives</a:t>
            </a:r>
          </a:p>
          <a:p>
            <a:pPr lvl="1">
              <a:spcBef>
                <a:spcPts val="600"/>
              </a:spcBef>
            </a:pPr>
            <a:r>
              <a:rPr lang="en-US" altLang="it-IT"/>
              <a:t>The choices matter; they affect the quality of compiled code</a:t>
            </a:r>
          </a:p>
          <a:p>
            <a:pPr lvl="1">
              <a:spcBef>
                <a:spcPts val="600"/>
              </a:spcBef>
            </a:pPr>
            <a:r>
              <a:rPr lang="en-US" altLang="it-IT"/>
              <a:t>There may be no “best answer” or “best practice”</a:t>
            </a:r>
          </a:p>
          <a:p>
            <a:pPr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To my mind, the fun begins at this point</a:t>
            </a:r>
          </a:p>
        </p:txBody>
      </p:sp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48298A5C-D452-4CD6-87A3-383CD85BFE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1" name="Slide Number Placeholder 4">
            <a:extLst>
              <a:ext uri="{FF2B5EF4-FFF2-40B4-BE49-F238E27FC236}">
                <a16:creationId xmlns:a16="http://schemas.microsoft.com/office/drawing/2014/main" id="{62AAC37C-0FFB-4CC7-9A32-F56E6C42C6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80FB95A-9636-4619-99B4-1730A29539C9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7412" name="Title 5">
            <a:extLst>
              <a:ext uri="{FF2B5EF4-FFF2-40B4-BE49-F238E27FC236}">
                <a16:creationId xmlns:a16="http://schemas.microsoft.com/office/drawing/2014/main" id="{A070EC9B-8E7B-48ED-92F0-175D3B61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Where In The Course Are We?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Footer Placeholder 3">
            <a:extLst>
              <a:ext uri="{FF2B5EF4-FFF2-40B4-BE49-F238E27FC236}">
                <a16:creationId xmlns:a16="http://schemas.microsoft.com/office/drawing/2014/main" id="{8A1AF195-E3D9-4219-826E-F6CE10BB58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514B5CFC-CBFB-4648-BA4C-B259E7C0FB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29C05D8-C050-47C1-91A2-8CC908678B05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6720B67-F061-4E77-AB95-334BCD984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Intermediate Representations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E8AB9D10-FFA8-41AA-AA58-2288A44195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922588"/>
            <a:ext cx="7772400" cy="3173412"/>
          </a:xfrm>
        </p:spPr>
        <p:txBody>
          <a:bodyPr/>
          <a:lstStyle/>
          <a:p>
            <a:pPr eaLnBrk="1" hangingPunct="1"/>
            <a:r>
              <a:rPr lang="en-US" altLang="it-IT"/>
              <a:t>Front end - produces an intermediate representation (</a:t>
            </a:r>
            <a:r>
              <a:rPr lang="en-US" altLang="it-IT" i="1"/>
              <a:t>IR</a:t>
            </a:r>
            <a:r>
              <a:rPr lang="en-US" altLang="it-IT"/>
              <a:t>)</a:t>
            </a:r>
          </a:p>
          <a:p>
            <a:pPr eaLnBrk="1" hangingPunct="1"/>
            <a:r>
              <a:rPr lang="en-US" altLang="it-IT"/>
              <a:t>Middle end - transforms the </a:t>
            </a:r>
            <a:r>
              <a:rPr lang="en-US" altLang="it-IT" i="1"/>
              <a:t>IR </a:t>
            </a:r>
            <a:r>
              <a:rPr lang="en-US" altLang="it-IT"/>
              <a:t>into an equivalent </a:t>
            </a:r>
            <a:r>
              <a:rPr lang="en-US" altLang="it-IT" i="1"/>
              <a:t>IR</a:t>
            </a:r>
            <a:r>
              <a:rPr lang="en-US" altLang="it-IT"/>
              <a:t> that runs more efficiently</a:t>
            </a:r>
          </a:p>
          <a:p>
            <a:pPr eaLnBrk="1" hangingPunct="1"/>
            <a:r>
              <a:rPr lang="en-US" altLang="it-IT"/>
              <a:t>Back end - transforms the </a:t>
            </a:r>
            <a:r>
              <a:rPr lang="en-US" altLang="it-IT" i="1"/>
              <a:t>IR</a:t>
            </a:r>
            <a:r>
              <a:rPr lang="en-US" altLang="it-IT"/>
              <a:t> into native code</a:t>
            </a:r>
          </a:p>
          <a:p>
            <a:pPr eaLnBrk="1" hangingPunct="1"/>
            <a:endParaRPr lang="en-US" altLang="it-IT"/>
          </a:p>
          <a:p>
            <a:pPr eaLnBrk="1" hangingPunct="1"/>
            <a:r>
              <a:rPr lang="en-US" altLang="it-IT" i="1"/>
              <a:t>IR </a:t>
            </a:r>
            <a:r>
              <a:rPr lang="en-US" altLang="it-IT"/>
              <a:t>encodes the compiler’s knowledge of the program</a:t>
            </a:r>
          </a:p>
          <a:p>
            <a:pPr eaLnBrk="1" hangingPunct="1"/>
            <a:r>
              <a:rPr lang="en-US" altLang="it-IT"/>
              <a:t>Middle end usually consists of several passes</a:t>
            </a:r>
          </a:p>
        </p:txBody>
      </p:sp>
      <p:grpSp>
        <p:nvGrpSpPr>
          <p:cNvPr id="18437" name="Group 18">
            <a:extLst>
              <a:ext uri="{FF2B5EF4-FFF2-40B4-BE49-F238E27FC236}">
                <a16:creationId xmlns:a16="http://schemas.microsoft.com/office/drawing/2014/main" id="{10D83ED4-91AF-4532-B27F-740820FD966F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524000"/>
            <a:ext cx="7296150" cy="1143000"/>
            <a:chOff x="685800" y="1524000"/>
            <a:chExt cx="7296150" cy="1143000"/>
          </a:xfrm>
        </p:grpSpPr>
        <p:sp>
          <p:nvSpPr>
            <p:cNvPr id="16399" name="Rectangle 14">
              <a:extLst>
                <a:ext uri="{FF2B5EF4-FFF2-40B4-BE49-F238E27FC236}">
                  <a16:creationId xmlns:a16="http://schemas.microsoft.com/office/drawing/2014/main" id="{C40E89A5-51CC-46ED-84DD-B987CF4BA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363" y="1524000"/>
              <a:ext cx="4570412" cy="11430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8439" name="Text Box 5">
              <a:extLst>
                <a:ext uri="{FF2B5EF4-FFF2-40B4-BE49-F238E27FC236}">
                  <a16:creationId xmlns:a16="http://schemas.microsoft.com/office/drawing/2014/main" id="{6E9742BC-CD6A-4DC4-B144-D2B4CE2D3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7588" y="1752600"/>
              <a:ext cx="914400" cy="685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Front</a:t>
              </a:r>
            </a:p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End</a:t>
              </a:r>
            </a:p>
          </p:txBody>
        </p:sp>
        <p:sp>
          <p:nvSpPr>
            <p:cNvPr id="18440" name="Text Box 6">
              <a:extLst>
                <a:ext uri="{FF2B5EF4-FFF2-40B4-BE49-F238E27FC236}">
                  <a16:creationId xmlns:a16="http://schemas.microsoft.com/office/drawing/2014/main" id="{E9A5CB46-06EA-44F8-A2A2-944D9D542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6200" y="1752600"/>
              <a:ext cx="914400" cy="685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Middle</a:t>
              </a:r>
            </a:p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End</a:t>
              </a:r>
            </a:p>
          </p:txBody>
        </p:sp>
        <p:sp>
          <p:nvSpPr>
            <p:cNvPr id="18441" name="Text Box 7">
              <a:extLst>
                <a:ext uri="{FF2B5EF4-FFF2-40B4-BE49-F238E27FC236}">
                  <a16:creationId xmlns:a16="http://schemas.microsoft.com/office/drawing/2014/main" id="{66126AC1-7D43-48B8-9D64-81AFF4531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4813" y="1752600"/>
              <a:ext cx="914400" cy="685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Back</a:t>
              </a:r>
            </a:p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End</a:t>
              </a:r>
            </a:p>
          </p:txBody>
        </p:sp>
        <p:sp>
          <p:nvSpPr>
            <p:cNvPr id="18442" name="Line 8">
              <a:extLst>
                <a:ext uri="{FF2B5EF4-FFF2-40B4-BE49-F238E27FC236}">
                  <a16:creationId xmlns:a16="http://schemas.microsoft.com/office/drawing/2014/main" id="{124172DF-DB7B-4C76-AB67-852D0ED02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988" y="2090738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8443" name="Line 9">
              <a:extLst>
                <a:ext uri="{FF2B5EF4-FFF2-40B4-BE49-F238E27FC236}">
                  <a16:creationId xmlns:a16="http://schemas.microsoft.com/office/drawing/2014/main" id="{2F5B6DC2-B287-4552-B0E0-ECBDF80F90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188" y="2090738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8444" name="Text Box 10">
              <a:extLst>
                <a:ext uri="{FF2B5EF4-FFF2-40B4-BE49-F238E27FC236}">
                  <a16:creationId xmlns:a16="http://schemas.microsoft.com/office/drawing/2014/main" id="{F4CFFCB4-4F25-4B79-AB48-78E6C4C34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888" y="1760538"/>
              <a:ext cx="50186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 b="1" i="1">
                  <a:solidFill>
                    <a:srgbClr val="003C75"/>
                  </a:solidFill>
                </a:rPr>
                <a:t>IR</a:t>
              </a:r>
            </a:p>
          </p:txBody>
        </p:sp>
        <p:sp>
          <p:nvSpPr>
            <p:cNvPr id="18445" name="Text Box 11">
              <a:extLst>
                <a:ext uri="{FF2B5EF4-FFF2-40B4-BE49-F238E27FC236}">
                  <a16:creationId xmlns:a16="http://schemas.microsoft.com/office/drawing/2014/main" id="{A30ECED7-3AD7-4998-AAF8-D1B066A53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088" y="1760538"/>
              <a:ext cx="50186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 b="1" i="1">
                  <a:solidFill>
                    <a:srgbClr val="003C75"/>
                  </a:solidFill>
                </a:rPr>
                <a:t>IR</a:t>
              </a:r>
            </a:p>
          </p:txBody>
        </p:sp>
        <p:sp>
          <p:nvSpPr>
            <p:cNvPr id="18446" name="Line 12">
              <a:extLst>
                <a:ext uri="{FF2B5EF4-FFF2-40B4-BE49-F238E27FC236}">
                  <a16:creationId xmlns:a16="http://schemas.microsoft.com/office/drawing/2014/main" id="{8B94A7B9-A158-4A51-814C-48C6CA52DB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1788" y="2090738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8447" name="Line 13">
              <a:extLst>
                <a:ext uri="{FF2B5EF4-FFF2-40B4-BE49-F238E27FC236}">
                  <a16:creationId xmlns:a16="http://schemas.microsoft.com/office/drawing/2014/main" id="{0B606F97-8832-444E-B4EF-AC52CDCC3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2388" y="2090738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8448" name="Text Box 15">
              <a:extLst>
                <a:ext uri="{FF2B5EF4-FFF2-40B4-BE49-F238E27FC236}">
                  <a16:creationId xmlns:a16="http://schemas.microsoft.com/office/drawing/2014/main" id="{E2934AA3-3CED-435D-A6FA-E49B333A3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1752600"/>
              <a:ext cx="893763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>
                  <a:latin typeface="Arial Rounded MT Bold" panose="020F0704030504030204" pitchFamily="34" charset="0"/>
                </a:rPr>
                <a:t>Source</a:t>
              </a:r>
            </a:p>
            <a:p>
              <a:pPr algn="ctr"/>
              <a:r>
                <a:rPr lang="en-US" altLang="it-IT" sz="1600" i="1">
                  <a:latin typeface="Arial Rounded MT Bold" panose="020F0704030504030204" pitchFamily="34" charset="0"/>
                </a:rPr>
                <a:t>Code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18449" name="Text Box 16">
              <a:extLst>
                <a:ext uri="{FF2B5EF4-FFF2-40B4-BE49-F238E27FC236}">
                  <a16:creationId xmlns:a16="http://schemas.microsoft.com/office/drawing/2014/main" id="{E6AF5E5B-C608-46D0-A8AC-A914A91B4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8188" y="1754188"/>
              <a:ext cx="893762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>
                  <a:latin typeface="Arial Rounded MT Bold" panose="020F0704030504030204" pitchFamily="34" charset="0"/>
                </a:rPr>
                <a:t>Target</a:t>
              </a:r>
            </a:p>
            <a:p>
              <a:pPr algn="ctr"/>
              <a:r>
                <a:rPr lang="en-US" altLang="it-IT" sz="1600" i="1">
                  <a:latin typeface="Arial Rounded MT Bold" panose="020F0704030504030204" pitchFamily="34" charset="0"/>
                </a:rPr>
                <a:t>Code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3">
            <a:extLst>
              <a:ext uri="{FF2B5EF4-FFF2-40B4-BE49-F238E27FC236}">
                <a16:creationId xmlns:a16="http://schemas.microsoft.com/office/drawing/2014/main" id="{65D62283-E940-462A-9765-87FE479F76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A5AA47BF-DCAC-4029-BB94-ED8F3F1DA0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3ADF63E-B2A3-4598-A47E-AE03F8833B71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98FEF3A6-4314-441B-876D-5B46E4EBC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Intermediate Representations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65B20670-894E-4566-BE1D-DFF2D0A998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Decisions in </a:t>
            </a:r>
            <a:r>
              <a:rPr lang="en-US" altLang="it-IT" i="1"/>
              <a:t>IR </a:t>
            </a:r>
            <a:r>
              <a:rPr lang="en-US" altLang="it-IT"/>
              <a:t>design affect the speed and efficiency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     of the compiler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it-IT"/>
              <a:t>Some important </a:t>
            </a:r>
            <a:r>
              <a:rPr lang="en-US" altLang="it-IT" i="1"/>
              <a:t>IR </a:t>
            </a:r>
            <a:r>
              <a:rPr lang="en-US" altLang="it-IT"/>
              <a:t>properties</a:t>
            </a:r>
          </a:p>
          <a:p>
            <a:pPr lvl="1" eaLnBrk="1" hangingPunct="1"/>
            <a:r>
              <a:rPr lang="en-US" altLang="it-IT"/>
              <a:t>Ease of generation</a:t>
            </a:r>
          </a:p>
          <a:p>
            <a:pPr lvl="1" eaLnBrk="1" hangingPunct="1"/>
            <a:r>
              <a:rPr lang="en-US" altLang="it-IT"/>
              <a:t>Ease of manipulation</a:t>
            </a:r>
          </a:p>
          <a:p>
            <a:pPr lvl="1" eaLnBrk="1" hangingPunct="1"/>
            <a:r>
              <a:rPr lang="en-US" altLang="it-IT"/>
              <a:t>Procedure size</a:t>
            </a:r>
          </a:p>
          <a:p>
            <a:pPr lvl="1" eaLnBrk="1" hangingPunct="1"/>
            <a:r>
              <a:rPr lang="en-US" altLang="it-IT"/>
              <a:t>Freedom of expression</a:t>
            </a:r>
          </a:p>
          <a:p>
            <a:pPr lvl="1" eaLnBrk="1" hangingPunct="1"/>
            <a:r>
              <a:rPr lang="en-US" altLang="it-IT"/>
              <a:t>Level of abstraction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it-IT"/>
              <a:t>The importance of different properties varies between compilers</a:t>
            </a:r>
          </a:p>
          <a:p>
            <a:pPr lvl="1" eaLnBrk="1" hangingPunct="1"/>
            <a:r>
              <a:rPr lang="en-US" altLang="it-IT"/>
              <a:t>Selecting an appropriate </a:t>
            </a:r>
            <a:r>
              <a:rPr lang="en-US" altLang="it-IT" i="1"/>
              <a:t>IR</a:t>
            </a:r>
            <a:r>
              <a:rPr lang="en-US" altLang="it-IT"/>
              <a:t> for a compiler is critical</a:t>
            </a: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3">
            <a:extLst>
              <a:ext uri="{FF2B5EF4-FFF2-40B4-BE49-F238E27FC236}">
                <a16:creationId xmlns:a16="http://schemas.microsoft.com/office/drawing/2014/main" id="{6F30F0B4-D687-4451-B960-D06125145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4E775BC4-CE14-42A9-85F9-8430ECED5B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0109C77-2571-40FC-80F5-B3BDAA499504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BA361E63-986A-4451-84EA-25B852130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Types of Intermediate Representations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035C806-5BA1-41A1-A275-D87D78A6B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48768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sz="1800"/>
              <a:t>Three major categories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 sz="1800"/>
              <a:t>Structural</a:t>
            </a:r>
          </a:p>
          <a:p>
            <a:pPr lvl="1" eaLnBrk="1" hangingPunct="1"/>
            <a:r>
              <a:rPr lang="en-US" altLang="it-IT" sz="1600"/>
              <a:t>Graphically oriented</a:t>
            </a:r>
          </a:p>
          <a:p>
            <a:pPr lvl="1" eaLnBrk="1" hangingPunct="1"/>
            <a:r>
              <a:rPr lang="en-US" altLang="it-IT" sz="1600"/>
              <a:t>Heavily used in source-to-source translators</a:t>
            </a:r>
          </a:p>
          <a:p>
            <a:pPr lvl="1" eaLnBrk="1" hangingPunct="1"/>
            <a:r>
              <a:rPr lang="en-US" altLang="it-IT" sz="1600"/>
              <a:t>Tend to be large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it-IT" sz="1800"/>
              <a:t>Linear</a:t>
            </a:r>
          </a:p>
          <a:p>
            <a:pPr lvl="1" eaLnBrk="1" hangingPunct="1"/>
            <a:r>
              <a:rPr lang="en-US" altLang="it-IT" sz="1600"/>
              <a:t>Pseudo-code for an abstract machine</a:t>
            </a:r>
          </a:p>
          <a:p>
            <a:pPr lvl="1" eaLnBrk="1" hangingPunct="1"/>
            <a:r>
              <a:rPr lang="en-US" altLang="it-IT" sz="1600"/>
              <a:t>Level of abstraction varies</a:t>
            </a:r>
          </a:p>
          <a:p>
            <a:pPr lvl="1" eaLnBrk="1" hangingPunct="1"/>
            <a:r>
              <a:rPr lang="en-US" altLang="it-IT" sz="1600"/>
              <a:t>Simple, compact data structures</a:t>
            </a:r>
          </a:p>
          <a:p>
            <a:pPr lvl="1" eaLnBrk="1" hangingPunct="1"/>
            <a:r>
              <a:rPr lang="en-US" altLang="it-IT" sz="1600"/>
              <a:t>Easier to rearrange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it-IT" sz="1800"/>
              <a:t>Hybrid</a:t>
            </a:r>
          </a:p>
          <a:p>
            <a:pPr lvl="1" eaLnBrk="1" hangingPunct="1"/>
            <a:r>
              <a:rPr lang="en-US" altLang="it-IT" sz="1600"/>
              <a:t>Combination of graphs and linear code</a:t>
            </a:r>
          </a:p>
          <a:p>
            <a:pPr lvl="1" eaLnBrk="1" hangingPunct="1"/>
            <a:r>
              <a:rPr lang="en-US" altLang="it-IT" sz="1600"/>
              <a:t>Example: control-flow graph</a:t>
            </a:r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FE9A1AF0-EF94-4A27-B654-14EFEEB7D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676400"/>
            <a:ext cx="16097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003C75"/>
                </a:solidFill>
              </a:rPr>
              <a:t>Examples:</a:t>
            </a:r>
          </a:p>
          <a:p>
            <a:r>
              <a:rPr lang="en-US" altLang="it-IT">
                <a:solidFill>
                  <a:srgbClr val="003C75"/>
                </a:solidFill>
              </a:rPr>
              <a:t>Trees, DAGs </a:t>
            </a:r>
          </a:p>
        </p:txBody>
      </p:sp>
      <p:sp>
        <p:nvSpPr>
          <p:cNvPr id="22534" name="Text Box 5">
            <a:extLst>
              <a:ext uri="{FF2B5EF4-FFF2-40B4-BE49-F238E27FC236}">
                <a16:creationId xmlns:a16="http://schemas.microsoft.com/office/drawing/2014/main" id="{5925D0DE-F8AF-438A-B5BD-E32AC2485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048000"/>
            <a:ext cx="236378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003C75"/>
                </a:solidFill>
              </a:rPr>
              <a:t>Examples:</a:t>
            </a:r>
          </a:p>
          <a:p>
            <a:r>
              <a:rPr lang="en-US" altLang="it-IT">
                <a:solidFill>
                  <a:srgbClr val="003C75"/>
                </a:solidFill>
              </a:rPr>
              <a:t>3 address code</a:t>
            </a:r>
          </a:p>
          <a:p>
            <a:r>
              <a:rPr lang="en-US" altLang="it-IT">
                <a:solidFill>
                  <a:srgbClr val="003C75"/>
                </a:solidFill>
              </a:rPr>
              <a:t>Stack machine code </a:t>
            </a:r>
          </a:p>
        </p:txBody>
      </p:sp>
      <p:sp>
        <p:nvSpPr>
          <p:cNvPr id="22535" name="Text Box 6">
            <a:extLst>
              <a:ext uri="{FF2B5EF4-FFF2-40B4-BE49-F238E27FC236}">
                <a16:creationId xmlns:a16="http://schemas.microsoft.com/office/drawing/2014/main" id="{92D303A5-E68A-41FA-AC92-471087183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648200"/>
            <a:ext cx="2251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003C75"/>
                </a:solidFill>
              </a:rPr>
              <a:t>Example:</a:t>
            </a:r>
          </a:p>
          <a:p>
            <a:r>
              <a:rPr lang="en-US" altLang="it-IT">
                <a:solidFill>
                  <a:srgbClr val="003C75"/>
                </a:solidFill>
              </a:rPr>
              <a:t>Control-flow graph </a:t>
            </a: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3">
            <a:extLst>
              <a:ext uri="{FF2B5EF4-FFF2-40B4-BE49-F238E27FC236}">
                <a16:creationId xmlns:a16="http://schemas.microsoft.com/office/drawing/2014/main" id="{CDC83CFE-7153-4BF3-BE5B-90017D49E9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A8CAA771-DDF4-4367-A90E-350D347062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4B83874-6CA0-4962-8068-D8F7763ACF0C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72A9A32-A0F0-4504-BB74-25C4898D4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Level of Abstraction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1355A026-0816-465A-A31A-C8AB42A060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11604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it-IT"/>
              <a:t>The level of detail exposed in an </a:t>
            </a:r>
            <a:r>
              <a:rPr lang="en-US" altLang="it-IT" i="1"/>
              <a:t>IR </a:t>
            </a:r>
            <a:r>
              <a:rPr lang="en-US" altLang="it-IT"/>
              <a:t>influences the profitability and feasibility of different optimizations.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/>
              <a:t>Two different representations of an array reference:</a:t>
            </a:r>
          </a:p>
        </p:txBody>
      </p:sp>
      <p:grpSp>
        <p:nvGrpSpPr>
          <p:cNvPr id="24581" name="Group 23">
            <a:extLst>
              <a:ext uri="{FF2B5EF4-FFF2-40B4-BE49-F238E27FC236}">
                <a16:creationId xmlns:a16="http://schemas.microsoft.com/office/drawing/2014/main" id="{0E7D660F-5C95-419E-8F6F-BD76E79F6AA5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048000"/>
            <a:ext cx="2286000" cy="1371600"/>
            <a:chOff x="768" y="1920"/>
            <a:chExt cx="1440" cy="864"/>
          </a:xfrm>
        </p:grpSpPr>
        <p:sp>
          <p:nvSpPr>
            <p:cNvPr id="24585" name="AutoShape 6">
              <a:extLst>
                <a:ext uri="{FF2B5EF4-FFF2-40B4-BE49-F238E27FC236}">
                  <a16:creationId xmlns:a16="http://schemas.microsoft.com/office/drawing/2014/main" id="{BD07B4D0-6608-401E-BB89-EED5CC70C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" y="1920"/>
              <a:ext cx="748" cy="28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>
                  <a:latin typeface="Arial Rounded MT Bold" panose="020F0704030504030204" pitchFamily="34" charset="0"/>
                </a:rPr>
                <a:t>subscript</a:t>
              </a:r>
            </a:p>
          </p:txBody>
        </p:sp>
        <p:sp>
          <p:nvSpPr>
            <p:cNvPr id="24586" name="Oval 9">
              <a:extLst>
                <a:ext uri="{FF2B5EF4-FFF2-40B4-BE49-F238E27FC236}">
                  <a16:creationId xmlns:a16="http://schemas.microsoft.com/office/drawing/2014/main" id="{E9EB2A56-C59D-4C9E-A468-3E9F7C7A7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49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A</a:t>
              </a:r>
            </a:p>
          </p:txBody>
        </p:sp>
        <p:sp>
          <p:nvSpPr>
            <p:cNvPr id="24587" name="Oval 12">
              <a:extLst>
                <a:ext uri="{FF2B5EF4-FFF2-40B4-BE49-F238E27FC236}">
                  <a16:creationId xmlns:a16="http://schemas.microsoft.com/office/drawing/2014/main" id="{1572219F-CEB5-4336-8BB2-BA62EC95A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49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i</a:t>
              </a:r>
            </a:p>
          </p:txBody>
        </p:sp>
        <p:sp>
          <p:nvSpPr>
            <p:cNvPr id="24588" name="Oval 15">
              <a:extLst>
                <a:ext uri="{FF2B5EF4-FFF2-40B4-BE49-F238E27FC236}">
                  <a16:creationId xmlns:a16="http://schemas.microsoft.com/office/drawing/2014/main" id="{BC1DCB9D-AF10-4E8B-B2E8-A0C8ED0AA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49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j</a:t>
              </a:r>
            </a:p>
          </p:txBody>
        </p:sp>
        <p:cxnSp>
          <p:nvCxnSpPr>
            <p:cNvPr id="24589" name="AutoShape 17">
              <a:extLst>
                <a:ext uri="{FF2B5EF4-FFF2-40B4-BE49-F238E27FC236}">
                  <a16:creationId xmlns:a16="http://schemas.microsoft.com/office/drawing/2014/main" id="{3B89F715-DEC6-49EA-9673-6C105A881358}"/>
                </a:ext>
              </a:extLst>
            </p:cNvPr>
            <p:cNvCxnSpPr>
              <a:cxnSpLocks noChangeShapeType="1"/>
              <a:stCxn id="24585" idx="2"/>
              <a:endCxn id="24587" idx="0"/>
            </p:cNvCxnSpPr>
            <p:nvPr/>
          </p:nvCxnSpPr>
          <p:spPr bwMode="auto">
            <a:xfrm>
              <a:off x="1488" y="2208"/>
              <a:ext cx="0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0" name="AutoShape 18">
              <a:extLst>
                <a:ext uri="{FF2B5EF4-FFF2-40B4-BE49-F238E27FC236}">
                  <a16:creationId xmlns:a16="http://schemas.microsoft.com/office/drawing/2014/main" id="{60BC10AB-BD49-42D9-A1A2-238EB360A531}"/>
                </a:ext>
              </a:extLst>
            </p:cNvPr>
            <p:cNvCxnSpPr>
              <a:cxnSpLocks noChangeShapeType="1"/>
              <a:endCxn id="24586" idx="7"/>
            </p:cNvCxnSpPr>
            <p:nvPr/>
          </p:nvCxnSpPr>
          <p:spPr bwMode="auto">
            <a:xfrm flipH="1">
              <a:off x="1014" y="2210"/>
              <a:ext cx="328" cy="3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1" name="AutoShape 19">
              <a:extLst>
                <a:ext uri="{FF2B5EF4-FFF2-40B4-BE49-F238E27FC236}">
                  <a16:creationId xmlns:a16="http://schemas.microsoft.com/office/drawing/2014/main" id="{E5B750B2-0CE0-4D55-8113-A406A50E911B}"/>
                </a:ext>
              </a:extLst>
            </p:cNvPr>
            <p:cNvCxnSpPr>
              <a:cxnSpLocks noChangeShapeType="1"/>
              <a:endCxn id="24588" idx="1"/>
            </p:cNvCxnSpPr>
            <p:nvPr/>
          </p:nvCxnSpPr>
          <p:spPr bwMode="auto">
            <a:xfrm>
              <a:off x="1634" y="2209"/>
              <a:ext cx="328" cy="3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4582" name="Text Box 20">
            <a:extLst>
              <a:ext uri="{FF2B5EF4-FFF2-40B4-BE49-F238E27FC236}">
                <a16:creationId xmlns:a16="http://schemas.microsoft.com/office/drawing/2014/main" id="{113301B5-B9AA-403D-915B-EC2995F00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025" y="2617788"/>
            <a:ext cx="2698750" cy="256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latin typeface="Courier"/>
              </a:rPr>
              <a:t>loadI 1</a:t>
            </a:r>
            <a:r>
              <a:rPr lang="en-US" altLang="it-IT" baseline="-25000">
                <a:latin typeface="Courier"/>
              </a:rPr>
              <a:t>  </a:t>
            </a:r>
            <a:r>
              <a:rPr lang="en-US" altLang="it-IT">
                <a:latin typeface="Courier"/>
              </a:rPr>
              <a:t>    =&gt; r</a:t>
            </a:r>
            <a:r>
              <a:rPr lang="en-US" altLang="it-IT" baseline="-25000">
                <a:latin typeface="Courier"/>
              </a:rPr>
              <a:t>1</a:t>
            </a:r>
            <a:endParaRPr lang="en-US" altLang="it-IT">
              <a:latin typeface="Courier"/>
            </a:endParaRPr>
          </a:p>
          <a:p>
            <a:r>
              <a:rPr lang="en-US" altLang="it-IT">
                <a:latin typeface="Courier"/>
              </a:rPr>
              <a:t>sub   r</a:t>
            </a:r>
            <a:r>
              <a:rPr lang="en-US" altLang="it-IT" baseline="-25000">
                <a:latin typeface="Courier"/>
              </a:rPr>
              <a:t>j</a:t>
            </a:r>
            <a:r>
              <a:rPr lang="en-US" altLang="it-IT">
                <a:latin typeface="Courier"/>
              </a:rPr>
              <a:t>, r</a:t>
            </a:r>
            <a:r>
              <a:rPr lang="en-US" altLang="it-IT" baseline="-25000">
                <a:latin typeface="Courier"/>
              </a:rPr>
              <a:t>1</a:t>
            </a:r>
            <a:r>
              <a:rPr lang="en-US" altLang="it-IT">
                <a:latin typeface="Courier"/>
              </a:rPr>
              <a:t> =&gt; r</a:t>
            </a:r>
            <a:r>
              <a:rPr lang="en-US" altLang="it-IT" baseline="-25000">
                <a:latin typeface="Courier"/>
              </a:rPr>
              <a:t>2</a:t>
            </a:r>
            <a:endParaRPr lang="en-US" altLang="it-IT">
              <a:latin typeface="Courier"/>
            </a:endParaRPr>
          </a:p>
          <a:p>
            <a:r>
              <a:rPr lang="en-US" altLang="it-IT">
                <a:latin typeface="Courier"/>
              </a:rPr>
              <a:t>loadI 10</a:t>
            </a:r>
            <a:r>
              <a:rPr lang="en-US" altLang="it-IT" baseline="-25000">
                <a:latin typeface="Courier"/>
              </a:rPr>
              <a:t>  </a:t>
            </a:r>
            <a:r>
              <a:rPr lang="en-US" altLang="it-IT">
                <a:latin typeface="Courier"/>
              </a:rPr>
              <a:t>   =&gt; r</a:t>
            </a:r>
            <a:r>
              <a:rPr lang="en-US" altLang="it-IT" baseline="-25000">
                <a:latin typeface="Courier"/>
              </a:rPr>
              <a:t>3</a:t>
            </a:r>
            <a:endParaRPr lang="en-US" altLang="it-IT">
              <a:latin typeface="Courier"/>
            </a:endParaRPr>
          </a:p>
          <a:p>
            <a:r>
              <a:rPr lang="en-US" altLang="it-IT">
                <a:latin typeface="Courier"/>
              </a:rPr>
              <a:t>mult  r</a:t>
            </a:r>
            <a:r>
              <a:rPr lang="en-US" altLang="it-IT" baseline="-25000">
                <a:latin typeface="Courier"/>
              </a:rPr>
              <a:t>2</a:t>
            </a:r>
            <a:r>
              <a:rPr lang="en-US" altLang="it-IT">
                <a:latin typeface="Courier"/>
              </a:rPr>
              <a:t>, r</a:t>
            </a:r>
            <a:r>
              <a:rPr lang="en-US" altLang="it-IT" baseline="-25000">
                <a:latin typeface="Courier"/>
              </a:rPr>
              <a:t>3</a:t>
            </a:r>
            <a:r>
              <a:rPr lang="en-US" altLang="it-IT">
                <a:latin typeface="Courier"/>
              </a:rPr>
              <a:t> =&gt; r</a:t>
            </a:r>
            <a:r>
              <a:rPr lang="en-US" altLang="it-IT" baseline="-25000">
                <a:latin typeface="Courier"/>
              </a:rPr>
              <a:t>4</a:t>
            </a:r>
            <a:endParaRPr lang="en-US" altLang="it-IT">
              <a:latin typeface="Courier"/>
            </a:endParaRPr>
          </a:p>
          <a:p>
            <a:r>
              <a:rPr lang="en-US" altLang="it-IT">
                <a:latin typeface="Courier"/>
              </a:rPr>
              <a:t>sub   r</a:t>
            </a:r>
            <a:r>
              <a:rPr lang="en-US" altLang="it-IT" baseline="-25000">
                <a:latin typeface="Courier"/>
              </a:rPr>
              <a:t>i</a:t>
            </a:r>
            <a:r>
              <a:rPr lang="en-US" altLang="it-IT">
                <a:latin typeface="Courier"/>
              </a:rPr>
              <a:t>, r</a:t>
            </a:r>
            <a:r>
              <a:rPr lang="en-US" altLang="it-IT" baseline="-25000">
                <a:latin typeface="Courier"/>
              </a:rPr>
              <a:t>1</a:t>
            </a:r>
            <a:r>
              <a:rPr lang="en-US" altLang="it-IT">
                <a:latin typeface="Courier"/>
              </a:rPr>
              <a:t> =&gt; r</a:t>
            </a:r>
            <a:r>
              <a:rPr lang="en-US" altLang="it-IT" baseline="-25000">
                <a:latin typeface="Courier"/>
              </a:rPr>
              <a:t>5</a:t>
            </a:r>
            <a:endParaRPr lang="en-US" altLang="it-IT">
              <a:latin typeface="Courier"/>
            </a:endParaRPr>
          </a:p>
          <a:p>
            <a:r>
              <a:rPr lang="en-US" altLang="it-IT">
                <a:latin typeface="Courier"/>
              </a:rPr>
              <a:t>add   r</a:t>
            </a:r>
            <a:r>
              <a:rPr lang="en-US" altLang="it-IT" baseline="-25000">
                <a:latin typeface="Courier"/>
              </a:rPr>
              <a:t>4</a:t>
            </a:r>
            <a:r>
              <a:rPr lang="en-US" altLang="it-IT">
                <a:latin typeface="Courier"/>
              </a:rPr>
              <a:t>, r</a:t>
            </a:r>
            <a:r>
              <a:rPr lang="en-US" altLang="it-IT" baseline="-25000">
                <a:latin typeface="Courier"/>
              </a:rPr>
              <a:t>5</a:t>
            </a:r>
            <a:r>
              <a:rPr lang="en-US" altLang="it-IT">
                <a:latin typeface="Courier"/>
              </a:rPr>
              <a:t> =&gt; r</a:t>
            </a:r>
            <a:r>
              <a:rPr lang="en-US" altLang="it-IT" baseline="-25000">
                <a:latin typeface="Courier"/>
              </a:rPr>
              <a:t>6</a:t>
            </a:r>
            <a:endParaRPr lang="en-US" altLang="it-IT">
              <a:latin typeface="Courier"/>
            </a:endParaRPr>
          </a:p>
          <a:p>
            <a:r>
              <a:rPr lang="en-US" altLang="it-IT">
                <a:latin typeface="Courier"/>
              </a:rPr>
              <a:t>loadI @A </a:t>
            </a:r>
            <a:r>
              <a:rPr lang="en-US" altLang="it-IT" baseline="-25000">
                <a:latin typeface="Courier"/>
              </a:rPr>
              <a:t>  </a:t>
            </a:r>
            <a:r>
              <a:rPr lang="en-US" altLang="it-IT">
                <a:latin typeface="Courier"/>
              </a:rPr>
              <a:t>  =&gt; r</a:t>
            </a:r>
            <a:r>
              <a:rPr lang="en-US" altLang="it-IT" baseline="-25000">
                <a:latin typeface="Courier"/>
              </a:rPr>
              <a:t>7</a:t>
            </a:r>
            <a:endParaRPr lang="en-US" altLang="it-IT">
              <a:latin typeface="Courier"/>
            </a:endParaRPr>
          </a:p>
          <a:p>
            <a:r>
              <a:rPr lang="en-US" altLang="it-IT">
                <a:latin typeface="Courier"/>
              </a:rPr>
              <a:t>add   r</a:t>
            </a:r>
            <a:r>
              <a:rPr lang="en-US" altLang="it-IT" baseline="-25000">
                <a:latin typeface="Courier"/>
              </a:rPr>
              <a:t>7</a:t>
            </a:r>
            <a:r>
              <a:rPr lang="en-US" altLang="it-IT">
                <a:latin typeface="Courier"/>
              </a:rPr>
              <a:t>, r</a:t>
            </a:r>
            <a:r>
              <a:rPr lang="en-US" altLang="it-IT" baseline="-25000">
                <a:latin typeface="Courier"/>
              </a:rPr>
              <a:t>6</a:t>
            </a:r>
            <a:r>
              <a:rPr lang="en-US" altLang="it-IT">
                <a:latin typeface="Courier"/>
              </a:rPr>
              <a:t> =&gt; r</a:t>
            </a:r>
            <a:r>
              <a:rPr lang="en-US" altLang="it-IT" baseline="-25000">
                <a:latin typeface="Courier"/>
              </a:rPr>
              <a:t>8</a:t>
            </a:r>
            <a:endParaRPr lang="en-US" altLang="it-IT">
              <a:latin typeface="Courier"/>
            </a:endParaRPr>
          </a:p>
          <a:p>
            <a:r>
              <a:rPr lang="en-US" altLang="it-IT">
                <a:latin typeface="Courier"/>
              </a:rPr>
              <a:t>load  r</a:t>
            </a:r>
            <a:r>
              <a:rPr lang="en-US" altLang="it-IT" baseline="-25000">
                <a:latin typeface="Courier"/>
              </a:rPr>
              <a:t>8</a:t>
            </a:r>
            <a:r>
              <a:rPr lang="en-US" altLang="it-IT">
                <a:latin typeface="Courier"/>
              </a:rPr>
              <a:t> </a:t>
            </a:r>
            <a:r>
              <a:rPr lang="en-US" altLang="it-IT" baseline="-25000">
                <a:latin typeface="Courier"/>
              </a:rPr>
              <a:t> </a:t>
            </a:r>
            <a:r>
              <a:rPr lang="en-US" altLang="it-IT">
                <a:latin typeface="Courier"/>
              </a:rPr>
              <a:t>   =&gt; r</a:t>
            </a:r>
            <a:r>
              <a:rPr lang="en-US" altLang="it-IT" baseline="-25000">
                <a:latin typeface="Courier"/>
              </a:rPr>
              <a:t>Aij</a:t>
            </a:r>
            <a:endParaRPr lang="en-US" altLang="it-IT" b="1">
              <a:latin typeface="Courier"/>
            </a:endParaRPr>
          </a:p>
        </p:txBody>
      </p:sp>
      <p:sp>
        <p:nvSpPr>
          <p:cNvPr id="24583" name="Text Box 21">
            <a:extLst>
              <a:ext uri="{FF2B5EF4-FFF2-40B4-BE49-F238E27FC236}">
                <a16:creationId xmlns:a16="http://schemas.microsoft.com/office/drawing/2014/main" id="{727611A9-89D2-493C-8CC3-BA5CC5DB9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13" y="5257800"/>
            <a:ext cx="18827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solidFill>
                  <a:srgbClr val="003C75"/>
                </a:solidFill>
              </a:rPr>
              <a:t>High level AST:</a:t>
            </a:r>
          </a:p>
          <a:p>
            <a:r>
              <a:rPr lang="en-US" altLang="it-IT" sz="1600">
                <a:solidFill>
                  <a:srgbClr val="003C75"/>
                </a:solidFill>
              </a:rPr>
              <a:t>Good for memory </a:t>
            </a:r>
          </a:p>
          <a:p>
            <a:r>
              <a:rPr lang="en-US" altLang="it-IT" sz="1600">
                <a:solidFill>
                  <a:srgbClr val="003C75"/>
                </a:solidFill>
              </a:rPr>
              <a:t>disambiguation</a:t>
            </a:r>
          </a:p>
        </p:txBody>
      </p:sp>
      <p:sp>
        <p:nvSpPr>
          <p:cNvPr id="24584" name="Text Box 22">
            <a:extLst>
              <a:ext uri="{FF2B5EF4-FFF2-40B4-BE49-F238E27FC236}">
                <a16:creationId xmlns:a16="http://schemas.microsoft.com/office/drawing/2014/main" id="{9B7B85F8-ABC9-4A2A-9B6F-DB1E26909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502275"/>
            <a:ext cx="28940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solidFill>
                  <a:srgbClr val="003C75"/>
                </a:solidFill>
              </a:rPr>
              <a:t>Low level linear code:</a:t>
            </a:r>
          </a:p>
          <a:p>
            <a:r>
              <a:rPr lang="en-US" altLang="it-IT" sz="1600">
                <a:solidFill>
                  <a:srgbClr val="003C75"/>
                </a:solidFill>
              </a:rPr>
              <a:t>Good for address calculation</a:t>
            </a: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3">
            <a:extLst>
              <a:ext uri="{FF2B5EF4-FFF2-40B4-BE49-F238E27FC236}">
                <a16:creationId xmlns:a16="http://schemas.microsoft.com/office/drawing/2014/main" id="{C8F08192-D963-46F8-8389-B31DA7B0B2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ED24F70A-3BFC-4F1D-90DA-D6AFE6A269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D900A6C-5075-4DD2-B864-2BA799CD97CA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E965A5F-666B-40C1-90DC-5DBCD2B76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Level of Abstraction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D9997A98-0491-4DDD-A3A0-F47ED558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1238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it-IT"/>
              <a:t>Structural </a:t>
            </a:r>
            <a:r>
              <a:rPr lang="en-US" altLang="it-IT" i="1"/>
              <a:t>IR</a:t>
            </a:r>
            <a:r>
              <a:rPr lang="en-US" altLang="it-IT"/>
              <a:t>s are usually considered high-level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/>
              <a:t>Linear </a:t>
            </a:r>
            <a:r>
              <a:rPr lang="en-US" altLang="it-IT" i="1"/>
              <a:t>IR</a:t>
            </a:r>
            <a:r>
              <a:rPr lang="en-US" altLang="it-IT"/>
              <a:t>s are usually considered low-level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/>
              <a:t>Not necessarily true:</a:t>
            </a:r>
          </a:p>
        </p:txBody>
      </p:sp>
      <p:grpSp>
        <p:nvGrpSpPr>
          <p:cNvPr id="26629" name="Group 4">
            <a:extLst>
              <a:ext uri="{FF2B5EF4-FFF2-40B4-BE49-F238E27FC236}">
                <a16:creationId xmlns:a16="http://schemas.microsoft.com/office/drawing/2014/main" id="{87A8323F-2963-4E6B-9061-6E58C230807E}"/>
              </a:ext>
            </a:extLst>
          </p:cNvPr>
          <p:cNvGrpSpPr>
            <a:grpSpLocks/>
          </p:cNvGrpSpPr>
          <p:nvPr/>
        </p:nvGrpSpPr>
        <p:grpSpPr bwMode="auto">
          <a:xfrm>
            <a:off x="671513" y="2514600"/>
            <a:ext cx="4662487" cy="3413125"/>
            <a:chOff x="423" y="1584"/>
            <a:chExt cx="2937" cy="2150"/>
          </a:xfrm>
        </p:grpSpPr>
        <p:grpSp>
          <p:nvGrpSpPr>
            <p:cNvPr id="26634" name="Group 5">
              <a:extLst>
                <a:ext uri="{FF2B5EF4-FFF2-40B4-BE49-F238E27FC236}">
                  <a16:creationId xmlns:a16="http://schemas.microsoft.com/office/drawing/2014/main" id="{5F8EA6E5-9EE0-40BC-9CA3-10268BE2E9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3" y="2400"/>
              <a:ext cx="230" cy="230"/>
              <a:chOff x="912" y="2784"/>
              <a:chExt cx="230" cy="230"/>
            </a:xfrm>
          </p:grpSpPr>
          <p:sp>
            <p:nvSpPr>
              <p:cNvPr id="26683" name="Oval 6">
                <a:extLst>
                  <a:ext uri="{FF2B5EF4-FFF2-40B4-BE49-F238E27FC236}">
                    <a16:creationId xmlns:a16="http://schemas.microsoft.com/office/drawing/2014/main" id="{10D29822-2900-4101-AF7C-2805AFCBF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784"/>
                <a:ext cx="230" cy="23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684" name="Text Box 7">
                <a:extLst>
                  <a:ext uri="{FF2B5EF4-FFF2-40B4-BE49-F238E27FC236}">
                    <a16:creationId xmlns:a16="http://schemas.microsoft.com/office/drawing/2014/main" id="{427ED428-0AF7-4E19-ACDF-B4D87492DE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8" y="2785"/>
                <a:ext cx="19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600">
                    <a:latin typeface="Arial Rounded MT Bold" panose="020F0704030504030204" pitchFamily="34" charset="0"/>
                  </a:rPr>
                  <a:t>+</a:t>
                </a:r>
              </a:p>
            </p:txBody>
          </p:sp>
        </p:grpSp>
        <p:cxnSp>
          <p:nvCxnSpPr>
            <p:cNvPr id="26635" name="AutoShape 8">
              <a:extLst>
                <a:ext uri="{FF2B5EF4-FFF2-40B4-BE49-F238E27FC236}">
                  <a16:creationId xmlns:a16="http://schemas.microsoft.com/office/drawing/2014/main" id="{72D5DAED-7EB4-4AF9-9D83-9C04821E5D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383" y="2544"/>
              <a:ext cx="461" cy="2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6636" name="Group 9">
              <a:extLst>
                <a:ext uri="{FF2B5EF4-FFF2-40B4-BE49-F238E27FC236}">
                  <a16:creationId xmlns:a16="http://schemas.microsoft.com/office/drawing/2014/main" id="{3146EA0C-F6BD-4767-9072-7016782467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" y="2736"/>
              <a:ext cx="1420" cy="998"/>
              <a:chOff x="336" y="2784"/>
              <a:chExt cx="1420" cy="998"/>
            </a:xfrm>
          </p:grpSpPr>
          <p:grpSp>
            <p:nvGrpSpPr>
              <p:cNvPr id="26663" name="Group 10">
                <a:extLst>
                  <a:ext uri="{FF2B5EF4-FFF2-40B4-BE49-F238E27FC236}">
                    <a16:creationId xmlns:a16="http://schemas.microsoft.com/office/drawing/2014/main" id="{EA8F51E6-59AB-4A05-A5C1-D923128896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2784"/>
                <a:ext cx="230" cy="230"/>
                <a:chOff x="912" y="2784"/>
                <a:chExt cx="230" cy="230"/>
              </a:xfrm>
            </p:grpSpPr>
            <p:sp>
              <p:nvSpPr>
                <p:cNvPr id="26681" name="Oval 11">
                  <a:extLst>
                    <a:ext uri="{FF2B5EF4-FFF2-40B4-BE49-F238E27FC236}">
                      <a16:creationId xmlns:a16="http://schemas.microsoft.com/office/drawing/2014/main" id="{939FDF06-8D85-44BC-BF4A-681DDA78A7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784"/>
                  <a:ext cx="230" cy="23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6682" name="Text Box 12">
                  <a:extLst>
                    <a:ext uri="{FF2B5EF4-FFF2-40B4-BE49-F238E27FC236}">
                      <a16:creationId xmlns:a16="http://schemas.microsoft.com/office/drawing/2014/main" id="{3350B7E5-BBAB-4CD6-8AF0-2CA39184EC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38" y="2785"/>
                  <a:ext cx="1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</a:rPr>
                    <a:t>*</a:t>
                  </a:r>
                </a:p>
              </p:txBody>
            </p:sp>
          </p:grpSp>
          <p:grpSp>
            <p:nvGrpSpPr>
              <p:cNvPr id="26664" name="Group 13">
                <a:extLst>
                  <a:ext uri="{FF2B5EF4-FFF2-40B4-BE49-F238E27FC236}">
                    <a16:creationId xmlns:a16="http://schemas.microsoft.com/office/drawing/2014/main" id="{179851C9-FBE9-41F5-B7DD-4C13F2DED7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3168"/>
                <a:ext cx="268" cy="230"/>
                <a:chOff x="1410" y="2784"/>
                <a:chExt cx="268" cy="230"/>
              </a:xfrm>
            </p:grpSpPr>
            <p:sp>
              <p:nvSpPr>
                <p:cNvPr id="26679" name="Oval 14">
                  <a:extLst>
                    <a:ext uri="{FF2B5EF4-FFF2-40B4-BE49-F238E27FC236}">
                      <a16:creationId xmlns:a16="http://schemas.microsoft.com/office/drawing/2014/main" id="{F7871A60-F944-4176-96F3-DF00FACC69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0" y="2784"/>
                  <a:ext cx="230" cy="23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6680" name="Text Box 15">
                  <a:extLst>
                    <a:ext uri="{FF2B5EF4-FFF2-40B4-BE49-F238E27FC236}">
                      <a16:creationId xmlns:a16="http://schemas.microsoft.com/office/drawing/2014/main" id="{80CEA477-72B8-42BE-AC88-81E4BCA1C9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10" y="2792"/>
                  <a:ext cx="268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</a:rPr>
                    <a:t>10</a:t>
                  </a:r>
                </a:p>
              </p:txBody>
            </p:sp>
          </p:grpSp>
          <p:grpSp>
            <p:nvGrpSpPr>
              <p:cNvPr id="26665" name="Group 16">
                <a:extLst>
                  <a:ext uri="{FF2B5EF4-FFF2-40B4-BE49-F238E27FC236}">
                    <a16:creationId xmlns:a16="http://schemas.microsoft.com/office/drawing/2014/main" id="{82B03286-2BFA-4E7F-8639-0346DF4944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3138"/>
                <a:ext cx="998" cy="644"/>
                <a:chOff x="480" y="2706"/>
                <a:chExt cx="998" cy="644"/>
              </a:xfrm>
            </p:grpSpPr>
            <p:grpSp>
              <p:nvGrpSpPr>
                <p:cNvPr id="26668" name="Group 17">
                  <a:extLst>
                    <a:ext uri="{FF2B5EF4-FFF2-40B4-BE49-F238E27FC236}">
                      <a16:creationId xmlns:a16="http://schemas.microsoft.com/office/drawing/2014/main" id="{EC8C143D-8C40-4C02-A5A4-0F61C70930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0" y="3120"/>
                  <a:ext cx="230" cy="230"/>
                  <a:chOff x="672" y="2256"/>
                  <a:chExt cx="230" cy="230"/>
                </a:xfrm>
              </p:grpSpPr>
              <p:sp>
                <p:nvSpPr>
                  <p:cNvPr id="26677" name="Oval 18">
                    <a:extLst>
                      <a:ext uri="{FF2B5EF4-FFF2-40B4-BE49-F238E27FC236}">
                        <a16:creationId xmlns:a16="http://schemas.microsoft.com/office/drawing/2014/main" id="{6D4FA77A-95D5-4631-8EC1-A69DE53861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2" y="2256"/>
                    <a:ext cx="230" cy="23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  <p:sp>
                <p:nvSpPr>
                  <p:cNvPr id="26678" name="Text Box 19">
                    <a:extLst>
                      <a:ext uri="{FF2B5EF4-FFF2-40B4-BE49-F238E27FC236}">
                        <a16:creationId xmlns:a16="http://schemas.microsoft.com/office/drawing/2014/main" id="{A33D33F8-DA5B-40CB-8EB1-241F950A5E0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14" y="2257"/>
                    <a:ext cx="151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r>
                      <a:rPr lang="en-US" altLang="it-IT" sz="1600">
                        <a:latin typeface="Arial Rounded MT Bold" panose="020F0704030504030204" pitchFamily="34" charset="0"/>
                      </a:rPr>
                      <a:t>j</a:t>
                    </a:r>
                  </a:p>
                </p:txBody>
              </p:sp>
            </p:grpSp>
            <p:grpSp>
              <p:nvGrpSpPr>
                <p:cNvPr id="26669" name="Group 20">
                  <a:extLst>
                    <a:ext uri="{FF2B5EF4-FFF2-40B4-BE49-F238E27FC236}">
                      <a16:creationId xmlns:a16="http://schemas.microsoft.com/office/drawing/2014/main" id="{72819E29-BE7B-4711-B84B-959F6807C6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48" y="3120"/>
                  <a:ext cx="230" cy="230"/>
                  <a:chOff x="1104" y="3216"/>
                  <a:chExt cx="230" cy="230"/>
                </a:xfrm>
              </p:grpSpPr>
              <p:sp>
                <p:nvSpPr>
                  <p:cNvPr id="26675" name="Oval 21">
                    <a:extLst>
                      <a:ext uri="{FF2B5EF4-FFF2-40B4-BE49-F238E27FC236}">
                        <a16:creationId xmlns:a16="http://schemas.microsoft.com/office/drawing/2014/main" id="{5133F2FA-1D23-45D9-A288-723BDD8D25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4" y="3216"/>
                    <a:ext cx="230" cy="23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  <p:sp>
                <p:nvSpPr>
                  <p:cNvPr id="26676" name="Text Box 22">
                    <a:extLst>
                      <a:ext uri="{FF2B5EF4-FFF2-40B4-BE49-F238E27FC236}">
                        <a16:creationId xmlns:a16="http://schemas.microsoft.com/office/drawing/2014/main" id="{AD57978F-6248-4D4D-9F2D-0DF9F0B5180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28" y="3224"/>
                    <a:ext cx="19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r>
                      <a:rPr lang="en-US" altLang="it-IT" sz="1600">
                        <a:latin typeface="Arial Rounded MT Bold" panose="020F0704030504030204" pitchFamily="34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26670" name="Group 23">
                  <a:extLst>
                    <a:ext uri="{FF2B5EF4-FFF2-40B4-BE49-F238E27FC236}">
                      <a16:creationId xmlns:a16="http://schemas.microsoft.com/office/drawing/2014/main" id="{846B07B4-5AD9-4612-9DF7-18BE60128A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64" y="2706"/>
                  <a:ext cx="230" cy="260"/>
                  <a:chOff x="912" y="2754"/>
                  <a:chExt cx="230" cy="260"/>
                </a:xfrm>
              </p:grpSpPr>
              <p:sp>
                <p:nvSpPr>
                  <p:cNvPr id="26673" name="Oval 24">
                    <a:extLst>
                      <a:ext uri="{FF2B5EF4-FFF2-40B4-BE49-F238E27FC236}">
                        <a16:creationId xmlns:a16="http://schemas.microsoft.com/office/drawing/2014/main" id="{DF580AB2-7DDE-4AEF-932F-D8703D652A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2" y="2784"/>
                    <a:ext cx="230" cy="23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  <p:sp>
                <p:nvSpPr>
                  <p:cNvPr id="26674" name="Text Box 25">
                    <a:extLst>
                      <a:ext uri="{FF2B5EF4-FFF2-40B4-BE49-F238E27FC236}">
                        <a16:creationId xmlns:a16="http://schemas.microsoft.com/office/drawing/2014/main" id="{4A8A7A93-EF4E-4E90-AA6D-404E00FB9FE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38" y="2754"/>
                    <a:ext cx="169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r>
                      <a:rPr lang="en-US" altLang="it-IT" sz="2000" b="1">
                        <a:latin typeface="Arial Rounded MT Bold" panose="020F0704030504030204" pitchFamily="34" charset="0"/>
                      </a:rPr>
                      <a:t>-</a:t>
                    </a:r>
                    <a:endParaRPr lang="en-US" altLang="it-IT" sz="1600">
                      <a:latin typeface="Arial Rounded MT Bold" panose="020F0704030504030204" pitchFamily="34" charset="0"/>
                    </a:endParaRPr>
                  </a:p>
                </p:txBody>
              </p:sp>
            </p:grpSp>
            <p:cxnSp>
              <p:nvCxnSpPr>
                <p:cNvPr id="26671" name="AutoShape 26">
                  <a:extLst>
                    <a:ext uri="{FF2B5EF4-FFF2-40B4-BE49-F238E27FC236}">
                      <a16:creationId xmlns:a16="http://schemas.microsoft.com/office/drawing/2014/main" id="{5E3A6FCD-46EB-4A4D-A2C1-6C85FED6237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72" y="2928"/>
                  <a:ext cx="230" cy="23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672" name="AutoShape 27">
                  <a:extLst>
                    <a:ext uri="{FF2B5EF4-FFF2-40B4-BE49-F238E27FC236}">
                      <a16:creationId xmlns:a16="http://schemas.microsoft.com/office/drawing/2014/main" id="{ABFFC413-BE1D-4AED-B750-1B3DB65CA2E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056" y="2928"/>
                  <a:ext cx="230" cy="23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26666" name="AutoShape 28">
                <a:extLst>
                  <a:ext uri="{FF2B5EF4-FFF2-40B4-BE49-F238E27FC236}">
                    <a16:creationId xmlns:a16="http://schemas.microsoft.com/office/drawing/2014/main" id="{53158EBA-805C-402F-8C2D-1BB4A3FBD7E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912" y="2976"/>
                <a:ext cx="230" cy="23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667" name="AutoShape 29">
                <a:extLst>
                  <a:ext uri="{FF2B5EF4-FFF2-40B4-BE49-F238E27FC236}">
                    <a16:creationId xmlns:a16="http://schemas.microsoft.com/office/drawing/2014/main" id="{A4DDFB82-CFA5-4079-8309-6D5E46BAC2B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96" y="2976"/>
                <a:ext cx="230" cy="23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6637" name="AutoShape 30">
              <a:extLst>
                <a:ext uri="{FF2B5EF4-FFF2-40B4-BE49-F238E27FC236}">
                  <a16:creationId xmlns:a16="http://schemas.microsoft.com/office/drawing/2014/main" id="{9429BCF7-2A80-4645-80F2-04CC031B4F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73" y="2544"/>
              <a:ext cx="461" cy="2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6638" name="Group 31">
              <a:extLst>
                <a:ext uri="{FF2B5EF4-FFF2-40B4-BE49-F238E27FC236}">
                  <a16:creationId xmlns:a16="http://schemas.microsoft.com/office/drawing/2014/main" id="{0BA8A28B-8BA0-4EC9-940B-482B39EB85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1" y="2704"/>
              <a:ext cx="998" cy="644"/>
              <a:chOff x="480" y="2706"/>
              <a:chExt cx="998" cy="644"/>
            </a:xfrm>
          </p:grpSpPr>
          <p:grpSp>
            <p:nvGrpSpPr>
              <p:cNvPr id="26652" name="Group 32">
                <a:extLst>
                  <a:ext uri="{FF2B5EF4-FFF2-40B4-BE49-F238E27FC236}">
                    <a16:creationId xmlns:a16="http://schemas.microsoft.com/office/drawing/2014/main" id="{55AA46B0-8270-419A-9D05-69A7ED71E7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" y="3120"/>
                <a:ext cx="230" cy="230"/>
                <a:chOff x="672" y="2256"/>
                <a:chExt cx="230" cy="230"/>
              </a:xfrm>
            </p:grpSpPr>
            <p:sp>
              <p:nvSpPr>
                <p:cNvPr id="26661" name="Oval 33">
                  <a:extLst>
                    <a:ext uri="{FF2B5EF4-FFF2-40B4-BE49-F238E27FC236}">
                      <a16:creationId xmlns:a16="http://schemas.microsoft.com/office/drawing/2014/main" id="{D1945BDD-60A2-4D7A-989D-DE780F48D2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2" y="2256"/>
                  <a:ext cx="230" cy="23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6662" name="Text Box 34">
                  <a:extLst>
                    <a:ext uri="{FF2B5EF4-FFF2-40B4-BE49-F238E27FC236}">
                      <a16:creationId xmlns:a16="http://schemas.microsoft.com/office/drawing/2014/main" id="{EFF40352-865E-491D-8939-0B31DAB98C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4" y="2257"/>
                  <a:ext cx="151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</a:rPr>
                    <a:t>j</a:t>
                  </a:r>
                </a:p>
              </p:txBody>
            </p:sp>
          </p:grpSp>
          <p:grpSp>
            <p:nvGrpSpPr>
              <p:cNvPr id="26653" name="Group 35">
                <a:extLst>
                  <a:ext uri="{FF2B5EF4-FFF2-40B4-BE49-F238E27FC236}">
                    <a16:creationId xmlns:a16="http://schemas.microsoft.com/office/drawing/2014/main" id="{5C2F6A48-87E2-4D6E-98C1-515690D1FE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3120"/>
                <a:ext cx="230" cy="230"/>
                <a:chOff x="1104" y="3216"/>
                <a:chExt cx="230" cy="230"/>
              </a:xfrm>
            </p:grpSpPr>
            <p:sp>
              <p:nvSpPr>
                <p:cNvPr id="26659" name="Oval 36">
                  <a:extLst>
                    <a:ext uri="{FF2B5EF4-FFF2-40B4-BE49-F238E27FC236}">
                      <a16:creationId xmlns:a16="http://schemas.microsoft.com/office/drawing/2014/main" id="{F4A4AFAD-30A0-4F1B-80DB-238A2FF11C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4" y="3216"/>
                  <a:ext cx="230" cy="23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6660" name="Text Box 37">
                  <a:extLst>
                    <a:ext uri="{FF2B5EF4-FFF2-40B4-BE49-F238E27FC236}">
                      <a16:creationId xmlns:a16="http://schemas.microsoft.com/office/drawing/2014/main" id="{7D7914EA-A33B-49AE-A731-B8EC82337B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28" y="3224"/>
                  <a:ext cx="19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26654" name="Group 38">
                <a:extLst>
                  <a:ext uri="{FF2B5EF4-FFF2-40B4-BE49-F238E27FC236}">
                    <a16:creationId xmlns:a16="http://schemas.microsoft.com/office/drawing/2014/main" id="{788A10FB-9A72-418D-B354-00FC1B1026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706"/>
                <a:ext cx="230" cy="260"/>
                <a:chOff x="912" y="2754"/>
                <a:chExt cx="230" cy="260"/>
              </a:xfrm>
            </p:grpSpPr>
            <p:sp>
              <p:nvSpPr>
                <p:cNvPr id="26657" name="Oval 39">
                  <a:extLst>
                    <a:ext uri="{FF2B5EF4-FFF2-40B4-BE49-F238E27FC236}">
                      <a16:creationId xmlns:a16="http://schemas.microsoft.com/office/drawing/2014/main" id="{7013B6AE-0CED-4C16-A7FD-E36D0FB207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784"/>
                  <a:ext cx="230" cy="23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6658" name="Text Box 40">
                  <a:extLst>
                    <a:ext uri="{FF2B5EF4-FFF2-40B4-BE49-F238E27FC236}">
                      <a16:creationId xmlns:a16="http://schemas.microsoft.com/office/drawing/2014/main" id="{02E41304-8EDB-4D7A-B572-B661EAD1D6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38" y="2754"/>
                  <a:ext cx="169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2000" b="1">
                      <a:latin typeface="Arial Rounded MT Bold" panose="020F0704030504030204" pitchFamily="34" charset="0"/>
                    </a:rPr>
                    <a:t>-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</p:grpSp>
          <p:cxnSp>
            <p:nvCxnSpPr>
              <p:cNvPr id="26655" name="AutoShape 41">
                <a:extLst>
                  <a:ext uri="{FF2B5EF4-FFF2-40B4-BE49-F238E27FC236}">
                    <a16:creationId xmlns:a16="http://schemas.microsoft.com/office/drawing/2014/main" id="{76F5FC05-1CCF-4C0E-8159-731F094576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672" y="2928"/>
                <a:ext cx="230" cy="23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656" name="AutoShape 42">
                <a:extLst>
                  <a:ext uri="{FF2B5EF4-FFF2-40B4-BE49-F238E27FC236}">
                    <a16:creationId xmlns:a16="http://schemas.microsoft.com/office/drawing/2014/main" id="{5282BE6C-57A5-4050-BD51-E3D5D3246FB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56" y="2928"/>
                <a:ext cx="230" cy="23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6639" name="Group 43">
              <a:extLst>
                <a:ext uri="{FF2B5EF4-FFF2-40B4-BE49-F238E27FC236}">
                  <a16:creationId xmlns:a16="http://schemas.microsoft.com/office/drawing/2014/main" id="{324B169F-28DA-4B69-A740-9C61FB8757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3" y="2016"/>
              <a:ext cx="230" cy="230"/>
              <a:chOff x="912" y="2784"/>
              <a:chExt cx="230" cy="230"/>
            </a:xfrm>
          </p:grpSpPr>
          <p:sp>
            <p:nvSpPr>
              <p:cNvPr id="26650" name="Oval 44">
                <a:extLst>
                  <a:ext uri="{FF2B5EF4-FFF2-40B4-BE49-F238E27FC236}">
                    <a16:creationId xmlns:a16="http://schemas.microsoft.com/office/drawing/2014/main" id="{ABBDD074-A7CF-4E1E-9BA9-274778E58F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784"/>
                <a:ext cx="230" cy="23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651" name="Text Box 45">
                <a:extLst>
                  <a:ext uri="{FF2B5EF4-FFF2-40B4-BE49-F238E27FC236}">
                    <a16:creationId xmlns:a16="http://schemas.microsoft.com/office/drawing/2014/main" id="{8F2BB32D-BA2A-4FCB-B07B-64D72010AD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8" y="2785"/>
                <a:ext cx="19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600">
                    <a:latin typeface="Arial Rounded MT Bold" panose="020F0704030504030204" pitchFamily="34" charset="0"/>
                  </a:rPr>
                  <a:t>+</a:t>
                </a:r>
              </a:p>
            </p:txBody>
          </p:sp>
        </p:grpSp>
        <p:cxnSp>
          <p:nvCxnSpPr>
            <p:cNvPr id="26640" name="AutoShape 46">
              <a:extLst>
                <a:ext uri="{FF2B5EF4-FFF2-40B4-BE49-F238E27FC236}">
                  <a16:creationId xmlns:a16="http://schemas.microsoft.com/office/drawing/2014/main" id="{46E10142-BAFD-43A1-AB67-F89638392C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959" y="2169"/>
              <a:ext cx="461" cy="2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41" name="AutoShape 47">
              <a:extLst>
                <a:ext uri="{FF2B5EF4-FFF2-40B4-BE49-F238E27FC236}">
                  <a16:creationId xmlns:a16="http://schemas.microsoft.com/office/drawing/2014/main" id="{8A7F757A-0AD1-46D4-A033-A0C5FB989F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31" y="2160"/>
              <a:ext cx="541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6642" name="Group 48">
              <a:extLst>
                <a:ext uri="{FF2B5EF4-FFF2-40B4-BE49-F238E27FC236}">
                  <a16:creationId xmlns:a16="http://schemas.microsoft.com/office/drawing/2014/main" id="{CDB11843-49F5-4B37-990D-1337280120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5" y="2400"/>
              <a:ext cx="345" cy="230"/>
              <a:chOff x="3120" y="2112"/>
              <a:chExt cx="345" cy="230"/>
            </a:xfrm>
          </p:grpSpPr>
          <p:sp>
            <p:nvSpPr>
              <p:cNvPr id="26648" name="Oval 49">
                <a:extLst>
                  <a:ext uri="{FF2B5EF4-FFF2-40B4-BE49-F238E27FC236}">
                    <a16:creationId xmlns:a16="http://schemas.microsoft.com/office/drawing/2014/main" id="{03AB8AEB-6769-4A20-8017-F719C2DEFB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2112"/>
                <a:ext cx="345" cy="23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649" name="Text Box 50">
                <a:extLst>
                  <a:ext uri="{FF2B5EF4-FFF2-40B4-BE49-F238E27FC236}">
                    <a16:creationId xmlns:a16="http://schemas.microsoft.com/office/drawing/2014/main" id="{A656BBC1-F1CC-49BD-BD18-FFE61F63C3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112"/>
                <a:ext cx="333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600">
                    <a:latin typeface="Arial Rounded MT Bold" panose="020F0704030504030204" pitchFamily="34" charset="0"/>
                  </a:rPr>
                  <a:t>@A</a:t>
                </a:r>
              </a:p>
            </p:txBody>
          </p:sp>
        </p:grpSp>
        <p:grpSp>
          <p:nvGrpSpPr>
            <p:cNvPr id="26643" name="Group 51">
              <a:extLst>
                <a:ext uri="{FF2B5EF4-FFF2-40B4-BE49-F238E27FC236}">
                  <a16:creationId xmlns:a16="http://schemas.microsoft.com/office/drawing/2014/main" id="{18808CED-6F36-4649-9A47-27EF65AE3B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3" y="1584"/>
              <a:ext cx="461" cy="230"/>
              <a:chOff x="2208" y="1632"/>
              <a:chExt cx="461" cy="230"/>
            </a:xfrm>
          </p:grpSpPr>
          <p:sp>
            <p:nvSpPr>
              <p:cNvPr id="26646" name="AutoShape 52">
                <a:extLst>
                  <a:ext uri="{FF2B5EF4-FFF2-40B4-BE49-F238E27FC236}">
                    <a16:creationId xmlns:a16="http://schemas.microsoft.com/office/drawing/2014/main" id="{1D0FC2E8-E13D-4A0C-9F66-3C1484B7E6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632"/>
                <a:ext cx="461" cy="230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647" name="Text Box 53">
                <a:extLst>
                  <a:ext uri="{FF2B5EF4-FFF2-40B4-BE49-F238E27FC236}">
                    <a16:creationId xmlns:a16="http://schemas.microsoft.com/office/drawing/2014/main" id="{20A66CE4-031B-468A-AA55-40F85485FB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6" y="1641"/>
                <a:ext cx="38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600">
                    <a:latin typeface="Arial Rounded MT Bold" panose="020F0704030504030204" pitchFamily="34" charset="0"/>
                  </a:rPr>
                  <a:t>load</a:t>
                </a:r>
              </a:p>
            </p:txBody>
          </p:sp>
        </p:grpSp>
        <p:cxnSp>
          <p:nvCxnSpPr>
            <p:cNvPr id="26644" name="AutoShape 54">
              <a:extLst>
                <a:ext uri="{FF2B5EF4-FFF2-40B4-BE49-F238E27FC236}">
                  <a16:creationId xmlns:a16="http://schemas.microsoft.com/office/drawing/2014/main" id="{CF637148-B72C-4EFB-B1C1-C607CCF477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35" y="1806"/>
              <a:ext cx="0" cy="2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645" name="Text Box 55">
              <a:extLst>
                <a:ext uri="{FF2B5EF4-FFF2-40B4-BE49-F238E27FC236}">
                  <a16:creationId xmlns:a16="http://schemas.microsoft.com/office/drawing/2014/main" id="{0BCE98F9-4402-44AD-A414-CD3A988A1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" y="1780"/>
              <a:ext cx="10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>
                  <a:solidFill>
                    <a:srgbClr val="003C75"/>
                  </a:solidFill>
                </a:rPr>
                <a:t>Low level AST</a:t>
              </a:r>
              <a:endParaRPr lang="en-US" altLang="it-IT" sz="1600">
                <a:solidFill>
                  <a:srgbClr val="003C75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26630" name="Group 56">
            <a:extLst>
              <a:ext uri="{FF2B5EF4-FFF2-40B4-BE49-F238E27FC236}">
                <a16:creationId xmlns:a16="http://schemas.microsoft.com/office/drawing/2014/main" id="{D94F8476-DB7F-435C-83C7-77021DB75188}"/>
              </a:ext>
            </a:extLst>
          </p:cNvPr>
          <p:cNvGrpSpPr>
            <a:grpSpLocks/>
          </p:cNvGrpSpPr>
          <p:nvPr/>
        </p:nvGrpSpPr>
        <p:grpSpPr bwMode="auto">
          <a:xfrm>
            <a:off x="5759450" y="2971800"/>
            <a:ext cx="2574925" cy="847725"/>
            <a:chOff x="3600" y="2016"/>
            <a:chExt cx="1622" cy="534"/>
          </a:xfrm>
        </p:grpSpPr>
        <p:sp>
          <p:nvSpPr>
            <p:cNvPr id="26632" name="Text Box 57">
              <a:extLst>
                <a:ext uri="{FF2B5EF4-FFF2-40B4-BE49-F238E27FC236}">
                  <a16:creationId xmlns:a16="http://schemas.microsoft.com/office/drawing/2014/main" id="{CDACEB2E-9D00-4478-9B72-79BB73F36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016"/>
              <a:ext cx="15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2000">
                  <a:latin typeface="Courier"/>
                </a:rPr>
                <a:t>loadArray A,i,j</a:t>
              </a:r>
            </a:p>
          </p:txBody>
        </p:sp>
        <p:sp>
          <p:nvSpPr>
            <p:cNvPr id="26633" name="Text Box 58">
              <a:extLst>
                <a:ext uri="{FF2B5EF4-FFF2-40B4-BE49-F238E27FC236}">
                  <a16:creationId xmlns:a16="http://schemas.microsoft.com/office/drawing/2014/main" id="{2C13ACA7-083D-4031-8B47-621E6B2B13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4" y="2319"/>
              <a:ext cx="15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>
                  <a:solidFill>
                    <a:srgbClr val="003C75"/>
                  </a:solidFill>
                </a:rPr>
                <a:t>High level linear code</a:t>
              </a:r>
              <a:r>
                <a:rPr lang="en-US" altLang="it-IT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 </a:t>
              </a:r>
            </a:p>
          </p:txBody>
        </p:sp>
      </p:grpSp>
      <p:sp>
        <p:nvSpPr>
          <p:cNvPr id="26631" name="TextBox 60">
            <a:extLst>
              <a:ext uri="{FF2B5EF4-FFF2-40B4-BE49-F238E27FC236}">
                <a16:creationId xmlns:a16="http://schemas.microsoft.com/office/drawing/2014/main" id="{44E0E141-DCB4-435A-A7AE-9F2666CA4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105525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>
                <a:solidFill>
                  <a:srgbClr val="003C75"/>
                </a:solidFill>
              </a:rPr>
              <a:t>In Chapter 11 of EaC, we will see trees that have a lower level of abstraction than the machine code!</a:t>
            </a: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3">
            <a:extLst>
              <a:ext uri="{FF2B5EF4-FFF2-40B4-BE49-F238E27FC236}">
                <a16:creationId xmlns:a16="http://schemas.microsoft.com/office/drawing/2014/main" id="{D08E10D5-4BDD-4847-BCEC-0C28BBB583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0A3047DF-DDB6-4A52-8494-824C3FB651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AF04681-5926-472F-9492-4B468307009A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9550587-8705-4210-BCD7-BCFDBC86A4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Abstract Syntax Tree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A58B733B-2AE0-4FE6-90B0-E22F17D7A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An abstract syntax tree is the procedure’s parse tree with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     the nodes for most non-terminal nodes removed</a:t>
            </a:r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>
              <a:solidFill>
                <a:srgbClr val="0000FF"/>
              </a:solidFill>
            </a:endParaRPr>
          </a:p>
          <a:p>
            <a:pPr algn="ctr" eaLnBrk="1" hangingPunct="1">
              <a:buFont typeface="Times" panose="02020603050405020304" pitchFamily="18" charset="0"/>
              <a:buNone/>
            </a:pPr>
            <a:endParaRPr lang="en-US" altLang="it-IT">
              <a:solidFill>
                <a:srgbClr val="0000FF"/>
              </a:solidFill>
            </a:endParaRPr>
          </a:p>
          <a:p>
            <a:pPr algn="ctr" eaLnBrk="1" hangingPunct="1">
              <a:spcBef>
                <a:spcPct val="0"/>
              </a:spcBef>
              <a:spcAft>
                <a:spcPct val="50000"/>
              </a:spcAft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x - 2 * y</a:t>
            </a:r>
          </a:p>
          <a:p>
            <a:pPr eaLnBrk="1" hangingPunct="1"/>
            <a:r>
              <a:rPr lang="en-US" altLang="it-IT"/>
              <a:t>Can use linearized form of the tree</a:t>
            </a:r>
          </a:p>
          <a:p>
            <a:pPr lvl="1" eaLnBrk="1" hangingPunct="1"/>
            <a:r>
              <a:rPr lang="en-US" altLang="it-IT"/>
              <a:t>Easier to manipulate than pointers</a:t>
            </a:r>
          </a:p>
          <a:p>
            <a:pPr lvl="1" eaLnBrk="1" hangingPunct="1">
              <a:buFontTx/>
              <a:buNone/>
            </a:pPr>
            <a:r>
              <a:rPr lang="en-US" altLang="it-IT"/>
              <a:t>	</a:t>
            </a:r>
            <a:r>
              <a:rPr lang="en-US" altLang="it-IT" sz="2000">
                <a:latin typeface="Courier"/>
              </a:rPr>
              <a:t>x 2 y * -</a:t>
            </a:r>
            <a:r>
              <a:rPr lang="en-US" altLang="it-IT"/>
              <a:t>  	in postfix form</a:t>
            </a:r>
          </a:p>
          <a:p>
            <a:pPr lvl="1" eaLnBrk="1" hangingPunct="1">
              <a:buFontTx/>
              <a:buNone/>
            </a:pPr>
            <a:r>
              <a:rPr lang="en-US" altLang="it-IT"/>
              <a:t>	</a:t>
            </a:r>
            <a:r>
              <a:rPr lang="en-US" altLang="it-IT" sz="2000">
                <a:latin typeface="Courier"/>
              </a:rPr>
              <a:t>- * 2 y x</a:t>
            </a:r>
            <a:r>
              <a:rPr lang="en-US" altLang="it-IT"/>
              <a:t> 	in prefix form</a:t>
            </a:r>
          </a:p>
          <a:p>
            <a:pPr eaLnBrk="1" hangingPunct="1"/>
            <a:r>
              <a:rPr lang="en-US" altLang="it-IT"/>
              <a:t>S-expressions (</a:t>
            </a:r>
            <a:r>
              <a:rPr lang="en-US" altLang="it-IT" sz="1800"/>
              <a:t>Scheme,Lisp</a:t>
            </a:r>
            <a:r>
              <a:rPr lang="en-US" altLang="it-IT"/>
              <a:t>) are (</a:t>
            </a:r>
            <a:r>
              <a:rPr lang="en-US" altLang="it-IT" sz="1800"/>
              <a:t>essentially</a:t>
            </a:r>
            <a:r>
              <a:rPr lang="en-US" altLang="it-IT"/>
              <a:t>) ASTs</a:t>
            </a:r>
          </a:p>
        </p:txBody>
      </p:sp>
      <p:grpSp>
        <p:nvGrpSpPr>
          <p:cNvPr id="28677" name="Group 4">
            <a:extLst>
              <a:ext uri="{FF2B5EF4-FFF2-40B4-BE49-F238E27FC236}">
                <a16:creationId xmlns:a16="http://schemas.microsoft.com/office/drawing/2014/main" id="{83E0AD53-43A9-4D2E-A7F7-4CCB41287EBE}"/>
              </a:ext>
            </a:extLst>
          </p:cNvPr>
          <p:cNvGrpSpPr>
            <a:grpSpLocks/>
          </p:cNvGrpSpPr>
          <p:nvPr/>
        </p:nvGrpSpPr>
        <p:grpSpPr bwMode="auto">
          <a:xfrm>
            <a:off x="3368675" y="1905000"/>
            <a:ext cx="2193925" cy="1603375"/>
            <a:chOff x="2122" y="1294"/>
            <a:chExt cx="1382" cy="1010"/>
          </a:xfrm>
        </p:grpSpPr>
        <p:grpSp>
          <p:nvGrpSpPr>
            <p:cNvPr id="28678" name="Group 5">
              <a:extLst>
                <a:ext uri="{FF2B5EF4-FFF2-40B4-BE49-F238E27FC236}">
                  <a16:creationId xmlns:a16="http://schemas.microsoft.com/office/drawing/2014/main" id="{C39D097C-65FF-4A4E-B34E-470EC055DD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6" y="1294"/>
              <a:ext cx="230" cy="260"/>
              <a:chOff x="912" y="2754"/>
              <a:chExt cx="230" cy="260"/>
            </a:xfrm>
          </p:grpSpPr>
          <p:sp>
            <p:nvSpPr>
              <p:cNvPr id="28691" name="Oval 6">
                <a:extLst>
                  <a:ext uri="{FF2B5EF4-FFF2-40B4-BE49-F238E27FC236}">
                    <a16:creationId xmlns:a16="http://schemas.microsoft.com/office/drawing/2014/main" id="{36B3584D-7463-44F0-82FC-9AA6A5157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784"/>
                <a:ext cx="230" cy="23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8692" name="Text Box 7">
                <a:extLst>
                  <a:ext uri="{FF2B5EF4-FFF2-40B4-BE49-F238E27FC236}">
                    <a16:creationId xmlns:a16="http://schemas.microsoft.com/office/drawing/2014/main" id="{F8F907B6-EF51-4F44-BB5E-B11B9E71BD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8" y="2754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2000" b="1">
                    <a:latin typeface="Arial Rounded MT Bold" panose="020F0704030504030204" pitchFamily="34" charset="0"/>
                  </a:rPr>
                  <a:t>-</a:t>
                </a:r>
                <a:endParaRPr lang="en-US" altLang="it-IT" sz="1600"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28679" name="Oval 8">
              <a:extLst>
                <a:ext uri="{FF2B5EF4-FFF2-40B4-BE49-F238E27FC236}">
                  <a16:creationId xmlns:a16="http://schemas.microsoft.com/office/drawing/2014/main" id="{11BC2169-86CF-4D52-949F-5BB9457E2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" y="1708"/>
              <a:ext cx="230" cy="23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8680" name="Text Box 9">
              <a:extLst>
                <a:ext uri="{FF2B5EF4-FFF2-40B4-BE49-F238E27FC236}">
                  <a16:creationId xmlns:a16="http://schemas.microsoft.com/office/drawing/2014/main" id="{3FAE3DA8-0B4C-44A3-912C-DDABBC195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170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x</a:t>
              </a:r>
            </a:p>
          </p:txBody>
        </p:sp>
        <p:sp>
          <p:nvSpPr>
            <p:cNvPr id="28681" name="Oval 10">
              <a:extLst>
                <a:ext uri="{FF2B5EF4-FFF2-40B4-BE49-F238E27FC236}">
                  <a16:creationId xmlns:a16="http://schemas.microsoft.com/office/drawing/2014/main" id="{37D6224F-8335-4AEB-B964-A5DCF4BB7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6" y="2074"/>
              <a:ext cx="230" cy="23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8682" name="Text Box 11">
              <a:extLst>
                <a:ext uri="{FF2B5EF4-FFF2-40B4-BE49-F238E27FC236}">
                  <a16:creationId xmlns:a16="http://schemas.microsoft.com/office/drawing/2014/main" id="{A3BDB67C-A33C-4B0F-B0B9-671D1DD00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3" y="2075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28683" name="Oval 12">
              <a:extLst>
                <a:ext uri="{FF2B5EF4-FFF2-40B4-BE49-F238E27FC236}">
                  <a16:creationId xmlns:a16="http://schemas.microsoft.com/office/drawing/2014/main" id="{703E938D-DD6A-44CD-BD85-E5505B025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4" y="2074"/>
              <a:ext cx="230" cy="23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8684" name="Text Box 13">
              <a:extLst>
                <a:ext uri="{FF2B5EF4-FFF2-40B4-BE49-F238E27FC236}">
                  <a16:creationId xmlns:a16="http://schemas.microsoft.com/office/drawing/2014/main" id="{3DB22B13-93D2-42EA-BF94-9C27003A0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5" y="2071"/>
              <a:ext cx="18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y</a:t>
              </a:r>
            </a:p>
          </p:txBody>
        </p:sp>
        <p:sp>
          <p:nvSpPr>
            <p:cNvPr id="28685" name="Oval 14">
              <a:extLst>
                <a:ext uri="{FF2B5EF4-FFF2-40B4-BE49-F238E27FC236}">
                  <a16:creationId xmlns:a16="http://schemas.microsoft.com/office/drawing/2014/main" id="{EE6B4ABD-3155-4D6E-896E-F7F43C0A9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" y="1690"/>
              <a:ext cx="230" cy="23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8686" name="Text Box 15">
              <a:extLst>
                <a:ext uri="{FF2B5EF4-FFF2-40B4-BE49-F238E27FC236}">
                  <a16:creationId xmlns:a16="http://schemas.microsoft.com/office/drawing/2014/main" id="{6ADA6F7A-F156-46BE-9E47-8FAB93C59B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6" y="1697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2000">
                  <a:latin typeface="Arial Rounded MT Bold" panose="020F0704030504030204" pitchFamily="34" charset="0"/>
                </a:rPr>
                <a:t>*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cxnSp>
          <p:nvCxnSpPr>
            <p:cNvPr id="28687" name="AutoShape 16">
              <a:extLst>
                <a:ext uri="{FF2B5EF4-FFF2-40B4-BE49-F238E27FC236}">
                  <a16:creationId xmlns:a16="http://schemas.microsoft.com/office/drawing/2014/main" id="{C5297E7B-738B-4D2C-9D13-AAF05FF8CE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98" y="1882"/>
              <a:ext cx="230" cy="2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88" name="AutoShape 17">
              <a:extLst>
                <a:ext uri="{FF2B5EF4-FFF2-40B4-BE49-F238E27FC236}">
                  <a16:creationId xmlns:a16="http://schemas.microsoft.com/office/drawing/2014/main" id="{1982636B-A84F-4F55-B2F8-F65100A7EB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82" y="1882"/>
              <a:ext cx="230" cy="2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89" name="AutoShape 18">
              <a:extLst>
                <a:ext uri="{FF2B5EF4-FFF2-40B4-BE49-F238E27FC236}">
                  <a16:creationId xmlns:a16="http://schemas.microsoft.com/office/drawing/2014/main" id="{67881D9F-C87D-45F9-B347-A6A3BBB7053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14" y="1516"/>
              <a:ext cx="230" cy="2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690" name="Line 19">
              <a:extLst>
                <a:ext uri="{FF2B5EF4-FFF2-40B4-BE49-F238E27FC236}">
                  <a16:creationId xmlns:a16="http://schemas.microsoft.com/office/drawing/2014/main" id="{6E0B24E5-7236-4096-9EB5-62F11C4FF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6" y="152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>
            <a:extLst>
              <a:ext uri="{FF2B5EF4-FFF2-40B4-BE49-F238E27FC236}">
                <a16:creationId xmlns:a16="http://schemas.microsoft.com/office/drawing/2014/main" id="{A8AAFAFD-F2C9-4051-B851-F6DD24BD91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932957D2-AF49-4EAD-8E25-287DA95AF0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D1E2E2F-BDD0-4A65-8D8F-DF8FF3485DBF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DC9720B-C138-4C40-B9C2-FEF74C392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Directed Acyclic Graph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DEC6EA7-DF10-4DB0-853E-7F71E4907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A directed acyclic graph (DAG) is an AST with a unique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    node for each value</a:t>
            </a:r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r>
              <a:rPr lang="en-US" altLang="it-IT"/>
              <a:t>Makes sharing explicit</a:t>
            </a:r>
          </a:p>
          <a:p>
            <a:pPr eaLnBrk="1" hangingPunct="1"/>
            <a:r>
              <a:rPr lang="en-US" altLang="it-IT"/>
              <a:t>Encodes redundancy</a:t>
            </a:r>
          </a:p>
        </p:txBody>
      </p:sp>
      <p:grpSp>
        <p:nvGrpSpPr>
          <p:cNvPr id="30725" name="Group 4">
            <a:extLst>
              <a:ext uri="{FF2B5EF4-FFF2-40B4-BE49-F238E27FC236}">
                <a16:creationId xmlns:a16="http://schemas.microsoft.com/office/drawing/2014/main" id="{20904288-9ECB-460F-8D3D-B3354F6F357C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286000"/>
            <a:ext cx="2803525" cy="2176463"/>
            <a:chOff x="624" y="1440"/>
            <a:chExt cx="1766" cy="1371"/>
          </a:xfrm>
        </p:grpSpPr>
        <p:sp>
          <p:nvSpPr>
            <p:cNvPr id="30739" name="Oval 5">
              <a:extLst>
                <a:ext uri="{FF2B5EF4-FFF2-40B4-BE49-F238E27FC236}">
                  <a16:creationId xmlns:a16="http://schemas.microsoft.com/office/drawing/2014/main" id="{1ADDBF6A-5266-48AF-9302-C652A9724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215"/>
              <a:ext cx="230" cy="23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740" name="Text Box 6">
              <a:extLst>
                <a:ext uri="{FF2B5EF4-FFF2-40B4-BE49-F238E27FC236}">
                  <a16:creationId xmlns:a16="http://schemas.microsoft.com/office/drawing/2014/main" id="{C81EF99B-D177-45CE-8FA3-D046106D1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4" y="2210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latin typeface="Arial Rounded MT Bold" panose="020F0704030504030204" pitchFamily="34" charset="0"/>
                </a:rPr>
                <a:t>x</a:t>
              </a:r>
            </a:p>
          </p:txBody>
        </p:sp>
        <p:sp>
          <p:nvSpPr>
            <p:cNvPr id="30741" name="Oval 7">
              <a:extLst>
                <a:ext uri="{FF2B5EF4-FFF2-40B4-BE49-F238E27FC236}">
                  <a16:creationId xmlns:a16="http://schemas.microsoft.com/office/drawing/2014/main" id="{84C1281D-CA7D-4C83-A600-90DFD1C5A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581"/>
              <a:ext cx="230" cy="23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742" name="Text Box 8">
              <a:extLst>
                <a:ext uri="{FF2B5EF4-FFF2-40B4-BE49-F238E27FC236}">
                  <a16:creationId xmlns:a16="http://schemas.microsoft.com/office/drawing/2014/main" id="{93612D5E-2F60-44C6-8B3E-AE2127252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9" y="2582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30743" name="Oval 9">
              <a:extLst>
                <a:ext uri="{FF2B5EF4-FFF2-40B4-BE49-F238E27FC236}">
                  <a16:creationId xmlns:a16="http://schemas.microsoft.com/office/drawing/2014/main" id="{2916B55A-4309-45BB-B512-86FE9B348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581"/>
              <a:ext cx="230" cy="23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744" name="Text Box 10">
              <a:extLst>
                <a:ext uri="{FF2B5EF4-FFF2-40B4-BE49-F238E27FC236}">
                  <a16:creationId xmlns:a16="http://schemas.microsoft.com/office/drawing/2014/main" id="{00F1AC3D-2A3E-4382-88BF-B92BE1C96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1" y="2578"/>
              <a:ext cx="18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latin typeface="Arial Rounded MT Bold" panose="020F0704030504030204" pitchFamily="34" charset="0"/>
                </a:rPr>
                <a:t>y</a:t>
              </a:r>
            </a:p>
          </p:txBody>
        </p:sp>
        <p:sp>
          <p:nvSpPr>
            <p:cNvPr id="30745" name="Oval 11">
              <a:extLst>
                <a:ext uri="{FF2B5EF4-FFF2-40B4-BE49-F238E27FC236}">
                  <a16:creationId xmlns:a16="http://schemas.microsoft.com/office/drawing/2014/main" id="{3A61DB2D-9F49-4474-81C7-4C1DDC2E2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97"/>
              <a:ext cx="230" cy="23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746" name="Text Box 12">
              <a:extLst>
                <a:ext uri="{FF2B5EF4-FFF2-40B4-BE49-F238E27FC236}">
                  <a16:creationId xmlns:a16="http://schemas.microsoft.com/office/drawing/2014/main" id="{EC863E50-FD22-45A8-918A-CC5C7E5D0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2204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2000">
                  <a:latin typeface="Arial Rounded MT Bold" panose="020F0704030504030204" pitchFamily="34" charset="0"/>
                </a:rPr>
                <a:t>*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cxnSp>
          <p:nvCxnSpPr>
            <p:cNvPr id="30747" name="AutoShape 13">
              <a:extLst>
                <a:ext uri="{FF2B5EF4-FFF2-40B4-BE49-F238E27FC236}">
                  <a16:creationId xmlns:a16="http://schemas.microsoft.com/office/drawing/2014/main" id="{E974119F-59BB-445C-8336-F9CB5D64AD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584" y="2389"/>
              <a:ext cx="230" cy="2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8" name="AutoShape 14">
              <a:extLst>
                <a:ext uri="{FF2B5EF4-FFF2-40B4-BE49-F238E27FC236}">
                  <a16:creationId xmlns:a16="http://schemas.microsoft.com/office/drawing/2014/main" id="{A999E2B3-9E0E-4018-AFE0-FF7804A0B0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8" y="2389"/>
              <a:ext cx="230" cy="2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9" name="AutoShape 15">
              <a:extLst>
                <a:ext uri="{FF2B5EF4-FFF2-40B4-BE49-F238E27FC236}">
                  <a16:creationId xmlns:a16="http://schemas.microsoft.com/office/drawing/2014/main" id="{D5F333C8-DE6E-45C7-9BC9-7009DEC52F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00" y="2023"/>
              <a:ext cx="230" cy="2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0" name="AutoShape 16">
              <a:extLst>
                <a:ext uri="{FF2B5EF4-FFF2-40B4-BE49-F238E27FC236}">
                  <a16:creationId xmlns:a16="http://schemas.microsoft.com/office/drawing/2014/main" id="{B296EAD5-BA20-4CF3-8FA1-4C4AFBF4E2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84" y="2023"/>
              <a:ext cx="230" cy="2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0751" name="Group 17">
              <a:extLst>
                <a:ext uri="{FF2B5EF4-FFF2-40B4-BE49-F238E27FC236}">
                  <a16:creationId xmlns:a16="http://schemas.microsoft.com/office/drawing/2014/main" id="{8ED338AD-8BDE-4EE7-8869-0BB2B52F03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440"/>
              <a:ext cx="998" cy="621"/>
              <a:chOff x="624" y="1440"/>
              <a:chExt cx="998" cy="621"/>
            </a:xfrm>
          </p:grpSpPr>
          <p:grpSp>
            <p:nvGrpSpPr>
              <p:cNvPr id="30752" name="Group 18">
                <a:extLst>
                  <a:ext uri="{FF2B5EF4-FFF2-40B4-BE49-F238E27FC236}">
                    <a16:creationId xmlns:a16="http://schemas.microsoft.com/office/drawing/2014/main" id="{FAEF6D21-8B9B-4253-BE22-9FEBECF921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801"/>
                <a:ext cx="230" cy="260"/>
                <a:chOff x="912" y="2754"/>
                <a:chExt cx="230" cy="260"/>
              </a:xfrm>
            </p:grpSpPr>
            <p:sp>
              <p:nvSpPr>
                <p:cNvPr id="30759" name="Oval 19">
                  <a:extLst>
                    <a:ext uri="{FF2B5EF4-FFF2-40B4-BE49-F238E27FC236}">
                      <a16:creationId xmlns:a16="http://schemas.microsoft.com/office/drawing/2014/main" id="{19893F57-29DF-4258-BEE3-180808D766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784"/>
                  <a:ext cx="230" cy="23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60" name="Text Box 20">
                  <a:extLst>
                    <a:ext uri="{FF2B5EF4-FFF2-40B4-BE49-F238E27FC236}">
                      <a16:creationId xmlns:a16="http://schemas.microsoft.com/office/drawing/2014/main" id="{0DAB1918-F5FA-4C67-B142-A1556B7830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38" y="2754"/>
                  <a:ext cx="169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2000" b="1">
                      <a:latin typeface="Arial Rounded MT Bold" panose="020F0704030504030204" pitchFamily="34" charset="0"/>
                    </a:rPr>
                    <a:t>-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30753" name="Oval 21">
                <a:extLst>
                  <a:ext uri="{FF2B5EF4-FFF2-40B4-BE49-F238E27FC236}">
                    <a16:creationId xmlns:a16="http://schemas.microsoft.com/office/drawing/2014/main" id="{B8DC436E-6F38-4275-8AE9-0EB0A126A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447"/>
                <a:ext cx="230" cy="23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0754" name="Text Box 22">
                <a:extLst>
                  <a:ext uri="{FF2B5EF4-FFF2-40B4-BE49-F238E27FC236}">
                    <a16:creationId xmlns:a16="http://schemas.microsoft.com/office/drawing/2014/main" id="{315ACEAD-B259-49DC-9070-AAAC83C234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6" y="1440"/>
                <a:ext cx="27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2000" b="1">
                    <a:latin typeface="Arial Rounded MT Bold" panose="020F0704030504030204" pitchFamily="34" charset="0"/>
                    <a:sym typeface="Symbol" panose="05050102010706020507" pitchFamily="18" charset="2"/>
                  </a:rPr>
                  <a:t></a:t>
                </a:r>
                <a:endParaRPr lang="en-US" altLang="it-IT" sz="16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755" name="Oval 23">
                <a:extLst>
                  <a:ext uri="{FF2B5EF4-FFF2-40B4-BE49-F238E27FC236}">
                    <a16:creationId xmlns:a16="http://schemas.microsoft.com/office/drawing/2014/main" id="{60FE2F34-C376-4D0A-8CFB-787955F183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831"/>
                <a:ext cx="230" cy="23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0756" name="Text Box 24">
                <a:extLst>
                  <a:ext uri="{FF2B5EF4-FFF2-40B4-BE49-F238E27FC236}">
                    <a16:creationId xmlns:a16="http://schemas.microsoft.com/office/drawing/2014/main" id="{9848BCCE-6638-45DD-AECB-F596CDA00D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" y="1826"/>
                <a:ext cx="183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600">
                    <a:latin typeface="Arial Rounded MT Bold" panose="020F0704030504030204" pitchFamily="34" charset="0"/>
                  </a:rPr>
                  <a:t>z</a:t>
                </a:r>
              </a:p>
            </p:txBody>
          </p:sp>
          <p:cxnSp>
            <p:nvCxnSpPr>
              <p:cNvPr id="30757" name="AutoShape 25">
                <a:extLst>
                  <a:ext uri="{FF2B5EF4-FFF2-40B4-BE49-F238E27FC236}">
                    <a16:creationId xmlns:a16="http://schemas.microsoft.com/office/drawing/2014/main" id="{EB94D333-B596-4203-97F3-F40A05847AF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816" y="1639"/>
                <a:ext cx="230" cy="23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758" name="AutoShape 26">
                <a:extLst>
                  <a:ext uri="{FF2B5EF4-FFF2-40B4-BE49-F238E27FC236}">
                    <a16:creationId xmlns:a16="http://schemas.microsoft.com/office/drawing/2014/main" id="{E08696FE-1915-40A0-9DEB-D4EF5F16A1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00" y="1639"/>
                <a:ext cx="230" cy="23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30726" name="Group 27">
            <a:extLst>
              <a:ext uri="{FF2B5EF4-FFF2-40B4-BE49-F238E27FC236}">
                <a16:creationId xmlns:a16="http://schemas.microsoft.com/office/drawing/2014/main" id="{CEF56BBE-ED79-45D7-B643-6F6740567E18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284413"/>
            <a:ext cx="1584325" cy="1008062"/>
            <a:chOff x="2688" y="1439"/>
            <a:chExt cx="998" cy="635"/>
          </a:xfrm>
        </p:grpSpPr>
        <p:sp>
          <p:nvSpPr>
            <p:cNvPr id="30731" name="Oval 28">
              <a:extLst>
                <a:ext uri="{FF2B5EF4-FFF2-40B4-BE49-F238E27FC236}">
                  <a16:creationId xmlns:a16="http://schemas.microsoft.com/office/drawing/2014/main" id="{28E83305-4644-44EF-AFAB-651E69A16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830"/>
              <a:ext cx="230" cy="23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732" name="Text Box 29">
              <a:extLst>
                <a:ext uri="{FF2B5EF4-FFF2-40B4-BE49-F238E27FC236}">
                  <a16:creationId xmlns:a16="http://schemas.microsoft.com/office/drawing/2014/main" id="{969B3EB5-FD2F-4D7B-BA51-7966A3607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824"/>
              <a:ext cx="1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2000">
                  <a:latin typeface="Arial Rounded MT Bold" panose="020F0704030504030204" pitchFamily="34" charset="0"/>
                </a:rPr>
                <a:t>/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0733" name="Oval 30">
              <a:extLst>
                <a:ext uri="{FF2B5EF4-FFF2-40B4-BE49-F238E27FC236}">
                  <a16:creationId xmlns:a16="http://schemas.microsoft.com/office/drawing/2014/main" id="{DC8D1368-AEB2-4B60-AFB2-924D74AF1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446"/>
              <a:ext cx="230" cy="23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734" name="Text Box 31">
              <a:extLst>
                <a:ext uri="{FF2B5EF4-FFF2-40B4-BE49-F238E27FC236}">
                  <a16:creationId xmlns:a16="http://schemas.microsoft.com/office/drawing/2014/main" id="{009BCF20-A3CB-4643-AD91-B5C5854CB1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0" y="1439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2000" b="1">
                  <a:latin typeface="Arial Rounded MT Bold" panose="020F0704030504030204" pitchFamily="34" charset="0"/>
                  <a:sym typeface="Symbol" panose="05050102010706020507" pitchFamily="18" charset="2"/>
                </a:rPr>
                <a:t>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0735" name="Oval 32">
              <a:extLst>
                <a:ext uri="{FF2B5EF4-FFF2-40B4-BE49-F238E27FC236}">
                  <a16:creationId xmlns:a16="http://schemas.microsoft.com/office/drawing/2014/main" id="{CD26B4A1-E0F7-464F-9F09-82D7B96F3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830"/>
              <a:ext cx="230" cy="23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736" name="Text Box 33">
              <a:extLst>
                <a:ext uri="{FF2B5EF4-FFF2-40B4-BE49-F238E27FC236}">
                  <a16:creationId xmlns:a16="http://schemas.microsoft.com/office/drawing/2014/main" id="{D08EC2BA-18F9-4775-82C5-E5A9A8AEA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0" y="1832"/>
              <a:ext cx="2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latin typeface="Arial Rounded MT Bold" panose="020F0704030504030204" pitchFamily="34" charset="0"/>
                </a:rPr>
                <a:t>w</a:t>
              </a:r>
            </a:p>
          </p:txBody>
        </p:sp>
        <p:cxnSp>
          <p:nvCxnSpPr>
            <p:cNvPr id="30737" name="AutoShape 34">
              <a:extLst>
                <a:ext uri="{FF2B5EF4-FFF2-40B4-BE49-F238E27FC236}">
                  <a16:creationId xmlns:a16="http://schemas.microsoft.com/office/drawing/2014/main" id="{BB36E85C-211A-40B9-8382-064BDABF0F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80" y="1638"/>
              <a:ext cx="230" cy="2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8" name="AutoShape 35">
              <a:extLst>
                <a:ext uri="{FF2B5EF4-FFF2-40B4-BE49-F238E27FC236}">
                  <a16:creationId xmlns:a16="http://schemas.microsoft.com/office/drawing/2014/main" id="{3DBC31A5-28F2-4706-8C51-EE959D3229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64" y="1638"/>
              <a:ext cx="230" cy="2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0727" name="AutoShape 36">
            <a:extLst>
              <a:ext uri="{FF2B5EF4-FFF2-40B4-BE49-F238E27FC236}">
                <a16:creationId xmlns:a16="http://schemas.microsoft.com/office/drawing/2014/main" id="{D025F3DF-BA1D-4370-988D-008A68B8BC43}"/>
              </a:ext>
            </a:extLst>
          </p:cNvPr>
          <p:cNvCxnSpPr>
            <a:cxnSpLocks noChangeShapeType="1"/>
            <a:stCxn id="30731" idx="3"/>
            <a:endCxn id="30740" idx="0"/>
          </p:cNvCxnSpPr>
          <p:nvPr/>
        </p:nvCxnSpPr>
        <p:spPr bwMode="auto">
          <a:xfrm rot="5400000">
            <a:off x="3517900" y="1485900"/>
            <a:ext cx="292100" cy="3752850"/>
          </a:xfrm>
          <a:prstGeom prst="curvedConnector3">
            <a:avLst>
              <a:gd name="adj1" fmla="val 5924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28" name="AutoShape 37">
            <a:extLst>
              <a:ext uri="{FF2B5EF4-FFF2-40B4-BE49-F238E27FC236}">
                <a16:creationId xmlns:a16="http://schemas.microsoft.com/office/drawing/2014/main" id="{550F80CE-7C63-4CD5-966A-5B07A8AAEE21}"/>
              </a:ext>
            </a:extLst>
          </p:cNvPr>
          <p:cNvCxnSpPr>
            <a:cxnSpLocks noChangeShapeType="1"/>
            <a:stCxn id="30731" idx="5"/>
            <a:endCxn id="30742" idx="0"/>
          </p:cNvCxnSpPr>
          <p:nvPr/>
        </p:nvCxnSpPr>
        <p:spPr bwMode="auto">
          <a:xfrm rot="5400000">
            <a:off x="3659982" y="1961356"/>
            <a:ext cx="882650" cy="3392487"/>
          </a:xfrm>
          <a:prstGeom prst="curvedConnector3">
            <a:avLst>
              <a:gd name="adj1" fmla="val 5305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29" name="Text Box 38">
            <a:extLst>
              <a:ext uri="{FF2B5EF4-FFF2-40B4-BE49-F238E27FC236}">
                <a16:creationId xmlns:a16="http://schemas.microsoft.com/office/drawing/2014/main" id="{ECAE4B59-A0F3-4AE3-87AB-BB7432356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986213"/>
            <a:ext cx="14271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003C75"/>
                </a:solidFill>
                <a:latin typeface="Arial Rounded MT Bold" panose="020F0704030504030204" pitchFamily="34" charset="0"/>
              </a:rPr>
              <a:t>z </a:t>
            </a:r>
            <a:r>
              <a:rPr lang="en-US" altLang="it-IT">
                <a:solidFill>
                  <a:srgbClr val="003C75"/>
                </a:solidFill>
                <a:latin typeface="Arial Rounded MT Bold" panose="020F0704030504030204" pitchFamily="34" charset="0"/>
                <a:sym typeface="Symbol" panose="05050102010706020507" pitchFamily="18" charset="2"/>
              </a:rPr>
              <a:t> x - 2 * y</a:t>
            </a:r>
          </a:p>
          <a:p>
            <a:r>
              <a:rPr lang="en-US" altLang="it-IT">
                <a:solidFill>
                  <a:srgbClr val="003C75"/>
                </a:solidFill>
                <a:latin typeface="Arial Rounded MT Bold" panose="020F0704030504030204" pitchFamily="34" charset="0"/>
                <a:sym typeface="Symbol" panose="05050102010706020507" pitchFamily="18" charset="2"/>
              </a:rPr>
              <a:t>w  x  /  2</a:t>
            </a:r>
            <a:endParaRPr lang="en-US" altLang="it-IT">
              <a:solidFill>
                <a:srgbClr val="003C7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0730" name="Text Box 39">
            <a:extLst>
              <a:ext uri="{FF2B5EF4-FFF2-40B4-BE49-F238E27FC236}">
                <a16:creationId xmlns:a16="http://schemas.microsoft.com/office/drawing/2014/main" id="{C9715FBE-87AB-4EE6-8727-92BEC838E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105400"/>
            <a:ext cx="3810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FF0065"/>
                </a:solidFill>
              </a:rPr>
              <a:t>With two copies of the same expression, the compiler might be able to arrange the code to evaluate it only once.</a:t>
            </a: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3">
            <a:extLst>
              <a:ext uri="{FF2B5EF4-FFF2-40B4-BE49-F238E27FC236}">
                <a16:creationId xmlns:a16="http://schemas.microsoft.com/office/drawing/2014/main" id="{C8AFA9BA-60A3-4E27-9DBB-3B90869AD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4387CEF4-6BAA-4242-86F7-CAB11E6DE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184FE62-B622-4C18-8BB4-735F091F4E9C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C1D62538-79CD-497B-B05A-31044F0969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Stack Machine Code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7BBEE9E-D80D-4880-B17F-FC175081CC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Originally used for stack-based computers, now Java</a:t>
            </a:r>
          </a:p>
          <a:p>
            <a:pPr eaLnBrk="1" hangingPunct="1"/>
            <a:r>
              <a:rPr lang="en-US" altLang="it-IT"/>
              <a:t>Example: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		x - 2 * y	 </a:t>
            </a:r>
            <a:r>
              <a:rPr lang="en-US" altLang="it-IT">
                <a:solidFill>
                  <a:srgbClr val="003C75"/>
                </a:solidFill>
              </a:rPr>
              <a:t>becomes</a:t>
            </a:r>
          </a:p>
          <a:p>
            <a:pPr eaLnBrk="1" hangingPunct="1">
              <a:spcBef>
                <a:spcPct val="300000"/>
              </a:spcBef>
              <a:buFont typeface="Times" panose="02020603050405020304" pitchFamily="18" charset="0"/>
              <a:buNone/>
            </a:pPr>
            <a:r>
              <a:rPr lang="en-US" altLang="it-IT"/>
              <a:t>Advantages</a:t>
            </a:r>
          </a:p>
          <a:p>
            <a:pPr eaLnBrk="1" hangingPunct="1"/>
            <a:r>
              <a:rPr lang="en-US" altLang="it-IT"/>
              <a:t>Compact form</a:t>
            </a:r>
          </a:p>
          <a:p>
            <a:pPr eaLnBrk="1" hangingPunct="1"/>
            <a:r>
              <a:rPr lang="en-US" altLang="it-IT"/>
              <a:t>Introduced names are </a:t>
            </a:r>
            <a:r>
              <a:rPr lang="en-US" altLang="it-IT" i="1"/>
              <a:t>implicit</a:t>
            </a:r>
            <a:r>
              <a:rPr lang="en-US" altLang="it-IT"/>
              <a:t>, not </a:t>
            </a:r>
            <a:r>
              <a:rPr lang="en-US" altLang="it-IT" i="1"/>
              <a:t>explicit</a:t>
            </a:r>
            <a:endParaRPr lang="en-US" altLang="it-IT"/>
          </a:p>
          <a:p>
            <a:pPr eaLnBrk="1" hangingPunct="1"/>
            <a:r>
              <a:rPr lang="en-US" altLang="it-IT"/>
              <a:t>Simple to generate and execute code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Useful where code is transmitted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over slow communication links  </a:t>
            </a:r>
            <a:r>
              <a:rPr lang="en-US" altLang="it-IT">
                <a:solidFill>
                  <a:srgbClr val="FF0065"/>
                </a:solidFill>
              </a:rPr>
              <a:t>(</a:t>
            </a:r>
            <a:r>
              <a:rPr lang="en-US" altLang="it-IT" i="1">
                <a:solidFill>
                  <a:srgbClr val="FF0065"/>
                </a:solidFill>
              </a:rPr>
              <a:t>the net</a:t>
            </a:r>
            <a:r>
              <a:rPr lang="en-US" altLang="it-IT" sz="1200" i="1">
                <a:solidFill>
                  <a:srgbClr val="FF0065"/>
                </a:solidFill>
              </a:rPr>
              <a:t> </a:t>
            </a:r>
            <a:r>
              <a:rPr lang="en-US" altLang="it-IT">
                <a:solidFill>
                  <a:srgbClr val="FF0065"/>
                </a:solidFill>
              </a:rPr>
              <a:t>)</a:t>
            </a:r>
            <a:endParaRPr lang="en-US" altLang="it-IT"/>
          </a:p>
        </p:txBody>
      </p:sp>
      <p:sp>
        <p:nvSpPr>
          <p:cNvPr id="32773" name="Text Box 4">
            <a:extLst>
              <a:ext uri="{FF2B5EF4-FFF2-40B4-BE49-F238E27FC236}">
                <a16:creationId xmlns:a16="http://schemas.microsoft.com/office/drawing/2014/main" id="{E07167A6-BE3B-49F5-92B3-452D6BB19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600200"/>
            <a:ext cx="1281113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latin typeface="Courier"/>
              </a:rPr>
              <a:t>push x</a:t>
            </a:r>
          </a:p>
          <a:p>
            <a:r>
              <a:rPr lang="en-US" altLang="it-IT">
                <a:latin typeface="Courier"/>
              </a:rPr>
              <a:t>push 2</a:t>
            </a:r>
          </a:p>
          <a:p>
            <a:r>
              <a:rPr lang="en-US" altLang="it-IT">
                <a:latin typeface="Courier"/>
              </a:rPr>
              <a:t>push y</a:t>
            </a:r>
          </a:p>
          <a:p>
            <a:r>
              <a:rPr lang="en-US" altLang="it-IT">
                <a:latin typeface="Courier"/>
              </a:rPr>
              <a:t>multiply</a:t>
            </a:r>
          </a:p>
          <a:p>
            <a:r>
              <a:rPr lang="en-US" altLang="it-IT">
                <a:latin typeface="Courier"/>
              </a:rPr>
              <a:t>subtract</a:t>
            </a:r>
          </a:p>
        </p:txBody>
      </p:sp>
      <p:sp>
        <p:nvSpPr>
          <p:cNvPr id="30727" name="AutoShape 5">
            <a:extLst>
              <a:ext uri="{FF2B5EF4-FFF2-40B4-BE49-F238E27FC236}">
                <a16:creationId xmlns:a16="http://schemas.microsoft.com/office/drawing/2014/main" id="{BF4EB3B2-3134-479E-93FB-08FFD34BCA58}"/>
              </a:ext>
            </a:extLst>
          </p:cNvPr>
          <p:cNvSpPr>
            <a:spLocks/>
          </p:cNvSpPr>
          <p:nvPr/>
        </p:nvSpPr>
        <p:spPr bwMode="auto">
          <a:xfrm>
            <a:off x="5980113" y="4495800"/>
            <a:ext cx="2859087" cy="935038"/>
          </a:xfrm>
          <a:prstGeom prst="accentBorderCallout1">
            <a:avLst>
              <a:gd name="adj1" fmla="val 10699"/>
              <a:gd name="adj2" fmla="val -2667"/>
              <a:gd name="adj3" fmla="val -42940"/>
              <a:gd name="adj4" fmla="val -45644"/>
            </a:avLst>
          </a:prstGeom>
          <a:solidFill>
            <a:schemeClr val="bg1">
              <a:lumMod val="75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Implicit names take up no space, where explicit ones do!</a:t>
            </a: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3">
            <a:extLst>
              <a:ext uri="{FF2B5EF4-FFF2-40B4-BE49-F238E27FC236}">
                <a16:creationId xmlns:a16="http://schemas.microsoft.com/office/drawing/2014/main" id="{A8213961-CED9-4A68-9CC8-DE6CC4A9F2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F925FA02-FBC2-423B-9688-96FD1DD0CB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1A5FC56-00BE-4C20-B323-48981D83B062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4378F6F-EE46-40AE-8EBC-60BD6D0B3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Three Address Code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36615DC6-D274-4DE0-8998-0E042A5D9C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Several different representations of three address code</a:t>
            </a:r>
          </a:p>
          <a:p>
            <a:pPr eaLnBrk="1" hangingPunct="1"/>
            <a:r>
              <a:rPr lang="en-US" altLang="it-IT"/>
              <a:t>In general, three address code has statements of the form:</a:t>
            </a:r>
          </a:p>
          <a:p>
            <a:pPr lvl="1" eaLnBrk="1" hangingPunct="1">
              <a:buFontTx/>
              <a:buNone/>
            </a:pPr>
            <a:r>
              <a:rPr lang="en-US" altLang="it-IT" sz="2000"/>
              <a:t>			</a:t>
            </a:r>
            <a:r>
              <a:rPr lang="en-US" altLang="it-IT" sz="2000">
                <a:solidFill>
                  <a:srgbClr val="003C75"/>
                </a:solidFill>
              </a:rPr>
              <a:t>x </a:t>
            </a:r>
            <a:r>
              <a:rPr lang="en-US" altLang="it-IT" sz="2000">
                <a:solidFill>
                  <a:srgbClr val="003C75"/>
                </a:solidFill>
                <a:sym typeface="Symbol" panose="05050102010706020507" pitchFamily="18" charset="2"/>
              </a:rPr>
              <a:t> y </a:t>
            </a:r>
            <a:r>
              <a:rPr lang="en-US" altLang="it-IT" sz="2000" i="1" u="sng">
                <a:solidFill>
                  <a:srgbClr val="003C75"/>
                </a:solidFill>
                <a:sym typeface="Monotype Sorts"/>
              </a:rPr>
              <a:t>op</a:t>
            </a:r>
            <a:r>
              <a:rPr lang="en-US" altLang="it-IT" sz="2000">
                <a:solidFill>
                  <a:srgbClr val="003C75"/>
                </a:solidFill>
                <a:sym typeface="Monotype Sorts"/>
              </a:rPr>
              <a:t> z</a:t>
            </a:r>
            <a:endParaRPr lang="en-US" altLang="it-IT" sz="2000">
              <a:solidFill>
                <a:srgbClr val="003C75"/>
              </a:solidFill>
            </a:endParaRPr>
          </a:p>
          <a:p>
            <a:pPr lvl="1" eaLnBrk="1" hangingPunct="1">
              <a:buFontTx/>
              <a:buNone/>
            </a:pPr>
            <a:r>
              <a:rPr lang="en-US" altLang="it-IT" sz="2000"/>
              <a:t>With 1 operator (</a:t>
            </a:r>
            <a:r>
              <a:rPr lang="en-US" altLang="it-IT" sz="2000" i="1" u="sng">
                <a:solidFill>
                  <a:srgbClr val="003C75"/>
                </a:solidFill>
              </a:rPr>
              <a:t>op</a:t>
            </a:r>
            <a:r>
              <a:rPr lang="en-US" altLang="it-IT" sz="1200">
                <a:solidFill>
                  <a:srgbClr val="003C75"/>
                </a:solidFill>
              </a:rPr>
              <a:t> </a:t>
            </a:r>
            <a:r>
              <a:rPr lang="en-US" altLang="it-IT" sz="2000"/>
              <a:t>) and, at most, 3 names (</a:t>
            </a:r>
            <a:r>
              <a:rPr lang="en-US" altLang="it-IT" sz="2000">
                <a:solidFill>
                  <a:srgbClr val="003C75"/>
                </a:solidFill>
              </a:rPr>
              <a:t>x</a:t>
            </a:r>
            <a:r>
              <a:rPr lang="en-US" altLang="it-IT" sz="2000"/>
              <a:t>,</a:t>
            </a:r>
            <a:r>
              <a:rPr lang="en-US" altLang="it-IT" sz="2000">
                <a:solidFill>
                  <a:srgbClr val="0000FF"/>
                </a:solidFill>
              </a:rPr>
              <a:t> </a:t>
            </a:r>
            <a:r>
              <a:rPr lang="en-US" altLang="it-IT" sz="2000">
                <a:solidFill>
                  <a:srgbClr val="003C75"/>
                </a:solidFill>
              </a:rPr>
              <a:t>y</a:t>
            </a:r>
            <a:r>
              <a:rPr lang="en-US" altLang="it-IT" sz="2000"/>
              <a:t>, &amp; </a:t>
            </a:r>
            <a:r>
              <a:rPr lang="en-US" altLang="it-IT" sz="2000">
                <a:solidFill>
                  <a:srgbClr val="003C75"/>
                </a:solidFill>
              </a:rPr>
              <a:t>z</a:t>
            </a:r>
            <a:r>
              <a:rPr lang="en-US" altLang="it-IT" sz="2000"/>
              <a:t>)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Example:</a:t>
            </a:r>
          </a:p>
          <a:p>
            <a:pPr lvl="1" eaLnBrk="1" hangingPunct="1">
              <a:buFontTx/>
              <a:buNone/>
            </a:pPr>
            <a:r>
              <a:rPr lang="en-US" altLang="it-IT" sz="2000"/>
              <a:t>	z </a:t>
            </a:r>
            <a:r>
              <a:rPr lang="en-US" altLang="it-IT" sz="2000">
                <a:sym typeface="Symbol" panose="05050102010706020507" pitchFamily="18" charset="2"/>
              </a:rPr>
              <a:t></a:t>
            </a:r>
            <a:r>
              <a:rPr lang="en-US" altLang="it-IT" sz="2000"/>
              <a:t> x - 2 * y	</a:t>
            </a:r>
            <a:r>
              <a:rPr lang="en-US" altLang="it-IT" sz="2000">
                <a:solidFill>
                  <a:srgbClr val="003C75"/>
                </a:solidFill>
              </a:rPr>
              <a:t>becomes</a:t>
            </a:r>
            <a:endParaRPr lang="en-US" altLang="it-IT">
              <a:solidFill>
                <a:srgbClr val="003C75"/>
              </a:solidFill>
            </a:endParaRPr>
          </a:p>
          <a:p>
            <a:pPr eaLnBrk="1" hangingPunct="1">
              <a:spcBef>
                <a:spcPct val="130000"/>
              </a:spcBef>
              <a:buFont typeface="Times" panose="02020603050405020304" pitchFamily="18" charset="0"/>
              <a:buNone/>
            </a:pPr>
            <a:r>
              <a:rPr lang="en-US" altLang="it-IT"/>
              <a:t>Advantages: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Resembles many real machines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Introduces a new set of names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Compact form</a:t>
            </a:r>
            <a:endParaRPr lang="en-US" altLang="it-IT" sz="2400"/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03495386-3AB0-4CEB-A1DE-333324C2DC49}"/>
              </a:ext>
            </a:extLst>
          </p:cNvPr>
          <p:cNvGrpSpPr>
            <a:grpSpLocks/>
          </p:cNvGrpSpPr>
          <p:nvPr/>
        </p:nvGrpSpPr>
        <p:grpSpPr bwMode="auto">
          <a:xfrm>
            <a:off x="2481263" y="2971800"/>
            <a:ext cx="4376737" cy="2071688"/>
            <a:chOff x="1563" y="1872"/>
            <a:chExt cx="2757" cy="1305"/>
          </a:xfrm>
        </p:grpSpPr>
        <p:sp>
          <p:nvSpPr>
            <p:cNvPr id="34822" name="Text Box 5">
              <a:extLst>
                <a:ext uri="{FF2B5EF4-FFF2-40B4-BE49-F238E27FC236}">
                  <a16:creationId xmlns:a16="http://schemas.microsoft.com/office/drawing/2014/main" id="{71A23367-C8F2-4A14-A428-C28F7785E6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1" y="1872"/>
              <a:ext cx="949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>
                  <a:latin typeface="Courier"/>
                </a:rPr>
                <a:t>t </a:t>
              </a:r>
              <a:r>
                <a:rPr lang="en-US" altLang="it-IT">
                  <a:latin typeface="Courier"/>
                  <a:sym typeface="Symbol" panose="05050102010706020507" pitchFamily="18" charset="2"/>
                </a:rPr>
                <a:t> 2 * y</a:t>
              </a:r>
            </a:p>
            <a:p>
              <a:r>
                <a:rPr lang="en-US" altLang="it-IT">
                  <a:latin typeface="Courier"/>
                  <a:sym typeface="Symbol" panose="05050102010706020507" pitchFamily="18" charset="2"/>
                </a:rPr>
                <a:t>z  x - t</a:t>
              </a:r>
            </a:p>
          </p:txBody>
        </p:sp>
        <p:sp>
          <p:nvSpPr>
            <p:cNvPr id="34823" name="Rectangle 7">
              <a:extLst>
                <a:ext uri="{FF2B5EF4-FFF2-40B4-BE49-F238E27FC236}">
                  <a16:creationId xmlns:a16="http://schemas.microsoft.com/office/drawing/2014/main" id="{BC6A7D34-FF00-4389-9851-39984EFF5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3" y="1956"/>
              <a:ext cx="432" cy="288"/>
            </a:xfrm>
            <a:prstGeom prst="rect">
              <a:avLst/>
            </a:prstGeom>
            <a:noFill/>
            <a:ln w="28575">
              <a:solidFill>
                <a:srgbClr val="003C75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4824" name="Rectangle 8">
              <a:extLst>
                <a:ext uri="{FF2B5EF4-FFF2-40B4-BE49-F238E27FC236}">
                  <a16:creationId xmlns:a16="http://schemas.microsoft.com/office/drawing/2014/main" id="{D48ABDA5-79F2-49C3-B94B-881160411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5" y="1881"/>
              <a:ext cx="144" cy="192"/>
            </a:xfrm>
            <a:prstGeom prst="rect">
              <a:avLst/>
            </a:prstGeom>
            <a:noFill/>
            <a:ln w="28575">
              <a:solidFill>
                <a:srgbClr val="003C75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34825" name="AutoShape 9">
              <a:extLst>
                <a:ext uri="{FF2B5EF4-FFF2-40B4-BE49-F238E27FC236}">
                  <a16:creationId xmlns:a16="http://schemas.microsoft.com/office/drawing/2014/main" id="{35A2EDCC-EE52-44B3-946A-18CC67E0505C}"/>
                </a:ext>
              </a:extLst>
            </p:cNvPr>
            <p:cNvCxnSpPr>
              <a:cxnSpLocks noChangeShapeType="1"/>
              <a:stCxn id="34824" idx="0"/>
              <a:endCxn id="34823" idx="0"/>
            </p:cNvCxnSpPr>
            <p:nvPr/>
          </p:nvCxnSpPr>
          <p:spPr bwMode="auto">
            <a:xfrm rot="-5400000" flipH="1" flipV="1">
              <a:off x="2590" y="1061"/>
              <a:ext cx="75" cy="1698"/>
            </a:xfrm>
            <a:prstGeom prst="curvedConnector3">
              <a:avLst>
                <a:gd name="adj1" fmla="val -180000"/>
              </a:avLst>
            </a:prstGeom>
            <a:noFill/>
            <a:ln w="28575">
              <a:solidFill>
                <a:srgbClr val="003C75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26" name="Rectangle 10">
              <a:extLst>
                <a:ext uri="{FF2B5EF4-FFF2-40B4-BE49-F238E27FC236}">
                  <a16:creationId xmlns:a16="http://schemas.microsoft.com/office/drawing/2014/main" id="{3CA06DAB-3577-42F6-94CA-A0B5817BC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5" y="2073"/>
              <a:ext cx="192" cy="192"/>
            </a:xfrm>
            <a:prstGeom prst="rect">
              <a:avLst/>
            </a:prstGeom>
            <a:noFill/>
            <a:ln w="28575">
              <a:solidFill>
                <a:srgbClr val="003C75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4827" name="Rectangle 11">
              <a:extLst>
                <a:ext uri="{FF2B5EF4-FFF2-40B4-BE49-F238E27FC236}">
                  <a16:creationId xmlns:a16="http://schemas.microsoft.com/office/drawing/2014/main" id="{2B332E11-1BE0-4E62-88C5-A3D356249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3033"/>
              <a:ext cx="192" cy="144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34828" name="AutoShape 12">
              <a:extLst>
                <a:ext uri="{FF2B5EF4-FFF2-40B4-BE49-F238E27FC236}">
                  <a16:creationId xmlns:a16="http://schemas.microsoft.com/office/drawing/2014/main" id="{A48783BB-2184-48CB-9EEC-0F4FE36E758B}"/>
                </a:ext>
              </a:extLst>
            </p:cNvPr>
            <p:cNvCxnSpPr>
              <a:cxnSpLocks noChangeShapeType="1"/>
              <a:stCxn id="34827" idx="3"/>
              <a:endCxn id="34826" idx="2"/>
            </p:cNvCxnSpPr>
            <p:nvPr/>
          </p:nvCxnSpPr>
          <p:spPr bwMode="auto">
            <a:xfrm flipV="1">
              <a:off x="3117" y="2274"/>
              <a:ext cx="1104" cy="831"/>
            </a:xfrm>
            <a:prstGeom prst="curvedConnector2">
              <a:avLst/>
            </a:prstGeom>
            <a:noFill/>
            <a:ln w="28575">
              <a:solidFill>
                <a:srgbClr val="003C75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29" name="AutoShape 13">
              <a:extLst>
                <a:ext uri="{FF2B5EF4-FFF2-40B4-BE49-F238E27FC236}">
                  <a16:creationId xmlns:a16="http://schemas.microsoft.com/office/drawing/2014/main" id="{87CC0DFF-3422-43CC-9E65-6BB08DB448D1}"/>
                </a:ext>
              </a:extLst>
            </p:cNvPr>
            <p:cNvCxnSpPr>
              <a:cxnSpLocks noChangeShapeType="1"/>
              <a:stCxn id="34826" idx="0"/>
              <a:endCxn id="34824" idx="2"/>
            </p:cNvCxnSpPr>
            <p:nvPr/>
          </p:nvCxnSpPr>
          <p:spPr bwMode="auto">
            <a:xfrm rot="-5400000" flipH="1" flipV="1">
              <a:off x="3840" y="1701"/>
              <a:ext cx="18" cy="744"/>
            </a:xfrm>
            <a:prstGeom prst="curvedConnector5">
              <a:avLst>
                <a:gd name="adj1" fmla="val -750000"/>
                <a:gd name="adj2" fmla="val 51611"/>
                <a:gd name="adj3" fmla="val 850000"/>
              </a:avLst>
            </a:prstGeom>
            <a:noFill/>
            <a:ln w="28575">
              <a:solidFill>
                <a:srgbClr val="003C75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30" name="Text Box 14">
              <a:extLst>
                <a:ext uri="{FF2B5EF4-FFF2-40B4-BE49-F238E27FC236}">
                  <a16:creationId xmlns:a16="http://schemas.microsoft.com/office/drawing/2014/main" id="{F6518F9F-E787-4291-9C11-E869F7F32E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3" y="2937"/>
              <a:ext cx="192" cy="231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>
                  <a:solidFill>
                    <a:srgbClr val="003C75"/>
                  </a:solidFill>
                </a:rPr>
                <a:t>*</a:t>
              </a: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3">
            <a:extLst>
              <a:ext uri="{FF2B5EF4-FFF2-40B4-BE49-F238E27FC236}">
                <a16:creationId xmlns:a16="http://schemas.microsoft.com/office/drawing/2014/main" id="{4A014424-933C-4C6E-8E0A-F569EB4C48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6866" name="Slide Number Placeholder 4">
            <a:extLst>
              <a:ext uri="{FF2B5EF4-FFF2-40B4-BE49-F238E27FC236}">
                <a16:creationId xmlns:a16="http://schemas.microsoft.com/office/drawing/2014/main" id="{5650FBB7-9D4A-4366-ADED-4CEEB09045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FD1C018-589C-4EC0-9D81-07935C070DF3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B9706A17-B4DA-471F-84E7-B2AF2C821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Three Address Code: Quadruples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93360DAC-3E90-4347-B051-032870FF4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18573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it-IT"/>
              <a:t>Naïve representation of three address code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 sz="1800"/>
              <a:t>Table of k * 4 small integers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 sz="1800"/>
              <a:t>Simple record structure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 sz="1800"/>
              <a:t>Easy to reorder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 sz="1800"/>
              <a:t>Explicit names</a:t>
            </a:r>
          </a:p>
        </p:txBody>
      </p:sp>
      <p:graphicFrame>
        <p:nvGraphicFramePr>
          <p:cNvPr id="25739" name="Group 139">
            <a:extLst>
              <a:ext uri="{FF2B5EF4-FFF2-40B4-BE49-F238E27FC236}">
                <a16:creationId xmlns:a16="http://schemas.microsoft.com/office/drawing/2014/main" id="{0448E9B6-8002-4912-BD93-A02E41229F9C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3124200"/>
          <a:ext cx="2895600" cy="2108201"/>
        </p:xfrm>
        <a:graphic>
          <a:graphicData uri="http://schemas.openxmlformats.org/drawingml/2006/table">
            <a:tbl>
              <a:tblPr/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load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loadi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mult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load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sub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901" name="Text Box 36">
            <a:extLst>
              <a:ext uri="{FF2B5EF4-FFF2-40B4-BE49-F238E27FC236}">
                <a16:creationId xmlns:a16="http://schemas.microsoft.com/office/drawing/2014/main" id="{BB8640AD-1C8C-4819-A8BF-695135C57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352800"/>
            <a:ext cx="2379663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latin typeface="Courier"/>
              </a:rPr>
              <a:t>load  r1, y</a:t>
            </a:r>
          </a:p>
          <a:p>
            <a:r>
              <a:rPr lang="en-US" altLang="it-IT">
                <a:latin typeface="Courier"/>
              </a:rPr>
              <a:t>loadI r2, 2</a:t>
            </a:r>
          </a:p>
          <a:p>
            <a:r>
              <a:rPr lang="en-US" altLang="it-IT">
                <a:latin typeface="Courier"/>
              </a:rPr>
              <a:t>mult  r3, r2, r1</a:t>
            </a:r>
          </a:p>
          <a:p>
            <a:r>
              <a:rPr lang="en-US" altLang="it-IT">
                <a:latin typeface="Courier"/>
              </a:rPr>
              <a:t>load  r4, x</a:t>
            </a:r>
          </a:p>
          <a:p>
            <a:r>
              <a:rPr lang="en-US" altLang="it-IT">
                <a:latin typeface="Courier"/>
              </a:rPr>
              <a:t>sub   r5, r4, r3</a:t>
            </a:r>
          </a:p>
        </p:txBody>
      </p:sp>
      <p:sp>
        <p:nvSpPr>
          <p:cNvPr id="36902" name="Text Box 37">
            <a:extLst>
              <a:ext uri="{FF2B5EF4-FFF2-40B4-BE49-F238E27FC236}">
                <a16:creationId xmlns:a16="http://schemas.microsoft.com/office/drawing/2014/main" id="{2EC5D103-D7FE-4AE6-BB15-9EF59C8B6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4913" y="5386388"/>
            <a:ext cx="2101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solidFill>
                  <a:srgbClr val="003C75"/>
                </a:solidFill>
              </a:rPr>
              <a:t>RISC assembly code</a:t>
            </a:r>
          </a:p>
        </p:txBody>
      </p:sp>
      <p:sp>
        <p:nvSpPr>
          <p:cNvPr id="36903" name="Text Box 38">
            <a:extLst>
              <a:ext uri="{FF2B5EF4-FFF2-40B4-BE49-F238E27FC236}">
                <a16:creationId xmlns:a16="http://schemas.microsoft.com/office/drawing/2014/main" id="{E13755B4-83CE-421E-90BD-9D4284811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386388"/>
            <a:ext cx="1268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solidFill>
                  <a:srgbClr val="003C75"/>
                </a:solidFill>
              </a:rPr>
              <a:t>Quadruples</a:t>
            </a:r>
            <a:endParaRPr lang="en-US" altLang="it-IT" sz="1600">
              <a:solidFill>
                <a:srgbClr val="003C7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857" name="Text Box 39">
            <a:extLst>
              <a:ext uri="{FF2B5EF4-FFF2-40B4-BE49-F238E27FC236}">
                <a16:creationId xmlns:a16="http://schemas.microsoft.com/office/drawing/2014/main" id="{C97899EE-42C2-41FD-8032-F1F243618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752600"/>
            <a:ext cx="2667000" cy="6604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The original F</a:t>
            </a:r>
            <a:r>
              <a:rPr lang="en-US" sz="1400" b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ORTRAN</a:t>
            </a: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compiler used “quads”</a:t>
            </a: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3">
            <a:extLst>
              <a:ext uri="{FF2B5EF4-FFF2-40B4-BE49-F238E27FC236}">
                <a16:creationId xmlns:a16="http://schemas.microsoft.com/office/drawing/2014/main" id="{24E260F1-C3D2-4451-ACF9-729BF0B681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8914" name="Slide Number Placeholder 4">
            <a:extLst>
              <a:ext uri="{FF2B5EF4-FFF2-40B4-BE49-F238E27FC236}">
                <a16:creationId xmlns:a16="http://schemas.microsoft.com/office/drawing/2014/main" id="{F160A209-C50F-4BBC-8386-3299372526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C1DA838-675F-40B5-968A-5052B1B31968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966A7443-AAAD-459A-9227-31ED39BFD1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Three Address Code: Triples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11FF17A5-1118-4085-AAC9-1F2BB21444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Index used as implicit name</a:t>
            </a:r>
          </a:p>
          <a:p>
            <a:pPr eaLnBrk="1" hangingPunct="1"/>
            <a:r>
              <a:rPr lang="en-US" altLang="it-IT"/>
              <a:t>25% less space consumed than quads</a:t>
            </a:r>
          </a:p>
          <a:p>
            <a:pPr eaLnBrk="1" hangingPunct="1"/>
            <a:r>
              <a:rPr lang="en-US" altLang="it-IT"/>
              <a:t>Much harder to reorder</a:t>
            </a:r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Remember, for a long time, 640Kb was a lot of RAM</a:t>
            </a:r>
          </a:p>
        </p:txBody>
      </p:sp>
      <p:graphicFrame>
        <p:nvGraphicFramePr>
          <p:cNvPr id="27858" name="Group 210">
            <a:extLst>
              <a:ext uri="{FF2B5EF4-FFF2-40B4-BE49-F238E27FC236}">
                <a16:creationId xmlns:a16="http://schemas.microsoft.com/office/drawing/2014/main" id="{7767C4F9-F36D-4F99-8D78-6A3465603296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2438400"/>
          <a:ext cx="2743200" cy="2133601"/>
        </p:xfrm>
        <a:graphic>
          <a:graphicData uri="http://schemas.openxmlformats.org/drawingml/2006/table">
            <a:tbl>
              <a:tblPr/>
              <a:tblGrid>
                <a:gridCol w="60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(1)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load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(2)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loadI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(3)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mult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(4)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load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(5)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sub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948" name="Text Box 212">
            <a:extLst>
              <a:ext uri="{FF2B5EF4-FFF2-40B4-BE49-F238E27FC236}">
                <a16:creationId xmlns:a16="http://schemas.microsoft.com/office/drawing/2014/main" id="{2DEF2453-DB9A-490C-9EFC-ADF40977A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352800"/>
            <a:ext cx="3581400" cy="376238"/>
          </a:xfrm>
          <a:prstGeom prst="rect">
            <a:avLst/>
          </a:prstGeom>
          <a:solidFill>
            <a:srgbClr val="BFBFBF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Implicit names occupy no space</a:t>
            </a: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3">
            <a:extLst>
              <a:ext uri="{FF2B5EF4-FFF2-40B4-BE49-F238E27FC236}">
                <a16:creationId xmlns:a16="http://schemas.microsoft.com/office/drawing/2014/main" id="{83727AB0-CBBB-48E3-9426-C214BCF207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0962" name="Slide Number Placeholder 4">
            <a:extLst>
              <a:ext uri="{FF2B5EF4-FFF2-40B4-BE49-F238E27FC236}">
                <a16:creationId xmlns:a16="http://schemas.microsoft.com/office/drawing/2014/main" id="{5090C36C-406B-438E-9256-8730988013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96C55AD-EC23-47CF-A1B6-ED47F4949B5D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2A4EB643-4D87-47BA-8261-80586E2A8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Three Address Code: Indirect Triples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7CBF9335-0160-4A45-AA41-38FC0A7A8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181600"/>
          </a:xfrm>
        </p:spPr>
        <p:txBody>
          <a:bodyPr/>
          <a:lstStyle/>
          <a:p>
            <a:pPr eaLnBrk="1" hangingPunct="1"/>
            <a:r>
              <a:rPr lang="en-US" altLang="it-IT"/>
              <a:t>List first triple in each statement</a:t>
            </a:r>
          </a:p>
          <a:p>
            <a:pPr eaLnBrk="1" hangingPunct="1"/>
            <a:r>
              <a:rPr lang="en-US" altLang="it-IT"/>
              <a:t>Implicit name space</a:t>
            </a:r>
          </a:p>
          <a:p>
            <a:pPr eaLnBrk="1" hangingPunct="1"/>
            <a:r>
              <a:rPr lang="en-US" altLang="it-IT"/>
              <a:t>Uses more space than triples, but easier to reorder</a:t>
            </a:r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r>
              <a:rPr lang="en-US" altLang="it-IT"/>
              <a:t>Major tradeoff between quads and triples is compactness versus ease of manipulation</a:t>
            </a:r>
          </a:p>
          <a:p>
            <a:pPr lvl="1" eaLnBrk="1" hangingPunct="1"/>
            <a:r>
              <a:rPr lang="en-US" altLang="it-IT"/>
              <a:t>In the past compile-time space was critical</a:t>
            </a:r>
          </a:p>
          <a:p>
            <a:pPr lvl="1" eaLnBrk="1" hangingPunct="1"/>
            <a:r>
              <a:rPr lang="en-US" altLang="it-IT"/>
              <a:t>Today, speed may be more important</a:t>
            </a:r>
            <a:endParaRPr lang="en-US" altLang="it-IT" sz="2000"/>
          </a:p>
        </p:txBody>
      </p:sp>
      <p:graphicFrame>
        <p:nvGraphicFramePr>
          <p:cNvPr id="29864" name="Group 168">
            <a:extLst>
              <a:ext uri="{FF2B5EF4-FFF2-40B4-BE49-F238E27FC236}">
                <a16:creationId xmlns:a16="http://schemas.microsoft.com/office/drawing/2014/main" id="{F698C77D-D8D5-4528-8DA3-79D1B982300E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2209800"/>
          <a:ext cx="4673600" cy="249079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Stmt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marT="45731" marB="4573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Implicit Names</a:t>
                      </a:r>
                    </a:p>
                  </a:txBody>
                  <a:tcPr marT="45731" marB="4573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Indirect Triples</a:t>
                      </a:r>
                    </a:p>
                  </a:txBody>
                  <a:tcPr marT="45731" marB="4573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(100)</a:t>
                      </a:r>
                    </a:p>
                  </a:txBody>
                  <a:tcPr marT="45731" marB="4573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(100)</a:t>
                      </a:r>
                    </a:p>
                  </a:txBody>
                  <a:tcPr marT="45731" marB="45731" horzOverflow="overflow">
                    <a:lnL>
                      <a:noFill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load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(105)</a:t>
                      </a:r>
                    </a:p>
                  </a:txBody>
                  <a:tcPr marT="45731" marB="4573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(101)</a:t>
                      </a:r>
                    </a:p>
                  </a:txBody>
                  <a:tcPr marT="45731" marB="45731" horzOverflow="overflow">
                    <a:lnL>
                      <a:noFill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loadI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1" marB="4573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(102)</a:t>
                      </a:r>
                    </a:p>
                  </a:txBody>
                  <a:tcPr marT="45731" marB="45731" horzOverflow="overflow">
                    <a:lnL>
                      <a:noFill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mult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(100)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(101)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1" marB="4573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(103)</a:t>
                      </a:r>
                    </a:p>
                  </a:txBody>
                  <a:tcPr marT="45731" marB="45731" horzOverflow="overflow">
                    <a:lnL>
                      <a:noFill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load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1" marB="4573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(104)</a:t>
                      </a:r>
                    </a:p>
                  </a:txBody>
                  <a:tcPr marT="45731" marB="45731" horzOverflow="overflow">
                    <a:lnL>
                      <a:noFill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sub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(103)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ヒラギノ角ゴ Pro W3" charset="-128"/>
                          <a:cs typeface="ヒラギノ角ゴ Pro W3" charset="-128"/>
                        </a:rPr>
                        <a:t>(102)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3">
            <a:extLst>
              <a:ext uri="{FF2B5EF4-FFF2-40B4-BE49-F238E27FC236}">
                <a16:creationId xmlns:a16="http://schemas.microsoft.com/office/drawing/2014/main" id="{2B989243-09D0-4896-805D-4A89F99F66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3010" name="Slide Number Placeholder 4">
            <a:extLst>
              <a:ext uri="{FF2B5EF4-FFF2-40B4-BE49-F238E27FC236}">
                <a16:creationId xmlns:a16="http://schemas.microsoft.com/office/drawing/2014/main" id="{09D58044-09BE-448D-AFD9-FEE7E839E9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22FE1F6-D6B7-476C-AE8F-407255914D21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29B6E993-CA2C-4C87-8D71-8F651C905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Two Address Code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7EA77620-1EED-4224-9DF3-528CA764F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Allows statements of the form</a:t>
            </a:r>
            <a:endParaRPr lang="en-US" altLang="it-IT" sz="1800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sz="1800"/>
              <a:t>		</a:t>
            </a:r>
            <a:r>
              <a:rPr lang="en-US" altLang="it-IT" sz="1800">
                <a:solidFill>
                  <a:srgbClr val="003C75"/>
                </a:solidFill>
              </a:rPr>
              <a:t>x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 x </a:t>
            </a:r>
            <a:r>
              <a:rPr lang="en-US" altLang="it-IT" sz="1800" i="1" u="sng">
                <a:solidFill>
                  <a:srgbClr val="003C75"/>
                </a:solidFill>
                <a:sym typeface="Monotype Sorts"/>
              </a:rPr>
              <a:t>op</a:t>
            </a:r>
            <a:r>
              <a:rPr lang="en-US" altLang="it-IT" sz="1800">
                <a:solidFill>
                  <a:srgbClr val="003C75"/>
                </a:solidFill>
                <a:sym typeface="Monotype Sorts"/>
              </a:rPr>
              <a:t> y</a:t>
            </a:r>
            <a:endParaRPr lang="en-US" altLang="it-IT" sz="1800">
              <a:solidFill>
                <a:srgbClr val="003C75"/>
              </a:solidFill>
            </a:endParaRPr>
          </a:p>
          <a:p>
            <a:pPr lvl="1" eaLnBrk="1" hangingPunct="1">
              <a:buFontTx/>
              <a:buNone/>
            </a:pPr>
            <a:r>
              <a:rPr lang="en-US" altLang="it-IT" sz="2000"/>
              <a:t>Has 1 operator (</a:t>
            </a:r>
            <a:r>
              <a:rPr lang="en-US" altLang="it-IT" sz="2000" i="1" u="sng">
                <a:solidFill>
                  <a:srgbClr val="003C75"/>
                </a:solidFill>
              </a:rPr>
              <a:t>op</a:t>
            </a:r>
            <a:r>
              <a:rPr lang="en-US" altLang="it-IT" sz="1200">
                <a:solidFill>
                  <a:srgbClr val="1822CD"/>
                </a:solidFill>
              </a:rPr>
              <a:t> </a:t>
            </a:r>
            <a:r>
              <a:rPr lang="en-US" altLang="it-IT" sz="2000"/>
              <a:t>) and, at most, 2 names (</a:t>
            </a:r>
            <a:r>
              <a:rPr lang="en-US" altLang="it-IT" sz="2000">
                <a:solidFill>
                  <a:srgbClr val="003C75"/>
                </a:solidFill>
              </a:rPr>
              <a:t>x</a:t>
            </a:r>
            <a:r>
              <a:rPr lang="en-US" altLang="it-IT" sz="2000"/>
              <a:t> and </a:t>
            </a:r>
            <a:r>
              <a:rPr lang="en-US" altLang="it-IT" sz="2000">
                <a:solidFill>
                  <a:srgbClr val="003C75"/>
                </a:solidFill>
              </a:rPr>
              <a:t>y</a:t>
            </a:r>
            <a:r>
              <a:rPr lang="en-US" altLang="it-IT" sz="2000"/>
              <a:t>)</a:t>
            </a:r>
            <a:endParaRPr lang="en-US" altLang="it-IT"/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/>
              <a:t>Example: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sz="1800"/>
              <a:t>	     z </a:t>
            </a:r>
            <a:r>
              <a:rPr lang="en-US" altLang="it-IT" sz="1800">
                <a:sym typeface="Symbol" panose="05050102010706020507" pitchFamily="18" charset="2"/>
              </a:rPr>
              <a:t> x - 2 * y	  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becomes</a:t>
            </a:r>
            <a:endParaRPr lang="en-US" altLang="it-IT" sz="1800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it-IT"/>
              <a:t>Can be very compact</a:t>
            </a:r>
            <a:endParaRPr lang="en-US" altLang="it-IT" sz="1800"/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Problems</a:t>
            </a:r>
          </a:p>
          <a:p>
            <a:pPr eaLnBrk="1" hangingPunct="1"/>
            <a:r>
              <a:rPr lang="en-US" altLang="it-IT"/>
              <a:t>Machines no longer rely on destructive operations</a:t>
            </a:r>
          </a:p>
          <a:p>
            <a:pPr eaLnBrk="1" hangingPunct="1"/>
            <a:r>
              <a:rPr lang="en-US" altLang="it-IT"/>
              <a:t>Difficult name space</a:t>
            </a:r>
          </a:p>
          <a:p>
            <a:pPr lvl="1" eaLnBrk="1" hangingPunct="1"/>
            <a:r>
              <a:rPr lang="en-US" altLang="it-IT"/>
              <a:t>Destructive operations make reuse hard</a:t>
            </a:r>
          </a:p>
          <a:p>
            <a:pPr lvl="1" eaLnBrk="1" hangingPunct="1"/>
            <a:r>
              <a:rPr lang="en-US" altLang="it-IT"/>
              <a:t>Good model for machines with destructive ops (PDP-11)</a:t>
            </a:r>
            <a:endParaRPr lang="en-US" altLang="it-IT" sz="1200"/>
          </a:p>
        </p:txBody>
      </p:sp>
      <p:sp>
        <p:nvSpPr>
          <p:cNvPr id="43013" name="Text Box 4">
            <a:extLst>
              <a:ext uri="{FF2B5EF4-FFF2-40B4-BE49-F238E27FC236}">
                <a16:creationId xmlns:a16="http://schemas.microsoft.com/office/drawing/2014/main" id="{3669E54C-BC4A-4078-B3F0-BC7EE627B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0" y="2362200"/>
            <a:ext cx="1781175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latin typeface="Courier"/>
              </a:rPr>
              <a:t>t</a:t>
            </a:r>
            <a:r>
              <a:rPr lang="en-US" altLang="it-IT" baseline="-25000">
                <a:latin typeface="Courier"/>
              </a:rPr>
              <a:t>1</a:t>
            </a:r>
            <a:r>
              <a:rPr lang="en-US" altLang="it-IT">
                <a:latin typeface="Courier"/>
              </a:rPr>
              <a:t> </a:t>
            </a:r>
            <a:r>
              <a:rPr lang="en-US" altLang="it-IT">
                <a:latin typeface="Courier"/>
                <a:sym typeface="Symbol" panose="05050102010706020507" pitchFamily="18" charset="2"/>
              </a:rPr>
              <a:t> 2</a:t>
            </a:r>
          </a:p>
          <a:p>
            <a:r>
              <a:rPr lang="en-US" altLang="it-IT">
                <a:latin typeface="Courier"/>
                <a:sym typeface="Symbol" panose="05050102010706020507" pitchFamily="18" charset="2"/>
              </a:rPr>
              <a:t>t</a:t>
            </a:r>
            <a:r>
              <a:rPr lang="en-US" altLang="it-IT" baseline="-25000">
                <a:latin typeface="Courier"/>
                <a:sym typeface="Symbol" panose="05050102010706020507" pitchFamily="18" charset="2"/>
              </a:rPr>
              <a:t>2</a:t>
            </a:r>
            <a:r>
              <a:rPr lang="en-US" altLang="it-IT">
                <a:latin typeface="Courier"/>
              </a:rPr>
              <a:t> </a:t>
            </a:r>
            <a:r>
              <a:rPr lang="en-US" altLang="it-IT">
                <a:latin typeface="Courier"/>
                <a:sym typeface="Symbol" panose="05050102010706020507" pitchFamily="18" charset="2"/>
              </a:rPr>
              <a:t> load y</a:t>
            </a:r>
          </a:p>
          <a:p>
            <a:r>
              <a:rPr lang="en-US" altLang="it-IT">
                <a:latin typeface="Courier"/>
                <a:sym typeface="Symbol" panose="05050102010706020507" pitchFamily="18" charset="2"/>
              </a:rPr>
              <a:t>t</a:t>
            </a:r>
            <a:r>
              <a:rPr lang="en-US" altLang="it-IT" baseline="-25000">
                <a:latin typeface="Courier"/>
                <a:sym typeface="Symbol" panose="05050102010706020507" pitchFamily="18" charset="2"/>
              </a:rPr>
              <a:t>2</a:t>
            </a:r>
            <a:r>
              <a:rPr lang="en-US" altLang="it-IT">
                <a:latin typeface="Courier"/>
              </a:rPr>
              <a:t> </a:t>
            </a:r>
            <a:r>
              <a:rPr lang="en-US" altLang="it-IT">
                <a:latin typeface="Courier"/>
                <a:sym typeface="Symbol" panose="05050102010706020507" pitchFamily="18" charset="2"/>
              </a:rPr>
              <a:t> t</a:t>
            </a:r>
            <a:r>
              <a:rPr lang="en-US" altLang="it-IT" baseline="-25000">
                <a:latin typeface="Courier"/>
                <a:sym typeface="Symbol" panose="05050102010706020507" pitchFamily="18" charset="2"/>
              </a:rPr>
              <a:t>2</a:t>
            </a:r>
            <a:r>
              <a:rPr lang="en-US" altLang="it-IT">
                <a:latin typeface="Courier"/>
                <a:sym typeface="Symbol" panose="05050102010706020507" pitchFamily="18" charset="2"/>
              </a:rPr>
              <a:t> * t</a:t>
            </a:r>
            <a:r>
              <a:rPr lang="en-US" altLang="it-IT" baseline="-25000">
                <a:latin typeface="Courier"/>
                <a:sym typeface="Symbol" panose="05050102010706020507" pitchFamily="18" charset="2"/>
              </a:rPr>
              <a:t>1</a:t>
            </a:r>
            <a:endParaRPr lang="en-US" altLang="it-IT">
              <a:latin typeface="Courier"/>
              <a:sym typeface="Symbol" panose="05050102010706020507" pitchFamily="18" charset="2"/>
            </a:endParaRPr>
          </a:p>
          <a:p>
            <a:r>
              <a:rPr lang="en-US" altLang="it-IT">
                <a:latin typeface="Courier"/>
                <a:sym typeface="Symbol" panose="05050102010706020507" pitchFamily="18" charset="2"/>
              </a:rPr>
              <a:t>z</a:t>
            </a:r>
            <a:r>
              <a:rPr lang="en-US" altLang="it-IT" baseline="-25000">
                <a:latin typeface="Courier"/>
                <a:sym typeface="Symbol" panose="05050102010706020507" pitchFamily="18" charset="2"/>
              </a:rPr>
              <a:t> </a:t>
            </a:r>
            <a:r>
              <a:rPr lang="en-US" altLang="it-IT">
                <a:latin typeface="Courier"/>
              </a:rPr>
              <a:t> </a:t>
            </a:r>
            <a:r>
              <a:rPr lang="en-US" altLang="it-IT">
                <a:latin typeface="Courier"/>
                <a:sym typeface="Symbol" panose="05050102010706020507" pitchFamily="18" charset="2"/>
              </a:rPr>
              <a:t> load x</a:t>
            </a:r>
          </a:p>
          <a:p>
            <a:r>
              <a:rPr lang="en-US" altLang="it-IT">
                <a:latin typeface="Courier"/>
                <a:sym typeface="Symbol" panose="05050102010706020507" pitchFamily="18" charset="2"/>
              </a:rPr>
              <a:t>z</a:t>
            </a:r>
            <a:r>
              <a:rPr lang="en-US" altLang="it-IT" baseline="-25000">
                <a:latin typeface="Courier"/>
                <a:sym typeface="Symbol" panose="05050102010706020507" pitchFamily="18" charset="2"/>
              </a:rPr>
              <a:t> </a:t>
            </a:r>
            <a:r>
              <a:rPr lang="en-US" altLang="it-IT">
                <a:latin typeface="Courier"/>
              </a:rPr>
              <a:t> </a:t>
            </a:r>
            <a:r>
              <a:rPr lang="en-US" altLang="it-IT">
                <a:latin typeface="Courier"/>
                <a:sym typeface="Symbol" panose="05050102010706020507" pitchFamily="18" charset="2"/>
              </a:rPr>
              <a:t> z - t</a:t>
            </a:r>
            <a:r>
              <a:rPr lang="en-US" altLang="it-IT" baseline="-25000">
                <a:latin typeface="Courier"/>
                <a:sym typeface="Symbol" panose="05050102010706020507" pitchFamily="18" charset="2"/>
              </a:rPr>
              <a:t>2</a:t>
            </a:r>
            <a:endParaRPr lang="en-US" altLang="it-IT">
              <a:latin typeface="Courier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3">
            <a:extLst>
              <a:ext uri="{FF2B5EF4-FFF2-40B4-BE49-F238E27FC236}">
                <a16:creationId xmlns:a16="http://schemas.microsoft.com/office/drawing/2014/main" id="{463DA132-3A19-4CEA-A9A6-EEBCB2A1D4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5058" name="Slide Number Placeholder 4">
            <a:extLst>
              <a:ext uri="{FF2B5EF4-FFF2-40B4-BE49-F238E27FC236}">
                <a16:creationId xmlns:a16="http://schemas.microsoft.com/office/drawing/2014/main" id="{C1A8EF49-CA86-499C-94A6-43F645BBD3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8A492E7-DCE9-4D8C-8B03-66951E4E0235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F0985D57-8BED-4D6E-A87E-056E4CFEDF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Control-flow Graph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5B0A8A0-BFB5-4538-B3CB-17C66C8B27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Models the transfer of control in the procedure</a:t>
            </a:r>
          </a:p>
          <a:p>
            <a:pPr eaLnBrk="1" hangingPunct="1"/>
            <a:r>
              <a:rPr lang="en-US" altLang="it-IT"/>
              <a:t>Nodes in the graph are basic blocks</a:t>
            </a:r>
          </a:p>
          <a:p>
            <a:pPr lvl="1" eaLnBrk="1" hangingPunct="1"/>
            <a:r>
              <a:rPr lang="en-US" altLang="it-IT"/>
              <a:t>Can be represented with quads or any other linear representation</a:t>
            </a:r>
          </a:p>
          <a:p>
            <a:pPr eaLnBrk="1" hangingPunct="1"/>
            <a:r>
              <a:rPr lang="en-US" altLang="it-IT"/>
              <a:t>Edges in the graph represent control flow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Example</a:t>
            </a:r>
          </a:p>
        </p:txBody>
      </p:sp>
      <p:grpSp>
        <p:nvGrpSpPr>
          <p:cNvPr id="45061" name="Group 4">
            <a:extLst>
              <a:ext uri="{FF2B5EF4-FFF2-40B4-BE49-F238E27FC236}">
                <a16:creationId xmlns:a16="http://schemas.microsoft.com/office/drawing/2014/main" id="{7F07802D-B0CE-478A-831E-E47A1D54809C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3511550"/>
            <a:ext cx="3175000" cy="2203450"/>
            <a:chOff x="1632" y="1785"/>
            <a:chExt cx="2000" cy="1388"/>
          </a:xfrm>
        </p:grpSpPr>
        <p:sp>
          <p:nvSpPr>
            <p:cNvPr id="45063" name="Text Box 5">
              <a:extLst>
                <a:ext uri="{FF2B5EF4-FFF2-40B4-BE49-F238E27FC236}">
                  <a16:creationId xmlns:a16="http://schemas.microsoft.com/office/drawing/2014/main" id="{33963EF8-6BD3-4550-91B6-56ECB541E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785"/>
              <a:ext cx="597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latin typeface="Arial Rounded MT Bold" panose="020F0704030504030204" pitchFamily="34" charset="0"/>
                </a:rPr>
                <a:t>if (x = y)</a:t>
              </a:r>
            </a:p>
          </p:txBody>
        </p:sp>
        <p:sp>
          <p:nvSpPr>
            <p:cNvPr id="45064" name="Text Box 6">
              <a:extLst>
                <a:ext uri="{FF2B5EF4-FFF2-40B4-BE49-F238E27FC236}">
                  <a16:creationId xmlns:a16="http://schemas.microsoft.com/office/drawing/2014/main" id="{9CDD8429-B5A0-4D6E-9991-6BDF3515EE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303"/>
              <a:ext cx="512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latin typeface="Arial Rounded MT Bold" panose="020F0704030504030204" pitchFamily="34" charset="0"/>
                </a:rPr>
                <a:t>a </a:t>
              </a:r>
              <a:r>
                <a:rPr lang="en-US" altLang="it-IT">
                  <a:latin typeface="Arial Rounded MT Bold" panose="020F0704030504030204" pitchFamily="34" charset="0"/>
                  <a:sym typeface="Symbol" panose="05050102010706020507" pitchFamily="18" charset="2"/>
                </a:rPr>
                <a:t> 2</a:t>
              </a:r>
            </a:p>
            <a:p>
              <a:r>
                <a:rPr lang="en-US" altLang="it-IT">
                  <a:latin typeface="Arial Rounded MT Bold" panose="020F0704030504030204" pitchFamily="34" charset="0"/>
                  <a:sym typeface="Symbol" panose="05050102010706020507" pitchFamily="18" charset="2"/>
                </a:rPr>
                <a:t>b</a:t>
              </a:r>
              <a:r>
                <a:rPr lang="en-US" altLang="it-IT">
                  <a:latin typeface="Arial Rounded MT Bold" panose="020F0704030504030204" pitchFamily="34" charset="0"/>
                </a:rPr>
                <a:t> </a:t>
              </a:r>
              <a:r>
                <a:rPr lang="en-US" altLang="it-IT">
                  <a:latin typeface="Arial Rounded MT Bold" panose="020F0704030504030204" pitchFamily="34" charset="0"/>
                  <a:sym typeface="Symbol" panose="05050102010706020507" pitchFamily="18" charset="2"/>
                </a:rPr>
                <a:t> 5</a:t>
              </a:r>
            </a:p>
          </p:txBody>
        </p:sp>
        <p:sp>
          <p:nvSpPr>
            <p:cNvPr id="45065" name="Text Box 7">
              <a:extLst>
                <a:ext uri="{FF2B5EF4-FFF2-40B4-BE49-F238E27FC236}">
                  <a16:creationId xmlns:a16="http://schemas.microsoft.com/office/drawing/2014/main" id="{748A6648-23C3-47DE-B3D7-CC62CF1AB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303"/>
              <a:ext cx="512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latin typeface="Arial Rounded MT Bold" panose="020F0704030504030204" pitchFamily="34" charset="0"/>
                </a:rPr>
                <a:t>a</a:t>
              </a:r>
              <a:r>
                <a:rPr lang="en-US" altLang="it-IT">
                  <a:latin typeface="Arial Rounded MT Bold" panose="020F0704030504030204" pitchFamily="34" charset="0"/>
                </a:rPr>
                <a:t> </a:t>
              </a:r>
              <a:r>
                <a:rPr lang="en-US" altLang="it-IT">
                  <a:latin typeface="Arial Rounded MT Bold" panose="020F0704030504030204" pitchFamily="34" charset="0"/>
                  <a:sym typeface="Symbol" panose="05050102010706020507" pitchFamily="18" charset="2"/>
                </a:rPr>
                <a:t> 3</a:t>
              </a:r>
            </a:p>
            <a:p>
              <a:r>
                <a:rPr lang="en-US" altLang="it-IT">
                  <a:latin typeface="Arial Rounded MT Bold" panose="020F0704030504030204" pitchFamily="34" charset="0"/>
                  <a:sym typeface="Symbol" panose="05050102010706020507" pitchFamily="18" charset="2"/>
                </a:rPr>
                <a:t>b</a:t>
              </a:r>
              <a:r>
                <a:rPr lang="en-US" altLang="it-IT">
                  <a:latin typeface="Arial Rounded MT Bold" panose="020F0704030504030204" pitchFamily="34" charset="0"/>
                </a:rPr>
                <a:t> </a:t>
              </a:r>
              <a:r>
                <a:rPr lang="en-US" altLang="it-IT">
                  <a:latin typeface="Arial Rounded MT Bold" panose="020F0704030504030204" pitchFamily="34" charset="0"/>
                  <a:sym typeface="Symbol" panose="05050102010706020507" pitchFamily="18" charset="2"/>
                </a:rPr>
                <a:t> 4</a:t>
              </a:r>
            </a:p>
          </p:txBody>
        </p:sp>
        <p:sp>
          <p:nvSpPr>
            <p:cNvPr id="45066" name="Text Box 8">
              <a:extLst>
                <a:ext uri="{FF2B5EF4-FFF2-40B4-BE49-F238E27FC236}">
                  <a16:creationId xmlns:a16="http://schemas.microsoft.com/office/drawing/2014/main" id="{8B751271-404C-4853-BB8F-4DA981815C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4" y="2936"/>
              <a:ext cx="723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latin typeface="Arial Rounded MT Bold" panose="020F0704030504030204" pitchFamily="34" charset="0"/>
                </a:rPr>
                <a:t>c</a:t>
              </a:r>
              <a:r>
                <a:rPr lang="en-US" altLang="it-IT">
                  <a:latin typeface="Arial Rounded MT Bold" panose="020F0704030504030204" pitchFamily="34" charset="0"/>
                </a:rPr>
                <a:t> </a:t>
              </a:r>
              <a:r>
                <a:rPr lang="en-US" altLang="it-IT">
                  <a:latin typeface="Arial Rounded MT Bold" panose="020F0704030504030204" pitchFamily="34" charset="0"/>
                  <a:sym typeface="Symbol" panose="05050102010706020507" pitchFamily="18" charset="2"/>
                </a:rPr>
                <a:t> a * b</a:t>
              </a:r>
            </a:p>
          </p:txBody>
        </p:sp>
        <p:cxnSp>
          <p:nvCxnSpPr>
            <p:cNvPr id="45067" name="AutoShape 9">
              <a:extLst>
                <a:ext uri="{FF2B5EF4-FFF2-40B4-BE49-F238E27FC236}">
                  <a16:creationId xmlns:a16="http://schemas.microsoft.com/office/drawing/2014/main" id="{8130C064-160E-4911-A7D9-13C35C359377}"/>
                </a:ext>
              </a:extLst>
            </p:cNvPr>
            <p:cNvCxnSpPr>
              <a:cxnSpLocks noChangeShapeType="1"/>
              <a:stCxn id="45063" idx="2"/>
              <a:endCxn id="45064" idx="0"/>
            </p:cNvCxnSpPr>
            <p:nvPr/>
          </p:nvCxnSpPr>
          <p:spPr bwMode="auto">
            <a:xfrm flipH="1">
              <a:off x="1888" y="2003"/>
              <a:ext cx="779" cy="3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8" name="AutoShape 10">
              <a:extLst>
                <a:ext uri="{FF2B5EF4-FFF2-40B4-BE49-F238E27FC236}">
                  <a16:creationId xmlns:a16="http://schemas.microsoft.com/office/drawing/2014/main" id="{A9CDA14F-6580-4B2E-A5D2-2779ACEA5323}"/>
                </a:ext>
              </a:extLst>
            </p:cNvPr>
            <p:cNvCxnSpPr>
              <a:cxnSpLocks noChangeShapeType="1"/>
              <a:stCxn id="45063" idx="2"/>
              <a:endCxn id="45065" idx="0"/>
            </p:cNvCxnSpPr>
            <p:nvPr/>
          </p:nvCxnSpPr>
          <p:spPr bwMode="auto">
            <a:xfrm>
              <a:off x="2667" y="2003"/>
              <a:ext cx="709" cy="3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9" name="AutoShape 11">
              <a:extLst>
                <a:ext uri="{FF2B5EF4-FFF2-40B4-BE49-F238E27FC236}">
                  <a16:creationId xmlns:a16="http://schemas.microsoft.com/office/drawing/2014/main" id="{2CA1E151-C673-48A4-9715-CEA6C08E050A}"/>
                </a:ext>
              </a:extLst>
            </p:cNvPr>
            <p:cNvCxnSpPr>
              <a:cxnSpLocks noChangeShapeType="1"/>
              <a:stCxn id="45064" idx="2"/>
              <a:endCxn id="45066" idx="0"/>
            </p:cNvCxnSpPr>
            <p:nvPr/>
          </p:nvCxnSpPr>
          <p:spPr bwMode="auto">
            <a:xfrm>
              <a:off x="1888" y="2713"/>
              <a:ext cx="768" cy="22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0" name="AutoShape 12">
              <a:extLst>
                <a:ext uri="{FF2B5EF4-FFF2-40B4-BE49-F238E27FC236}">
                  <a16:creationId xmlns:a16="http://schemas.microsoft.com/office/drawing/2014/main" id="{523B3AAF-5EE7-4367-81A8-A32BCDC25E7A}"/>
                </a:ext>
              </a:extLst>
            </p:cNvPr>
            <p:cNvCxnSpPr>
              <a:cxnSpLocks noChangeShapeType="1"/>
              <a:stCxn id="45065" idx="2"/>
              <a:endCxn id="45066" idx="0"/>
            </p:cNvCxnSpPr>
            <p:nvPr/>
          </p:nvCxnSpPr>
          <p:spPr bwMode="auto">
            <a:xfrm flipH="1">
              <a:off x="2656" y="2713"/>
              <a:ext cx="720" cy="22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55774E3E-1730-4537-B472-B61DF98F0D1F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519488"/>
            <a:ext cx="5029200" cy="1966912"/>
            <a:chOff x="2256" y="2217"/>
            <a:chExt cx="3168" cy="1239"/>
          </a:xfrm>
          <a:solidFill>
            <a:schemeClr val="bg1">
              <a:lumMod val="75000"/>
            </a:schemeClr>
          </a:solidFill>
        </p:grpSpPr>
        <p:sp>
          <p:nvSpPr>
            <p:cNvPr id="43016" name="AutoShape 14">
              <a:extLst>
                <a:ext uri="{FF2B5EF4-FFF2-40B4-BE49-F238E27FC236}">
                  <a16:creationId xmlns:a16="http://schemas.microsoft.com/office/drawing/2014/main" id="{2B3D63D8-94DA-4E0A-BE47-846B4112D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17"/>
              <a:ext cx="1342" cy="762"/>
            </a:xfrm>
            <a:prstGeom prst="accentBorderCallout1">
              <a:avLst>
                <a:gd name="adj1" fmla="val 8236"/>
                <a:gd name="adj2" fmla="val -3579"/>
                <a:gd name="adj3" fmla="val 8352"/>
                <a:gd name="adj4" fmla="val -73176"/>
              </a:avLst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dash"/>
              <a:miter lim="800000"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Basic blocks —</a:t>
              </a:r>
            </a:p>
            <a:p>
              <a:pPr eaLnBrk="0" hangingPunct="0">
                <a:defRPr/>
              </a:pPr>
              <a:r>
                <a:rPr lang="en-US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Maximal length sequences of straight-line code</a:t>
              </a:r>
            </a:p>
          </p:txBody>
        </p:sp>
        <p:sp>
          <p:nvSpPr>
            <p:cNvPr id="43017" name="Line 15">
              <a:extLst>
                <a:ext uri="{FF2B5EF4-FFF2-40B4-BE49-F238E27FC236}">
                  <a16:creationId xmlns:a16="http://schemas.microsoft.com/office/drawing/2014/main" id="{096B4CA9-D2EC-42D8-9FB4-731F47A7DB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2304"/>
              <a:ext cx="384" cy="384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43018" name="Line 16">
              <a:extLst>
                <a:ext uri="{FF2B5EF4-FFF2-40B4-BE49-F238E27FC236}">
                  <a16:creationId xmlns:a16="http://schemas.microsoft.com/office/drawing/2014/main" id="{DA023EC2-7044-4083-8744-F87613B1AA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2304"/>
              <a:ext cx="1776" cy="48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43019" name="Line 17">
              <a:extLst>
                <a:ext uri="{FF2B5EF4-FFF2-40B4-BE49-F238E27FC236}">
                  <a16:creationId xmlns:a16="http://schemas.microsoft.com/office/drawing/2014/main" id="{0B7ABCEF-5D35-4F4C-9536-E025EF91C2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304"/>
              <a:ext cx="912" cy="1152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3">
            <a:extLst>
              <a:ext uri="{FF2B5EF4-FFF2-40B4-BE49-F238E27FC236}">
                <a16:creationId xmlns:a16="http://schemas.microsoft.com/office/drawing/2014/main" id="{8294E9B5-3BD0-4FF0-9595-E5A1313B43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7106" name="Slide Number Placeholder 4">
            <a:extLst>
              <a:ext uri="{FF2B5EF4-FFF2-40B4-BE49-F238E27FC236}">
                <a16:creationId xmlns:a16="http://schemas.microsoft.com/office/drawing/2014/main" id="{B1BA5583-32AA-4CEF-B0B3-D987C15EC8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FE1B256-2402-4836-BEFF-79E39A56357A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1ABF2012-5CC9-4BAD-B4C4-6E798CEEE7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Static Single Assignment Form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FDAAA831-A611-4F2B-A9B8-49B03FF736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main idea:  each name defined exactly once</a:t>
            </a:r>
          </a:p>
          <a:p>
            <a:pPr eaLnBrk="1" hangingPunct="1"/>
            <a:r>
              <a:rPr lang="en-US" altLang="it-IT"/>
              <a:t>Introduce </a:t>
            </a:r>
            <a:r>
              <a:rPr lang="en-US" altLang="it-IT">
                <a:sym typeface="Symbol" panose="05050102010706020507" pitchFamily="18" charset="2"/>
              </a:rPr>
              <a:t>-functions to make it work</a:t>
            </a:r>
          </a:p>
          <a:p>
            <a:pPr eaLnBrk="1" hangingPunct="1"/>
            <a:endParaRPr lang="en-US" altLang="it-IT">
              <a:sym typeface="Symbol" panose="05050102010706020507" pitchFamily="18" charset="2"/>
            </a:endParaRPr>
          </a:p>
          <a:p>
            <a:pPr eaLnBrk="1" hangingPunct="1"/>
            <a:endParaRPr lang="en-US" altLang="it-IT">
              <a:sym typeface="Symbol" panose="05050102010706020507" pitchFamily="18" charset="2"/>
            </a:endParaRPr>
          </a:p>
          <a:p>
            <a:pPr eaLnBrk="1" hangingPunct="1"/>
            <a:endParaRPr lang="en-US" altLang="it-IT">
              <a:sym typeface="Symbol" panose="05050102010706020507" pitchFamily="18" charset="2"/>
            </a:endParaRPr>
          </a:p>
          <a:p>
            <a:pPr eaLnBrk="1" hangingPunct="1"/>
            <a:endParaRPr lang="en-US" altLang="it-IT">
              <a:sym typeface="Symbol" panose="05050102010706020507" pitchFamily="18" charset="2"/>
            </a:endParaRPr>
          </a:p>
          <a:p>
            <a:pPr eaLnBrk="1" hangingPunct="1"/>
            <a:endParaRPr lang="en-US" altLang="it-IT">
              <a:sym typeface="Symbol" panose="05050102010706020507" pitchFamily="18" charset="2"/>
            </a:endParaRPr>
          </a:p>
          <a:p>
            <a:pPr eaLnBrk="1" hangingPunct="1"/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7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Strengths of SSA-form</a:t>
            </a:r>
          </a:p>
          <a:p>
            <a:pPr eaLnBrk="1" hangingPunct="1"/>
            <a:r>
              <a:rPr lang="en-US" altLang="it-IT"/>
              <a:t>Sharper analysis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-functions give hints about placement</a:t>
            </a:r>
          </a:p>
          <a:p>
            <a:pPr eaLnBrk="1" hangingPunct="1"/>
            <a:r>
              <a:rPr lang="en-US" altLang="it-IT"/>
              <a:t>(sometimes) faster algorithms</a:t>
            </a:r>
          </a:p>
        </p:txBody>
      </p:sp>
      <p:sp>
        <p:nvSpPr>
          <p:cNvPr id="47109" name="Text Box 4">
            <a:extLst>
              <a:ext uri="{FF2B5EF4-FFF2-40B4-BE49-F238E27FC236}">
                <a16:creationId xmlns:a16="http://schemas.microsoft.com/office/drawing/2014/main" id="{E303E3F3-F24B-42E2-8E5A-69C09739F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981200"/>
            <a:ext cx="1770063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latin typeface="Arial Rounded MT Bold" panose="020F0704030504030204" pitchFamily="34" charset="0"/>
              </a:rPr>
              <a:t>        Original</a:t>
            </a:r>
          </a:p>
          <a:p>
            <a:endParaRPr lang="en-US" altLang="it-IT" sz="1600">
              <a:latin typeface="Courier"/>
            </a:endParaRPr>
          </a:p>
          <a:p>
            <a:r>
              <a:rPr lang="en-US" altLang="it-IT" sz="1600">
                <a:latin typeface="Courier"/>
              </a:rPr>
              <a:t>x 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 …</a:t>
            </a:r>
          </a:p>
          <a:p>
            <a:r>
              <a:rPr lang="en-US" altLang="it-IT" sz="1600">
                <a:latin typeface="Courier"/>
                <a:sym typeface="Symbol" panose="05050102010706020507" pitchFamily="18" charset="2"/>
              </a:rPr>
              <a:t>y  …</a:t>
            </a:r>
          </a:p>
          <a:p>
            <a:r>
              <a:rPr lang="en-US" altLang="it-IT" sz="1600">
                <a:latin typeface="Courier"/>
                <a:sym typeface="Symbol" panose="05050102010706020507" pitchFamily="18" charset="2"/>
              </a:rPr>
              <a:t>while (x &lt; k)</a:t>
            </a:r>
          </a:p>
          <a:p>
            <a:r>
              <a:rPr lang="en-US" altLang="it-IT" sz="1600">
                <a:latin typeface="Courier"/>
                <a:sym typeface="Symbol" panose="05050102010706020507" pitchFamily="18" charset="2"/>
              </a:rPr>
              <a:t>   </a:t>
            </a:r>
            <a:r>
              <a:rPr lang="en-US" altLang="it-IT" sz="1600">
                <a:latin typeface="Courier"/>
              </a:rPr>
              <a:t>x 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 x + 1</a:t>
            </a:r>
          </a:p>
          <a:p>
            <a:r>
              <a:rPr lang="en-US" altLang="it-IT" sz="1600">
                <a:latin typeface="Courier"/>
                <a:sym typeface="Symbol" panose="05050102010706020507" pitchFamily="18" charset="2"/>
              </a:rPr>
              <a:t>   y  y + x</a:t>
            </a:r>
          </a:p>
        </p:txBody>
      </p:sp>
      <p:sp>
        <p:nvSpPr>
          <p:cNvPr id="47110" name="Text Box 5">
            <a:extLst>
              <a:ext uri="{FF2B5EF4-FFF2-40B4-BE49-F238E27FC236}">
                <a16:creationId xmlns:a16="http://schemas.microsoft.com/office/drawing/2014/main" id="{28E1AC8B-4CF4-47FF-83AC-0B4C747F9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2288" y="1981200"/>
            <a:ext cx="3973512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3429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latin typeface="Arial Rounded MT Bold" panose="020F0704030504030204" pitchFamily="34" charset="0"/>
              </a:rPr>
              <a:t>SSA-form</a:t>
            </a:r>
          </a:p>
          <a:p>
            <a:endParaRPr lang="en-US" altLang="it-IT" sz="1600">
              <a:latin typeface="Arial Rounded MT Bold" panose="020F0704030504030204" pitchFamily="34" charset="0"/>
            </a:endParaRPr>
          </a:p>
          <a:p>
            <a:r>
              <a:rPr lang="en-US" altLang="it-IT" sz="1600">
                <a:latin typeface="Courier"/>
              </a:rPr>
              <a:t>		x</a:t>
            </a:r>
            <a:r>
              <a:rPr lang="en-US" altLang="it-IT" sz="1600" baseline="-25000">
                <a:latin typeface="Courier"/>
              </a:rPr>
              <a:t>0</a:t>
            </a:r>
            <a:r>
              <a:rPr lang="en-US" altLang="it-IT" sz="1600">
                <a:latin typeface="Courier"/>
              </a:rPr>
              <a:t> 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 …</a:t>
            </a:r>
          </a:p>
          <a:p>
            <a:r>
              <a:rPr lang="en-US" altLang="it-IT" sz="1600">
                <a:latin typeface="Courier"/>
                <a:sym typeface="Symbol" panose="05050102010706020507" pitchFamily="18" charset="2"/>
              </a:rPr>
              <a:t>		y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0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  …</a:t>
            </a:r>
          </a:p>
          <a:p>
            <a:r>
              <a:rPr lang="en-US" altLang="it-IT" sz="1600">
                <a:latin typeface="Courier"/>
                <a:sym typeface="Symbol" panose="05050102010706020507" pitchFamily="18" charset="2"/>
              </a:rPr>
              <a:t>		if (x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0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 &gt;= k) goto next</a:t>
            </a:r>
          </a:p>
          <a:p>
            <a:r>
              <a:rPr lang="en-US" altLang="it-IT" sz="1600">
                <a:latin typeface="Courier"/>
                <a:sym typeface="Symbol" panose="05050102010706020507" pitchFamily="18" charset="2"/>
              </a:rPr>
              <a:t>loop:		x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1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  (x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0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,x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2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)  </a:t>
            </a:r>
          </a:p>
          <a:p>
            <a:r>
              <a:rPr lang="en-US" altLang="it-IT" sz="1600">
                <a:latin typeface="Courier"/>
                <a:sym typeface="Symbol" panose="05050102010706020507" pitchFamily="18" charset="2"/>
              </a:rPr>
              <a:t>			y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1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  (y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0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,y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2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)</a:t>
            </a:r>
          </a:p>
          <a:p>
            <a:r>
              <a:rPr lang="en-US" altLang="it-IT" sz="1600">
                <a:latin typeface="Courier"/>
                <a:sym typeface="Symbol" panose="05050102010706020507" pitchFamily="18" charset="2"/>
              </a:rPr>
              <a:t>       	x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2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  x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1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 + 1 </a:t>
            </a:r>
          </a:p>
          <a:p>
            <a:r>
              <a:rPr lang="en-US" altLang="it-IT" sz="1600">
                <a:latin typeface="Courier"/>
                <a:sym typeface="Symbol" panose="05050102010706020507" pitchFamily="18" charset="2"/>
              </a:rPr>
              <a:t>       	y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2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  y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1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 + x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2</a:t>
            </a:r>
            <a:endParaRPr lang="en-US" altLang="it-IT" sz="1600">
              <a:latin typeface="Courier"/>
              <a:sym typeface="Symbol" panose="05050102010706020507" pitchFamily="18" charset="2"/>
            </a:endParaRPr>
          </a:p>
          <a:p>
            <a:r>
              <a:rPr lang="en-US" altLang="it-IT" sz="1600">
                <a:latin typeface="Courier"/>
                <a:sym typeface="Symbol" panose="05050102010706020507" pitchFamily="18" charset="2"/>
              </a:rPr>
              <a:t>			if (x</a:t>
            </a:r>
            <a:r>
              <a:rPr lang="en-US" altLang="it-IT" sz="1600" baseline="-25000">
                <a:latin typeface="Courier"/>
                <a:sym typeface="Symbol" panose="05050102010706020507" pitchFamily="18" charset="2"/>
              </a:rPr>
              <a:t>2</a:t>
            </a:r>
            <a:r>
              <a:rPr lang="en-US" altLang="it-IT" sz="1600">
                <a:latin typeface="Courier"/>
                <a:sym typeface="Symbol" panose="05050102010706020507" pitchFamily="18" charset="2"/>
              </a:rPr>
              <a:t> &lt; k) goto loop</a:t>
            </a:r>
          </a:p>
          <a:p>
            <a:r>
              <a:rPr lang="en-US" altLang="it-IT" sz="1600">
                <a:latin typeface="Courier"/>
                <a:sym typeface="Symbol" panose="05050102010706020507" pitchFamily="18" charset="2"/>
              </a:rPr>
              <a:t>next:     …            </a:t>
            </a: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3">
            <a:extLst>
              <a:ext uri="{FF2B5EF4-FFF2-40B4-BE49-F238E27FC236}">
                <a16:creationId xmlns:a16="http://schemas.microsoft.com/office/drawing/2014/main" id="{B7A6256E-B387-4EC1-939E-FF03F50ED7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9154" name="Slide Number Placeholder 4">
            <a:extLst>
              <a:ext uri="{FF2B5EF4-FFF2-40B4-BE49-F238E27FC236}">
                <a16:creationId xmlns:a16="http://schemas.microsoft.com/office/drawing/2014/main" id="{152A1F10-5C77-4EFA-93EF-75E63E6298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AB9A494-7AB7-4038-AB25-071ABC01EFD3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9E64F457-BA77-43E6-9794-F00C29A65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Using Multiple Representations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6938E480-AC14-411C-9EF4-EB8887B50D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3155950"/>
            <a:ext cx="7772400" cy="2940050"/>
          </a:xfrm>
        </p:spPr>
        <p:txBody>
          <a:bodyPr/>
          <a:lstStyle/>
          <a:p>
            <a:pPr eaLnBrk="1" hangingPunct="1"/>
            <a:r>
              <a:rPr lang="en-US" altLang="it-IT"/>
              <a:t>Repeatedly lower the level of the intermediate representation</a:t>
            </a:r>
          </a:p>
          <a:p>
            <a:pPr lvl="1" eaLnBrk="1" hangingPunct="1"/>
            <a:r>
              <a:rPr lang="en-US" altLang="it-IT"/>
              <a:t>Each intermediate representation is suited towards certain optimizations</a:t>
            </a:r>
          </a:p>
          <a:p>
            <a:pPr eaLnBrk="1" hangingPunct="1"/>
            <a:r>
              <a:rPr lang="en-US" altLang="it-IT"/>
              <a:t>Example: the Open64 compiler</a:t>
            </a:r>
          </a:p>
          <a:p>
            <a:pPr lvl="1" eaLnBrk="1" hangingPunct="1"/>
            <a:r>
              <a:rPr lang="en-US" altLang="it-IT"/>
              <a:t>WHIRL intermediate format</a:t>
            </a:r>
          </a:p>
          <a:p>
            <a:pPr lvl="2" eaLnBrk="1" hangingPunct="1"/>
            <a:r>
              <a:rPr lang="en-US" altLang="it-IT"/>
              <a:t>Consists of 5 different</a:t>
            </a:r>
            <a:r>
              <a:rPr lang="en-US" altLang="it-IT" i="1"/>
              <a:t> IR</a:t>
            </a:r>
            <a:r>
              <a:rPr lang="en-US" altLang="it-IT"/>
              <a:t>s that are progressively more detailed and less abstract</a:t>
            </a:r>
          </a:p>
        </p:txBody>
      </p:sp>
      <p:grpSp>
        <p:nvGrpSpPr>
          <p:cNvPr id="49157" name="Group 21">
            <a:extLst>
              <a:ext uri="{FF2B5EF4-FFF2-40B4-BE49-F238E27FC236}">
                <a16:creationId xmlns:a16="http://schemas.microsoft.com/office/drawing/2014/main" id="{8CF69ACD-E0D4-41B5-AAE5-FCB9BFDCAE82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600200"/>
            <a:ext cx="7904163" cy="1143000"/>
            <a:chOff x="533400" y="1600200"/>
            <a:chExt cx="7904163" cy="1143000"/>
          </a:xfrm>
        </p:grpSpPr>
        <p:sp>
          <p:nvSpPr>
            <p:cNvPr id="47120" name="Rectangle 14">
              <a:extLst>
                <a:ext uri="{FF2B5EF4-FFF2-40B4-BE49-F238E27FC236}">
                  <a16:creationId xmlns:a16="http://schemas.microsoft.com/office/drawing/2014/main" id="{F1693E32-9C58-4843-8066-AFB01D556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1600200"/>
              <a:ext cx="5562600" cy="11430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49159" name="Text Box 5">
              <a:extLst>
                <a:ext uri="{FF2B5EF4-FFF2-40B4-BE49-F238E27FC236}">
                  <a16:creationId xmlns:a16="http://schemas.microsoft.com/office/drawing/2014/main" id="{9A706BCE-72FE-4963-8988-E6732BDF1B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1828800"/>
              <a:ext cx="731838" cy="685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Front</a:t>
              </a:r>
            </a:p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End</a:t>
              </a:r>
            </a:p>
          </p:txBody>
        </p:sp>
        <p:sp>
          <p:nvSpPr>
            <p:cNvPr id="49160" name="Text Box 6">
              <a:extLst>
                <a:ext uri="{FF2B5EF4-FFF2-40B4-BE49-F238E27FC236}">
                  <a16:creationId xmlns:a16="http://schemas.microsoft.com/office/drawing/2014/main" id="{90D734F0-DF55-4EF3-8C22-87BCEB67A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1828800"/>
              <a:ext cx="731838" cy="685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Middle</a:t>
              </a:r>
            </a:p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End</a:t>
              </a:r>
            </a:p>
          </p:txBody>
        </p:sp>
        <p:sp>
          <p:nvSpPr>
            <p:cNvPr id="49161" name="Text Box 7">
              <a:extLst>
                <a:ext uri="{FF2B5EF4-FFF2-40B4-BE49-F238E27FC236}">
                  <a16:creationId xmlns:a16="http://schemas.microsoft.com/office/drawing/2014/main" id="{BB86B0A4-F445-4A3D-83CD-FAD2614C43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7138" y="1828800"/>
              <a:ext cx="731838" cy="685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Back</a:t>
              </a:r>
            </a:p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End</a:t>
              </a:r>
            </a:p>
          </p:txBody>
        </p:sp>
        <p:sp>
          <p:nvSpPr>
            <p:cNvPr id="49162" name="Line 8">
              <a:extLst>
                <a:ext uri="{FF2B5EF4-FFF2-40B4-BE49-F238E27FC236}">
                  <a16:creationId xmlns:a16="http://schemas.microsoft.com/office/drawing/2014/main" id="{67C98091-C8A9-474A-81E4-90E2C0BC0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700" y="216535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9163" name="Line 9">
              <a:extLst>
                <a:ext uri="{FF2B5EF4-FFF2-40B4-BE49-F238E27FC236}">
                  <a16:creationId xmlns:a16="http://schemas.microsoft.com/office/drawing/2014/main" id="{C228FCEC-3451-4796-B938-3336BC3F34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6100" y="216535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9164" name="Text Box 10">
              <a:extLst>
                <a:ext uri="{FF2B5EF4-FFF2-40B4-BE49-F238E27FC236}">
                  <a16:creationId xmlns:a16="http://schemas.microsoft.com/office/drawing/2014/main" id="{07223CF1-2421-42D6-AD3F-725DF58CC3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9400" y="1835150"/>
              <a:ext cx="652463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 i="1">
                  <a:solidFill>
                    <a:srgbClr val="003C75"/>
                  </a:solidFill>
                </a:rPr>
                <a:t>IR 1</a:t>
              </a:r>
            </a:p>
          </p:txBody>
        </p:sp>
        <p:sp>
          <p:nvSpPr>
            <p:cNvPr id="49165" name="Text Box 11">
              <a:extLst>
                <a:ext uri="{FF2B5EF4-FFF2-40B4-BE49-F238E27FC236}">
                  <a16:creationId xmlns:a16="http://schemas.microsoft.com/office/drawing/2014/main" id="{66ED1EE0-2FB5-4175-99E4-555D17C26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1835150"/>
              <a:ext cx="6858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 i="1">
                  <a:solidFill>
                    <a:srgbClr val="003C75"/>
                  </a:solidFill>
                </a:rPr>
                <a:t>IR 3</a:t>
              </a:r>
            </a:p>
          </p:txBody>
        </p:sp>
        <p:sp>
          <p:nvSpPr>
            <p:cNvPr id="49166" name="Line 12">
              <a:extLst>
                <a:ext uri="{FF2B5EF4-FFF2-40B4-BE49-F238E27FC236}">
                  <a16:creationId xmlns:a16="http://schemas.microsoft.com/office/drawing/2014/main" id="{39F25EE9-8989-4111-8DB0-01AC88F0FF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70013" y="216535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9167" name="Line 13">
              <a:extLst>
                <a:ext uri="{FF2B5EF4-FFF2-40B4-BE49-F238E27FC236}">
                  <a16:creationId xmlns:a16="http://schemas.microsoft.com/office/drawing/2014/main" id="{E8590A53-A46A-4D4C-8808-748A12192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7388" y="2166938"/>
              <a:ext cx="639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9168" name="Text Box 15">
              <a:extLst>
                <a:ext uri="{FF2B5EF4-FFF2-40B4-BE49-F238E27FC236}">
                  <a16:creationId xmlns:a16="http://schemas.microsoft.com/office/drawing/2014/main" id="{322159C2-86D9-4307-8B32-6993ABFEA0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828800"/>
              <a:ext cx="893763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>
                  <a:latin typeface="Arial Rounded MT Bold" panose="020F0704030504030204" pitchFamily="34" charset="0"/>
                </a:rPr>
                <a:t>Source</a:t>
              </a:r>
            </a:p>
            <a:p>
              <a:pPr algn="ctr"/>
              <a:r>
                <a:rPr lang="en-US" altLang="it-IT" sz="1600" i="1">
                  <a:latin typeface="Arial Rounded MT Bold" panose="020F0704030504030204" pitchFamily="34" charset="0"/>
                </a:rPr>
                <a:t>Code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9169" name="Text Box 16">
              <a:extLst>
                <a:ext uri="{FF2B5EF4-FFF2-40B4-BE49-F238E27FC236}">
                  <a16:creationId xmlns:a16="http://schemas.microsoft.com/office/drawing/2014/main" id="{E7BD4B74-499E-4C8C-8D50-33E6796F2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1828800"/>
              <a:ext cx="893763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 i="1">
                  <a:latin typeface="Arial Rounded MT Bold" panose="020F0704030504030204" pitchFamily="34" charset="0"/>
                </a:rPr>
                <a:t>Target</a:t>
              </a:r>
            </a:p>
            <a:p>
              <a:pPr algn="ctr"/>
              <a:r>
                <a:rPr lang="en-US" altLang="it-IT" sz="1600" i="1">
                  <a:latin typeface="Arial Rounded MT Bold" panose="020F0704030504030204" pitchFamily="34" charset="0"/>
                </a:rPr>
                <a:t>Code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9170" name="Text Box 17">
              <a:extLst>
                <a:ext uri="{FF2B5EF4-FFF2-40B4-BE49-F238E27FC236}">
                  <a16:creationId xmlns:a16="http://schemas.microsoft.com/office/drawing/2014/main" id="{A3FC73E2-5A0A-4ED5-A37F-F88BBACD66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1828800"/>
              <a:ext cx="731838" cy="685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Middle</a:t>
              </a:r>
            </a:p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End</a:t>
              </a:r>
            </a:p>
          </p:txBody>
        </p:sp>
        <p:sp>
          <p:nvSpPr>
            <p:cNvPr id="49171" name="Line 18">
              <a:extLst>
                <a:ext uri="{FF2B5EF4-FFF2-40B4-BE49-F238E27FC236}">
                  <a16:creationId xmlns:a16="http://schemas.microsoft.com/office/drawing/2014/main" id="{90D838CD-FEE0-49C3-96AD-4AFF1475C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9738" y="2165350"/>
              <a:ext cx="639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9172" name="Text Box 19">
              <a:extLst>
                <a:ext uri="{FF2B5EF4-FFF2-40B4-BE49-F238E27FC236}">
                  <a16:creationId xmlns:a16="http://schemas.microsoft.com/office/drawing/2014/main" id="{E7B12968-FE99-483F-9FDF-675CF43E1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1835150"/>
              <a:ext cx="6858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 i="1">
                  <a:solidFill>
                    <a:srgbClr val="003C75"/>
                  </a:solidFill>
                </a:rPr>
                <a:t>IR 2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3">
            <a:extLst>
              <a:ext uri="{FF2B5EF4-FFF2-40B4-BE49-F238E27FC236}">
                <a16:creationId xmlns:a16="http://schemas.microsoft.com/office/drawing/2014/main" id="{0DD943E3-748E-40EA-AB1A-C825C312B2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1202" name="Slide Number Placeholder 4">
            <a:extLst>
              <a:ext uri="{FF2B5EF4-FFF2-40B4-BE49-F238E27FC236}">
                <a16:creationId xmlns:a16="http://schemas.microsoft.com/office/drawing/2014/main" id="{C281D7CA-6D18-4451-8A91-8516CBBFFA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0C28E73-8857-4CC6-9E9A-9B6E83AA98D0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01E38E2E-9852-488D-BFCE-F328ED97A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Memory Models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AFD178D6-493C-4C48-A6F3-79468B051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077200" cy="49530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Two major models</a:t>
            </a:r>
          </a:p>
          <a:p>
            <a:pPr eaLnBrk="1" hangingPunct="1"/>
            <a:r>
              <a:rPr lang="en-US" altLang="it-IT"/>
              <a:t>Register-to-register model</a:t>
            </a:r>
          </a:p>
          <a:p>
            <a:pPr lvl="1" eaLnBrk="1" hangingPunct="1"/>
            <a:r>
              <a:rPr lang="en-US" altLang="it-IT"/>
              <a:t>Keep all values that can legally be stored in a register in registers</a:t>
            </a:r>
          </a:p>
          <a:p>
            <a:pPr lvl="1" eaLnBrk="1" hangingPunct="1"/>
            <a:r>
              <a:rPr lang="en-US" altLang="it-IT"/>
              <a:t>Ignore machine limitations on number of registers</a:t>
            </a:r>
          </a:p>
          <a:p>
            <a:pPr lvl="1" eaLnBrk="1" hangingPunct="1"/>
            <a:r>
              <a:rPr lang="en-US" altLang="it-IT"/>
              <a:t>Compiler back-end must insert loads and stores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it-IT"/>
              <a:t>Memory-to-memory model</a:t>
            </a:r>
          </a:p>
          <a:p>
            <a:pPr lvl="1" eaLnBrk="1" hangingPunct="1"/>
            <a:r>
              <a:rPr lang="en-US" altLang="it-IT"/>
              <a:t>Keep all values in memory</a:t>
            </a:r>
          </a:p>
          <a:p>
            <a:pPr lvl="1" eaLnBrk="1" hangingPunct="1"/>
            <a:r>
              <a:rPr lang="en-US" altLang="it-IT"/>
              <a:t>Only promote values to registers directly before they are used</a:t>
            </a:r>
          </a:p>
          <a:p>
            <a:pPr lvl="1" eaLnBrk="1" hangingPunct="1"/>
            <a:r>
              <a:rPr lang="en-US" altLang="it-IT"/>
              <a:t>Compiler back-end can remove loads and stores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it-IT"/>
              <a:t>Compilers for RISC machines usually use register-to-register</a:t>
            </a:r>
          </a:p>
          <a:p>
            <a:pPr lvl="1" eaLnBrk="1" hangingPunct="1"/>
            <a:r>
              <a:rPr lang="en-US" altLang="it-IT"/>
              <a:t>Reflects programming model</a:t>
            </a:r>
          </a:p>
          <a:p>
            <a:pPr lvl="1" eaLnBrk="1" hangingPunct="1"/>
            <a:r>
              <a:rPr lang="en-US" altLang="it-IT"/>
              <a:t>Easier to determine when registers are used</a:t>
            </a: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3">
            <a:extLst>
              <a:ext uri="{FF2B5EF4-FFF2-40B4-BE49-F238E27FC236}">
                <a16:creationId xmlns:a16="http://schemas.microsoft.com/office/drawing/2014/main" id="{81FD6625-946A-4747-AC6C-BAAF7DC0C8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3250" name="Slide Number Placeholder 4">
            <a:extLst>
              <a:ext uri="{FF2B5EF4-FFF2-40B4-BE49-F238E27FC236}">
                <a16:creationId xmlns:a16="http://schemas.microsoft.com/office/drawing/2014/main" id="{7963408C-6525-4E83-9A95-F06346F46E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998D839-FF10-4604-9372-32C4B49598C5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2B0B0EBA-ABD6-4FB0-897D-3AE86D6CF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Rest of the Story…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B1F20552-7EE6-47D0-B019-69E975667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924800" cy="49530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Representing the code is only part of an </a:t>
            </a:r>
            <a:r>
              <a:rPr lang="en-US" altLang="it-IT" i="1"/>
              <a:t>IR</a:t>
            </a:r>
            <a:endParaRPr lang="en-US" altLang="it-IT"/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There are other necessary components</a:t>
            </a:r>
          </a:p>
          <a:p>
            <a:pPr eaLnBrk="1" hangingPunct="1"/>
            <a:r>
              <a:rPr lang="en-US" altLang="it-IT"/>
              <a:t>Symbol table</a:t>
            </a:r>
          </a:p>
          <a:p>
            <a:pPr eaLnBrk="1" hangingPunct="1"/>
            <a:r>
              <a:rPr lang="en-US" altLang="it-IT"/>
              <a:t>Constant table</a:t>
            </a:r>
          </a:p>
          <a:p>
            <a:pPr lvl="1" eaLnBrk="1" hangingPunct="1"/>
            <a:r>
              <a:rPr lang="en-US" altLang="it-IT"/>
              <a:t>Representation, type</a:t>
            </a:r>
          </a:p>
          <a:p>
            <a:pPr lvl="1" eaLnBrk="1" hangingPunct="1"/>
            <a:r>
              <a:rPr lang="en-US" altLang="it-IT"/>
              <a:t>Storage class, offset</a:t>
            </a:r>
          </a:p>
          <a:p>
            <a:pPr eaLnBrk="1" hangingPunct="1"/>
            <a:r>
              <a:rPr lang="en-US" altLang="it-IT"/>
              <a:t>Storage map</a:t>
            </a:r>
          </a:p>
          <a:p>
            <a:pPr lvl="1" eaLnBrk="1" hangingPunct="1"/>
            <a:r>
              <a:rPr lang="en-US" altLang="it-IT"/>
              <a:t>Overall storage layout</a:t>
            </a:r>
          </a:p>
          <a:p>
            <a:pPr lvl="1" eaLnBrk="1" hangingPunct="1"/>
            <a:r>
              <a:rPr lang="en-US" altLang="it-IT"/>
              <a:t>Overlap information</a:t>
            </a:r>
          </a:p>
          <a:p>
            <a:pPr lvl="1" eaLnBrk="1" hangingPunct="1"/>
            <a:r>
              <a:rPr lang="en-US" altLang="it-IT"/>
              <a:t>Virtual register assignments</a:t>
            </a: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3">
            <a:extLst>
              <a:ext uri="{FF2B5EF4-FFF2-40B4-BE49-F238E27FC236}">
                <a16:creationId xmlns:a16="http://schemas.microsoft.com/office/drawing/2014/main" id="{3C3925E5-BB52-47B6-A15E-D077CDDF82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5298" name="Slide Number Placeholder 4">
            <a:extLst>
              <a:ext uri="{FF2B5EF4-FFF2-40B4-BE49-F238E27FC236}">
                <a16:creationId xmlns:a16="http://schemas.microsoft.com/office/drawing/2014/main" id="{708DB33C-732B-453D-B14C-B6DD6B8CBE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9383D0F-A912-4CF2-8B75-52CDFA3D93E7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0921E799-F848-43E5-AD0A-4FFEF6DAE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Symbol Tables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C524D51A-999F-481E-B582-8E4B939D4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Classic approach to building a symbol table uses hashing</a:t>
            </a:r>
          </a:p>
          <a:p>
            <a:pPr eaLnBrk="1" hangingPunct="1"/>
            <a:r>
              <a:rPr lang="en-US" altLang="it-IT"/>
              <a:t>Personal preference: a two-table scheme</a:t>
            </a:r>
          </a:p>
          <a:p>
            <a:pPr lvl="1" eaLnBrk="1" hangingPunct="1"/>
            <a:r>
              <a:rPr lang="en-US" altLang="it-IT"/>
              <a:t>Sparse index to reduce chance of collisions</a:t>
            </a:r>
          </a:p>
          <a:p>
            <a:pPr lvl="1" eaLnBrk="1" hangingPunct="1"/>
            <a:r>
              <a:rPr lang="en-US" altLang="it-IT"/>
              <a:t>Dense table to hold actual data</a:t>
            </a:r>
            <a:endParaRPr lang="en-US" altLang="it-IT">
              <a:solidFill>
                <a:srgbClr val="003C75"/>
              </a:solidFill>
            </a:endParaRPr>
          </a:p>
          <a:p>
            <a:pPr lvl="2" eaLnBrk="1" hangingPunct="1"/>
            <a:r>
              <a:rPr lang="en-US" altLang="it-IT">
                <a:solidFill>
                  <a:srgbClr val="003C75"/>
                </a:solidFill>
              </a:rPr>
              <a:t>Easy to expand, to traverse, to read &amp; write from/to files</a:t>
            </a:r>
          </a:p>
          <a:p>
            <a:pPr eaLnBrk="1" hangingPunct="1"/>
            <a:r>
              <a:rPr lang="en-US" altLang="it-IT"/>
              <a:t>Use chains in index to handle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	collisions</a:t>
            </a: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</p:txBody>
      </p:sp>
      <p:grpSp>
        <p:nvGrpSpPr>
          <p:cNvPr id="2" name="Group 42">
            <a:extLst>
              <a:ext uri="{FF2B5EF4-FFF2-40B4-BE49-F238E27FC236}">
                <a16:creationId xmlns:a16="http://schemas.microsoft.com/office/drawing/2014/main" id="{5BE84A3D-9BB6-4391-92A8-7609A1EC3DA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657600"/>
            <a:ext cx="4648200" cy="1069975"/>
            <a:chOff x="240" y="2304"/>
            <a:chExt cx="2928" cy="674"/>
          </a:xfrm>
        </p:grpSpPr>
        <p:sp>
          <p:nvSpPr>
            <p:cNvPr id="55336" name="Text Box 7">
              <a:extLst>
                <a:ext uri="{FF2B5EF4-FFF2-40B4-BE49-F238E27FC236}">
                  <a16:creationId xmlns:a16="http://schemas.microsoft.com/office/drawing/2014/main" id="{E5B2FA83-EF4B-4F05-8EE6-FF365466A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54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i="1">
                  <a:solidFill>
                    <a:srgbClr val="FF0065"/>
                  </a:solidFill>
                </a:rPr>
                <a:t>h(“foe”)</a:t>
              </a:r>
            </a:p>
          </p:txBody>
        </p:sp>
        <p:sp>
          <p:nvSpPr>
            <p:cNvPr id="55337" name="Line 8">
              <a:extLst>
                <a:ext uri="{FF2B5EF4-FFF2-40B4-BE49-F238E27FC236}">
                  <a16:creationId xmlns:a16="http://schemas.microsoft.com/office/drawing/2014/main" id="{B18000EA-05DA-4065-8928-308E7ED5D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640"/>
              <a:ext cx="912" cy="0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5338" name="Text Box 9">
              <a:extLst>
                <a:ext uri="{FF2B5EF4-FFF2-40B4-BE49-F238E27FC236}">
                  <a16:creationId xmlns:a16="http://schemas.microsoft.com/office/drawing/2014/main" id="{EEB4FB38-4441-402D-9C99-CAB2AFA4B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304"/>
              <a:ext cx="1440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FF0065"/>
                  </a:solidFill>
                </a:rPr>
                <a:t>Collision occurs when h() returns a slot in the sparse index that is already full.</a:t>
              </a:r>
            </a:p>
          </p:txBody>
        </p:sp>
      </p:grpSp>
      <p:grpSp>
        <p:nvGrpSpPr>
          <p:cNvPr id="55302" name="Group 43">
            <a:extLst>
              <a:ext uri="{FF2B5EF4-FFF2-40B4-BE49-F238E27FC236}">
                <a16:creationId xmlns:a16="http://schemas.microsoft.com/office/drawing/2014/main" id="{273FF210-DEE8-4736-BFC7-61EB4D0EFD64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2971800"/>
            <a:ext cx="5943600" cy="3633788"/>
            <a:chOff x="1632" y="1872"/>
            <a:chExt cx="3744" cy="2289"/>
          </a:xfrm>
        </p:grpSpPr>
        <p:sp>
          <p:nvSpPr>
            <p:cNvPr id="55304" name="Text Box 4">
              <a:extLst>
                <a:ext uri="{FF2B5EF4-FFF2-40B4-BE49-F238E27FC236}">
                  <a16:creationId xmlns:a16="http://schemas.microsoft.com/office/drawing/2014/main" id="{EE3B0115-A5A8-478A-83B9-ECA68B51B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07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i="1"/>
                <a:t>h(“fee”)</a:t>
              </a:r>
            </a:p>
          </p:txBody>
        </p:sp>
        <p:sp>
          <p:nvSpPr>
            <p:cNvPr id="55305" name="Text Box 11">
              <a:extLst>
                <a:ext uri="{FF2B5EF4-FFF2-40B4-BE49-F238E27FC236}">
                  <a16:creationId xmlns:a16="http://schemas.microsoft.com/office/drawing/2014/main" id="{52C7352C-333A-49FD-BD3A-27EC89749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872"/>
              <a:ext cx="12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GB" altLang="it-IT">
                <a:solidFill>
                  <a:srgbClr val="0000FF"/>
                </a:solidFill>
              </a:endParaRPr>
            </a:p>
          </p:txBody>
        </p:sp>
        <p:sp>
          <p:nvSpPr>
            <p:cNvPr id="55306" name="Rectangle 12">
              <a:extLst>
                <a:ext uri="{FF2B5EF4-FFF2-40B4-BE49-F238E27FC236}">
                  <a16:creationId xmlns:a16="http://schemas.microsoft.com/office/drawing/2014/main" id="{B5E5EBC3-FFBA-4049-8DB7-B2A31FF95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696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fie  | char *  </a:t>
              </a:r>
              <a:r>
                <a:rPr lang="en-US" altLang="it-IT" sz="900"/>
                <a:t> </a:t>
              </a:r>
              <a:r>
                <a:rPr lang="en-US" altLang="it-IT" sz="1400"/>
                <a:t>| array </a:t>
              </a:r>
              <a:r>
                <a:rPr lang="en-US" altLang="it-IT" sz="1200"/>
                <a:t> </a:t>
              </a:r>
              <a:r>
                <a:rPr lang="en-US" altLang="it-IT" sz="1400"/>
                <a:t>| …</a:t>
              </a:r>
            </a:p>
          </p:txBody>
        </p:sp>
        <p:sp>
          <p:nvSpPr>
            <p:cNvPr id="55307" name="Rectangle 13">
              <a:extLst>
                <a:ext uri="{FF2B5EF4-FFF2-40B4-BE49-F238E27FC236}">
                  <a16:creationId xmlns:a16="http://schemas.microsoft.com/office/drawing/2014/main" id="{A22FC64B-220B-4FAD-BE71-E5C880AE5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504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fee | integer | scalar | …</a:t>
              </a:r>
            </a:p>
          </p:txBody>
        </p:sp>
        <p:sp>
          <p:nvSpPr>
            <p:cNvPr id="55308" name="Rectangle 14">
              <a:extLst>
                <a:ext uri="{FF2B5EF4-FFF2-40B4-BE49-F238E27FC236}">
                  <a16:creationId xmlns:a16="http://schemas.microsoft.com/office/drawing/2014/main" id="{B4A39728-71E1-483F-85D0-3E692E410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312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fum | float    | scalar | …</a:t>
              </a:r>
              <a:endParaRPr lang="en-US" altLang="it-IT"/>
            </a:p>
          </p:txBody>
        </p:sp>
        <p:sp>
          <p:nvSpPr>
            <p:cNvPr id="55309" name="Rectangle 15">
              <a:extLst>
                <a:ext uri="{FF2B5EF4-FFF2-40B4-BE49-F238E27FC236}">
                  <a16:creationId xmlns:a16="http://schemas.microsoft.com/office/drawing/2014/main" id="{C274256E-1369-4E80-A7DC-331D5C10E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120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5310" name="Rectangle 16">
              <a:extLst>
                <a:ext uri="{FF2B5EF4-FFF2-40B4-BE49-F238E27FC236}">
                  <a16:creationId xmlns:a16="http://schemas.microsoft.com/office/drawing/2014/main" id="{B4333FAD-27FF-4A6A-A93C-5E675AD8E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928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5311" name="Rectangle 17">
              <a:extLst>
                <a:ext uri="{FF2B5EF4-FFF2-40B4-BE49-F238E27FC236}">
                  <a16:creationId xmlns:a16="http://schemas.microsoft.com/office/drawing/2014/main" id="{AEE9A664-C39E-450E-9F9C-184078BF7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36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3265" name="AutoShape 18">
              <a:extLst>
                <a:ext uri="{FF2B5EF4-FFF2-40B4-BE49-F238E27FC236}">
                  <a16:creationId xmlns:a16="http://schemas.microsoft.com/office/drawing/2014/main" id="{805C88D0-FAA7-4242-A326-1ACC61C7C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400"/>
              <a:ext cx="96" cy="240"/>
            </a:xfrm>
            <a:prstGeom prst="upArrow">
              <a:avLst>
                <a:gd name="adj1" fmla="val 50000"/>
                <a:gd name="adj2" fmla="val 62500"/>
              </a:avLst>
            </a:prstGeom>
            <a:solidFill>
              <a:schemeClr val="bg1">
                <a:lumMod val="50000"/>
              </a:schemeClr>
            </a:solidFill>
            <a:ln w="9525">
              <a:solidFill>
                <a:srgbClr val="7F7F7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55313" name="Rectangle 19">
              <a:extLst>
                <a:ext uri="{FF2B5EF4-FFF2-40B4-BE49-F238E27FC236}">
                  <a16:creationId xmlns:a16="http://schemas.microsoft.com/office/drawing/2014/main" id="{321439F4-95DD-4A12-9DCC-AF4C4E0EC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744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5314" name="Rectangle 20">
              <a:extLst>
                <a:ext uri="{FF2B5EF4-FFF2-40B4-BE49-F238E27FC236}">
                  <a16:creationId xmlns:a16="http://schemas.microsoft.com/office/drawing/2014/main" id="{9CA566A1-96FE-4671-B6CE-1E2565264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600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5315" name="Rectangle 21">
              <a:extLst>
                <a:ext uri="{FF2B5EF4-FFF2-40B4-BE49-F238E27FC236}">
                  <a16:creationId xmlns:a16="http://schemas.microsoft.com/office/drawing/2014/main" id="{D86F1DEA-0702-4022-831B-D1518401B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456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5316" name="Rectangle 22">
              <a:extLst>
                <a:ext uri="{FF2B5EF4-FFF2-40B4-BE49-F238E27FC236}">
                  <a16:creationId xmlns:a16="http://schemas.microsoft.com/office/drawing/2014/main" id="{4C30F044-414C-4874-9537-5A378E0F2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312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5317" name="Rectangle 23">
              <a:extLst>
                <a:ext uri="{FF2B5EF4-FFF2-40B4-BE49-F238E27FC236}">
                  <a16:creationId xmlns:a16="http://schemas.microsoft.com/office/drawing/2014/main" id="{0BC53134-9668-4ED3-A188-79B694803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168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5318" name="Rectangle 24">
              <a:extLst>
                <a:ext uri="{FF2B5EF4-FFF2-40B4-BE49-F238E27FC236}">
                  <a16:creationId xmlns:a16="http://schemas.microsoft.com/office/drawing/2014/main" id="{A64197F2-79AD-4285-A259-66BEB98FD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024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5319" name="Rectangle 25">
              <a:extLst>
                <a:ext uri="{FF2B5EF4-FFF2-40B4-BE49-F238E27FC236}">
                  <a16:creationId xmlns:a16="http://schemas.microsoft.com/office/drawing/2014/main" id="{AA0F8906-E3EC-4CC3-9ADD-14603FCC7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80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5320" name="Rectangle 26">
              <a:extLst>
                <a:ext uri="{FF2B5EF4-FFF2-40B4-BE49-F238E27FC236}">
                  <a16:creationId xmlns:a16="http://schemas.microsoft.com/office/drawing/2014/main" id="{36CF70C9-AB27-4476-B9A2-8C4FE0394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736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5321" name="Rectangle 27">
              <a:extLst>
                <a:ext uri="{FF2B5EF4-FFF2-40B4-BE49-F238E27FC236}">
                  <a16:creationId xmlns:a16="http://schemas.microsoft.com/office/drawing/2014/main" id="{41E158AC-D3D5-49D2-85C9-08A506945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592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5322" name="Rectangle 28">
              <a:extLst>
                <a:ext uri="{FF2B5EF4-FFF2-40B4-BE49-F238E27FC236}">
                  <a16:creationId xmlns:a16="http://schemas.microsoft.com/office/drawing/2014/main" id="{61B0FDE0-F8CF-47CC-8C49-C9E919EB6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448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5323" name="Rectangle 29">
              <a:extLst>
                <a:ext uri="{FF2B5EF4-FFF2-40B4-BE49-F238E27FC236}">
                  <a16:creationId xmlns:a16="http://schemas.microsoft.com/office/drawing/2014/main" id="{1A253025-D8B1-4FA7-862C-2FA62786B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5324" name="Rectangle 30">
              <a:extLst>
                <a:ext uri="{FF2B5EF4-FFF2-40B4-BE49-F238E27FC236}">
                  <a16:creationId xmlns:a16="http://schemas.microsoft.com/office/drawing/2014/main" id="{78F2D74A-ED6F-4CB2-8451-413496EA9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160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5325" name="Rectangle 31">
              <a:extLst>
                <a:ext uri="{FF2B5EF4-FFF2-40B4-BE49-F238E27FC236}">
                  <a16:creationId xmlns:a16="http://schemas.microsoft.com/office/drawing/2014/main" id="{3D4430B2-B064-484A-BF65-CF9F122A5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016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5326" name="Rectangle 32">
              <a:extLst>
                <a:ext uri="{FF2B5EF4-FFF2-40B4-BE49-F238E27FC236}">
                  <a16:creationId xmlns:a16="http://schemas.microsoft.com/office/drawing/2014/main" id="{84C89EC3-2136-4734-9B60-5023A460F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872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5327" name="Line 33">
              <a:extLst>
                <a:ext uri="{FF2B5EF4-FFF2-40B4-BE49-F238E27FC236}">
                  <a16:creationId xmlns:a16="http://schemas.microsoft.com/office/drawing/2014/main" id="{A8AA946E-2A37-49CC-ADAC-0EC68F1F14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2640"/>
              <a:ext cx="100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cxnSp>
          <p:nvCxnSpPr>
            <p:cNvPr id="55328" name="AutoShape 34">
              <a:extLst>
                <a:ext uri="{FF2B5EF4-FFF2-40B4-BE49-F238E27FC236}">
                  <a16:creationId xmlns:a16="http://schemas.microsoft.com/office/drawing/2014/main" id="{0B039ECE-EF87-4C03-BC9D-C05746BC3B03}"/>
                </a:ext>
              </a:extLst>
            </p:cNvPr>
            <p:cNvCxnSpPr>
              <a:cxnSpLocks noChangeShapeType="1"/>
              <a:stCxn id="55321" idx="3"/>
              <a:endCxn id="55307" idx="1"/>
            </p:cNvCxnSpPr>
            <p:nvPr/>
          </p:nvCxnSpPr>
          <p:spPr bwMode="auto">
            <a:xfrm>
              <a:off x="3360" y="2664"/>
              <a:ext cx="384" cy="936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5329" name="Text Box 35">
              <a:extLst>
                <a:ext uri="{FF2B5EF4-FFF2-40B4-BE49-F238E27FC236}">
                  <a16:creationId xmlns:a16="http://schemas.microsoft.com/office/drawing/2014/main" id="{313D0F29-5216-428B-A4F7-382CBBFAC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504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/>
                <a:t>NextSlot</a:t>
              </a:r>
            </a:p>
          </p:txBody>
        </p:sp>
        <p:cxnSp>
          <p:nvCxnSpPr>
            <p:cNvPr id="55330" name="AutoShape 36">
              <a:extLst>
                <a:ext uri="{FF2B5EF4-FFF2-40B4-BE49-F238E27FC236}">
                  <a16:creationId xmlns:a16="http://schemas.microsoft.com/office/drawing/2014/main" id="{8245182B-A6C4-4704-9358-70C167124AF4}"/>
                </a:ext>
              </a:extLst>
            </p:cNvPr>
            <p:cNvCxnSpPr>
              <a:cxnSpLocks noChangeShapeType="1"/>
              <a:stCxn id="55329" idx="2"/>
              <a:endCxn id="55309" idx="3"/>
            </p:cNvCxnSpPr>
            <p:nvPr/>
          </p:nvCxnSpPr>
          <p:spPr bwMode="auto">
            <a:xfrm rot="5400000" flipH="1" flipV="1">
              <a:off x="3468" y="1788"/>
              <a:ext cx="480" cy="3336"/>
            </a:xfrm>
            <a:prstGeom prst="bentConnector4">
              <a:avLst>
                <a:gd name="adj1" fmla="val -60625"/>
                <a:gd name="adj2" fmla="val 104315"/>
              </a:avLst>
            </a:prstGeom>
            <a:noFill/>
            <a:ln w="12700" algn="ctr">
              <a:solidFill>
                <a:srgbClr val="FF0065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31" name="AutoShape 37">
              <a:extLst>
                <a:ext uri="{FF2B5EF4-FFF2-40B4-BE49-F238E27FC236}">
                  <a16:creationId xmlns:a16="http://schemas.microsoft.com/office/drawing/2014/main" id="{17B50A4D-78EE-408E-B15E-4FD19CDE2E8F}"/>
                </a:ext>
              </a:extLst>
            </p:cNvPr>
            <p:cNvCxnSpPr>
              <a:cxnSpLocks noChangeShapeType="1"/>
              <a:stCxn id="55318" idx="3"/>
              <a:endCxn id="55308" idx="1"/>
            </p:cNvCxnSpPr>
            <p:nvPr/>
          </p:nvCxnSpPr>
          <p:spPr bwMode="auto">
            <a:xfrm>
              <a:off x="3360" y="3096"/>
              <a:ext cx="384" cy="312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6666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32" name="AutoShape 38">
              <a:extLst>
                <a:ext uri="{FF2B5EF4-FFF2-40B4-BE49-F238E27FC236}">
                  <a16:creationId xmlns:a16="http://schemas.microsoft.com/office/drawing/2014/main" id="{C8A571EF-3C17-4E8B-87E9-B48675AE7E5B}"/>
                </a:ext>
              </a:extLst>
            </p:cNvPr>
            <p:cNvCxnSpPr>
              <a:cxnSpLocks noChangeShapeType="1"/>
              <a:stCxn id="55325" idx="3"/>
              <a:endCxn id="55306" idx="1"/>
            </p:cNvCxnSpPr>
            <p:nvPr/>
          </p:nvCxnSpPr>
          <p:spPr bwMode="auto">
            <a:xfrm>
              <a:off x="3360" y="2088"/>
              <a:ext cx="384" cy="1704"/>
            </a:xfrm>
            <a:prstGeom prst="curvedConnector3">
              <a:avLst>
                <a:gd name="adj1" fmla="val 20833"/>
              </a:avLst>
            </a:prstGeom>
            <a:noFill/>
            <a:ln w="9525">
              <a:solidFill>
                <a:srgbClr val="003C75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5333" name="Text Box 39">
              <a:extLst>
                <a:ext uri="{FF2B5EF4-FFF2-40B4-BE49-F238E27FC236}">
                  <a16:creationId xmlns:a16="http://schemas.microsoft.com/office/drawing/2014/main" id="{C3189D0F-FCD3-4342-8C55-ACEAEA448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352"/>
              <a:ext cx="72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</a:rPr>
                <a:t>Stack-like growth</a:t>
              </a:r>
            </a:p>
          </p:txBody>
        </p:sp>
        <p:sp>
          <p:nvSpPr>
            <p:cNvPr id="55334" name="Text Box 40">
              <a:extLst>
                <a:ext uri="{FF2B5EF4-FFF2-40B4-BE49-F238E27FC236}">
                  <a16:creationId xmlns:a16="http://schemas.microsoft.com/office/drawing/2014/main" id="{002B0AAF-126D-4A66-AC2F-D6132B0B1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969"/>
              <a:ext cx="8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</a:rPr>
                <a:t>Sparse index</a:t>
              </a:r>
            </a:p>
          </p:txBody>
        </p:sp>
        <p:sp>
          <p:nvSpPr>
            <p:cNvPr id="55335" name="Text Box 41">
              <a:extLst>
                <a:ext uri="{FF2B5EF4-FFF2-40B4-BE49-F238E27FC236}">
                  <a16:creationId xmlns:a16="http://schemas.microsoft.com/office/drawing/2014/main" id="{CDA09E68-4785-4388-93EB-996362044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969"/>
              <a:ext cx="8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</a:rPr>
                <a:t>Dense table</a:t>
              </a:r>
            </a:p>
          </p:txBody>
        </p:sp>
      </p:grpSp>
      <p:sp>
        <p:nvSpPr>
          <p:cNvPr id="44076" name="Text Box 44">
            <a:extLst>
              <a:ext uri="{FF2B5EF4-FFF2-40B4-BE49-F238E27FC236}">
                <a16:creationId xmlns:a16="http://schemas.microsoft.com/office/drawing/2014/main" id="{48B288EA-F0A6-421F-9428-A9B6E0596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644650"/>
            <a:ext cx="2133600" cy="58102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See §B.3 in </a:t>
            </a:r>
            <a:r>
              <a:rPr lang="en-US" sz="1600" dirty="0" err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EaC</a:t>
            </a:r>
            <a:r>
              <a:rPr lang="en-US" sz="16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for a longer explanation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Footer Placeholder 3">
            <a:extLst>
              <a:ext uri="{FF2B5EF4-FFF2-40B4-BE49-F238E27FC236}">
                <a16:creationId xmlns:a16="http://schemas.microsoft.com/office/drawing/2014/main" id="{D93BDF77-FA94-4B73-9AF6-B16C2D36FB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7346" name="Slide Number Placeholder 4">
            <a:extLst>
              <a:ext uri="{FF2B5EF4-FFF2-40B4-BE49-F238E27FC236}">
                <a16:creationId xmlns:a16="http://schemas.microsoft.com/office/drawing/2014/main" id="{812F16AD-7B47-4B12-BE89-3D76A1C915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FBCC9CC-0968-4AEF-B168-F862F2F09039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C4CBAB35-72AA-482D-8796-8D6DC40AC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Hash-less Symbol Tables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9506E949-FA6D-49FD-889A-A589DE8913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Classic approach to building a symbol table uses hashing</a:t>
            </a:r>
          </a:p>
          <a:p>
            <a:pPr eaLnBrk="1" hangingPunct="1"/>
            <a:r>
              <a:rPr lang="en-US" altLang="it-IT"/>
              <a:t>Some concern about worst-case behavior</a:t>
            </a:r>
          </a:p>
          <a:p>
            <a:pPr lvl="1" eaLnBrk="1" hangingPunct="1"/>
            <a:r>
              <a:rPr lang="en-US" altLang="it-IT"/>
              <a:t>Collisions in the hash function can lead to linear search</a:t>
            </a:r>
          </a:p>
          <a:p>
            <a:pPr lvl="1" eaLnBrk="1" hangingPunct="1"/>
            <a:r>
              <a:rPr lang="en-US" altLang="it-IT"/>
              <a:t>Some authors advocate “perfect” hash for keyword lookup</a:t>
            </a:r>
          </a:p>
          <a:p>
            <a:pPr eaLnBrk="1" hangingPunct="1"/>
            <a:r>
              <a:rPr lang="en-US" altLang="it-IT"/>
              <a:t>Automata theory lets us avoid worst-case behavior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8DBDCC3-D3E8-4A1A-BF95-67ED04075A9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657600"/>
            <a:ext cx="4648200" cy="1069975"/>
            <a:chOff x="240" y="2304"/>
            <a:chExt cx="2928" cy="674"/>
          </a:xfrm>
        </p:grpSpPr>
        <p:sp>
          <p:nvSpPr>
            <p:cNvPr id="57383" name="Text Box 5">
              <a:extLst>
                <a:ext uri="{FF2B5EF4-FFF2-40B4-BE49-F238E27FC236}">
                  <a16:creationId xmlns:a16="http://schemas.microsoft.com/office/drawing/2014/main" id="{A87A5254-4E09-483A-A758-E7C5CADDF4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54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i="1">
                  <a:solidFill>
                    <a:srgbClr val="FF0065"/>
                  </a:solidFill>
                </a:rPr>
                <a:t>h(“foe”)</a:t>
              </a:r>
            </a:p>
          </p:txBody>
        </p:sp>
        <p:sp>
          <p:nvSpPr>
            <p:cNvPr id="57384" name="Line 6">
              <a:extLst>
                <a:ext uri="{FF2B5EF4-FFF2-40B4-BE49-F238E27FC236}">
                  <a16:creationId xmlns:a16="http://schemas.microsoft.com/office/drawing/2014/main" id="{4C78293C-A40B-4934-8E93-AD613AE9C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640"/>
              <a:ext cx="912" cy="0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7385" name="Text Box 7">
              <a:extLst>
                <a:ext uri="{FF2B5EF4-FFF2-40B4-BE49-F238E27FC236}">
                  <a16:creationId xmlns:a16="http://schemas.microsoft.com/office/drawing/2014/main" id="{A306A304-B1E0-4302-ADEC-E2B701ED3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304"/>
              <a:ext cx="1440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FF0065"/>
                  </a:solidFill>
                </a:rPr>
                <a:t>Collision occurs when h() returns a slot in the sparse index that is already full.</a:t>
              </a:r>
            </a:p>
          </p:txBody>
        </p:sp>
      </p:grpSp>
      <p:grpSp>
        <p:nvGrpSpPr>
          <p:cNvPr id="57350" name="Group 8">
            <a:extLst>
              <a:ext uri="{FF2B5EF4-FFF2-40B4-BE49-F238E27FC236}">
                <a16:creationId xmlns:a16="http://schemas.microsoft.com/office/drawing/2014/main" id="{8EAF9747-F39F-4072-BA4D-7BA19DA01137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2971800"/>
            <a:ext cx="5943600" cy="3633788"/>
            <a:chOff x="1632" y="1872"/>
            <a:chExt cx="3744" cy="2289"/>
          </a:xfrm>
        </p:grpSpPr>
        <p:sp>
          <p:nvSpPr>
            <p:cNvPr id="57351" name="Text Box 9">
              <a:extLst>
                <a:ext uri="{FF2B5EF4-FFF2-40B4-BE49-F238E27FC236}">
                  <a16:creationId xmlns:a16="http://schemas.microsoft.com/office/drawing/2014/main" id="{8873DC61-DF0D-4EBD-B351-28C81104B4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07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i="1"/>
                <a:t>h(“fee”)</a:t>
              </a:r>
            </a:p>
          </p:txBody>
        </p:sp>
        <p:sp>
          <p:nvSpPr>
            <p:cNvPr id="57352" name="Text Box 10">
              <a:extLst>
                <a:ext uri="{FF2B5EF4-FFF2-40B4-BE49-F238E27FC236}">
                  <a16:creationId xmlns:a16="http://schemas.microsoft.com/office/drawing/2014/main" id="{938D6055-2B59-4C25-A8BD-5DE70F2C4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872"/>
              <a:ext cx="124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>
                  <a:solidFill>
                    <a:srgbClr val="003C75"/>
                  </a:solidFill>
                </a:rPr>
                <a:t>My favorite hash table organization</a:t>
              </a:r>
            </a:p>
          </p:txBody>
        </p:sp>
        <p:sp>
          <p:nvSpPr>
            <p:cNvPr id="57353" name="Rectangle 11">
              <a:extLst>
                <a:ext uri="{FF2B5EF4-FFF2-40B4-BE49-F238E27FC236}">
                  <a16:creationId xmlns:a16="http://schemas.microsoft.com/office/drawing/2014/main" id="{2A9EED4E-C42B-4F33-B7E7-DB82DAF58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696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fie  | char *  </a:t>
              </a:r>
              <a:r>
                <a:rPr lang="en-US" altLang="it-IT" sz="900"/>
                <a:t> </a:t>
              </a:r>
              <a:r>
                <a:rPr lang="en-US" altLang="it-IT" sz="1400"/>
                <a:t>| array </a:t>
              </a:r>
              <a:r>
                <a:rPr lang="en-US" altLang="it-IT" sz="1200"/>
                <a:t> </a:t>
              </a:r>
              <a:r>
                <a:rPr lang="en-US" altLang="it-IT" sz="1400"/>
                <a:t>| …</a:t>
              </a:r>
            </a:p>
          </p:txBody>
        </p:sp>
        <p:sp>
          <p:nvSpPr>
            <p:cNvPr id="57354" name="Rectangle 12">
              <a:extLst>
                <a:ext uri="{FF2B5EF4-FFF2-40B4-BE49-F238E27FC236}">
                  <a16:creationId xmlns:a16="http://schemas.microsoft.com/office/drawing/2014/main" id="{09E0E141-8664-4810-8137-64B837A8F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504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fee | integer | scalar | …</a:t>
              </a:r>
            </a:p>
          </p:txBody>
        </p:sp>
        <p:sp>
          <p:nvSpPr>
            <p:cNvPr id="57355" name="Rectangle 13">
              <a:extLst>
                <a:ext uri="{FF2B5EF4-FFF2-40B4-BE49-F238E27FC236}">
                  <a16:creationId xmlns:a16="http://schemas.microsoft.com/office/drawing/2014/main" id="{BEF7CEFF-B944-4385-8986-A22C46E7B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312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fum | float    | scalar | …</a:t>
              </a:r>
              <a:endParaRPr lang="en-US" altLang="it-IT"/>
            </a:p>
          </p:txBody>
        </p:sp>
        <p:sp>
          <p:nvSpPr>
            <p:cNvPr id="57356" name="Rectangle 14">
              <a:extLst>
                <a:ext uri="{FF2B5EF4-FFF2-40B4-BE49-F238E27FC236}">
                  <a16:creationId xmlns:a16="http://schemas.microsoft.com/office/drawing/2014/main" id="{4FC31801-8E91-4170-8D22-217D85224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120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7357" name="Rectangle 15">
              <a:extLst>
                <a:ext uri="{FF2B5EF4-FFF2-40B4-BE49-F238E27FC236}">
                  <a16:creationId xmlns:a16="http://schemas.microsoft.com/office/drawing/2014/main" id="{B352D7CB-0912-431D-BD84-9B5F33817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928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7358" name="Rectangle 16">
              <a:extLst>
                <a:ext uri="{FF2B5EF4-FFF2-40B4-BE49-F238E27FC236}">
                  <a16:creationId xmlns:a16="http://schemas.microsoft.com/office/drawing/2014/main" id="{9EBDB1E9-B8DB-40EA-BFFF-9429C01CF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36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5312" name="AutoShape 17">
              <a:extLst>
                <a:ext uri="{FF2B5EF4-FFF2-40B4-BE49-F238E27FC236}">
                  <a16:creationId xmlns:a16="http://schemas.microsoft.com/office/drawing/2014/main" id="{33BC4884-5C52-4490-B26E-867BF585B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400"/>
              <a:ext cx="96" cy="240"/>
            </a:xfrm>
            <a:prstGeom prst="upArrow">
              <a:avLst>
                <a:gd name="adj1" fmla="val 50000"/>
                <a:gd name="adj2" fmla="val 62500"/>
              </a:avLst>
            </a:prstGeom>
            <a:solidFill>
              <a:schemeClr val="bg1">
                <a:lumMod val="50000"/>
              </a:schemeClr>
            </a:solidFill>
            <a:ln w="9525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57360" name="Rectangle 18">
              <a:extLst>
                <a:ext uri="{FF2B5EF4-FFF2-40B4-BE49-F238E27FC236}">
                  <a16:creationId xmlns:a16="http://schemas.microsoft.com/office/drawing/2014/main" id="{353C14D2-1E1C-4525-9BD9-70031831F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744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7361" name="Rectangle 19">
              <a:extLst>
                <a:ext uri="{FF2B5EF4-FFF2-40B4-BE49-F238E27FC236}">
                  <a16:creationId xmlns:a16="http://schemas.microsoft.com/office/drawing/2014/main" id="{6707CA0C-BE14-4D57-8805-27100A661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600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7362" name="Rectangle 20">
              <a:extLst>
                <a:ext uri="{FF2B5EF4-FFF2-40B4-BE49-F238E27FC236}">
                  <a16:creationId xmlns:a16="http://schemas.microsoft.com/office/drawing/2014/main" id="{A9164742-0A55-49C4-B8FC-29E75D808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456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7363" name="Rectangle 21">
              <a:extLst>
                <a:ext uri="{FF2B5EF4-FFF2-40B4-BE49-F238E27FC236}">
                  <a16:creationId xmlns:a16="http://schemas.microsoft.com/office/drawing/2014/main" id="{CA2BFEE5-53FA-4965-A73C-5DE7490CB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312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7364" name="Rectangle 22">
              <a:extLst>
                <a:ext uri="{FF2B5EF4-FFF2-40B4-BE49-F238E27FC236}">
                  <a16:creationId xmlns:a16="http://schemas.microsoft.com/office/drawing/2014/main" id="{6772603B-1C4F-42CF-9890-43FD20340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168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7365" name="Rectangle 23">
              <a:extLst>
                <a:ext uri="{FF2B5EF4-FFF2-40B4-BE49-F238E27FC236}">
                  <a16:creationId xmlns:a16="http://schemas.microsoft.com/office/drawing/2014/main" id="{3BF4D4E8-B9AA-47C3-90C5-50CA15AD3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024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7366" name="Rectangle 24">
              <a:extLst>
                <a:ext uri="{FF2B5EF4-FFF2-40B4-BE49-F238E27FC236}">
                  <a16:creationId xmlns:a16="http://schemas.microsoft.com/office/drawing/2014/main" id="{158ED323-BF3A-4046-B7B2-2F4B150AD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80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7367" name="Rectangle 25">
              <a:extLst>
                <a:ext uri="{FF2B5EF4-FFF2-40B4-BE49-F238E27FC236}">
                  <a16:creationId xmlns:a16="http://schemas.microsoft.com/office/drawing/2014/main" id="{255E3BC8-946D-4E2F-9FE4-CAA5E5AAF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736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7368" name="Rectangle 26">
              <a:extLst>
                <a:ext uri="{FF2B5EF4-FFF2-40B4-BE49-F238E27FC236}">
                  <a16:creationId xmlns:a16="http://schemas.microsoft.com/office/drawing/2014/main" id="{7B6BFBAD-41B1-4816-B2CD-BFFC8B28C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592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7369" name="Rectangle 27">
              <a:extLst>
                <a:ext uri="{FF2B5EF4-FFF2-40B4-BE49-F238E27FC236}">
                  <a16:creationId xmlns:a16="http://schemas.microsoft.com/office/drawing/2014/main" id="{E1FA70D2-5335-45AC-B867-1D52C6EC1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448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7370" name="Rectangle 28">
              <a:extLst>
                <a:ext uri="{FF2B5EF4-FFF2-40B4-BE49-F238E27FC236}">
                  <a16:creationId xmlns:a16="http://schemas.microsoft.com/office/drawing/2014/main" id="{7F7150BA-7816-46A3-8889-E20226211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04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7371" name="Rectangle 29">
              <a:extLst>
                <a:ext uri="{FF2B5EF4-FFF2-40B4-BE49-F238E27FC236}">
                  <a16:creationId xmlns:a16="http://schemas.microsoft.com/office/drawing/2014/main" id="{683150DC-A88F-4DF8-87C6-A137CBC2A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160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7372" name="Rectangle 30">
              <a:extLst>
                <a:ext uri="{FF2B5EF4-FFF2-40B4-BE49-F238E27FC236}">
                  <a16:creationId xmlns:a16="http://schemas.microsoft.com/office/drawing/2014/main" id="{2FC034A1-C9EC-4B4A-963F-C9A88E30F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016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7373" name="Rectangle 31">
              <a:extLst>
                <a:ext uri="{FF2B5EF4-FFF2-40B4-BE49-F238E27FC236}">
                  <a16:creationId xmlns:a16="http://schemas.microsoft.com/office/drawing/2014/main" id="{C4948ED7-B8D2-40B8-8368-6D41C384F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872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57374" name="Line 32">
              <a:extLst>
                <a:ext uri="{FF2B5EF4-FFF2-40B4-BE49-F238E27FC236}">
                  <a16:creationId xmlns:a16="http://schemas.microsoft.com/office/drawing/2014/main" id="{C689EB65-7F78-496B-8E7C-B7575A6412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2640"/>
              <a:ext cx="100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cxnSp>
          <p:nvCxnSpPr>
            <p:cNvPr id="57375" name="AutoShape 33">
              <a:extLst>
                <a:ext uri="{FF2B5EF4-FFF2-40B4-BE49-F238E27FC236}">
                  <a16:creationId xmlns:a16="http://schemas.microsoft.com/office/drawing/2014/main" id="{E1411EC4-64A4-4C3B-9C42-C88BD4801877}"/>
                </a:ext>
              </a:extLst>
            </p:cNvPr>
            <p:cNvCxnSpPr>
              <a:cxnSpLocks noChangeShapeType="1"/>
              <a:stCxn id="57368" idx="3"/>
              <a:endCxn id="57354" idx="1"/>
            </p:cNvCxnSpPr>
            <p:nvPr/>
          </p:nvCxnSpPr>
          <p:spPr bwMode="auto">
            <a:xfrm>
              <a:off x="3360" y="2664"/>
              <a:ext cx="384" cy="936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76" name="Text Box 34">
              <a:extLst>
                <a:ext uri="{FF2B5EF4-FFF2-40B4-BE49-F238E27FC236}">
                  <a16:creationId xmlns:a16="http://schemas.microsoft.com/office/drawing/2014/main" id="{2CF1170A-5D6B-48B2-AFE0-7FE747F3B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504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/>
                <a:t>NextSlot</a:t>
              </a:r>
            </a:p>
          </p:txBody>
        </p:sp>
        <p:cxnSp>
          <p:nvCxnSpPr>
            <p:cNvPr id="57377" name="AutoShape 35">
              <a:extLst>
                <a:ext uri="{FF2B5EF4-FFF2-40B4-BE49-F238E27FC236}">
                  <a16:creationId xmlns:a16="http://schemas.microsoft.com/office/drawing/2014/main" id="{1B73F504-0C7D-41F7-AFEF-570D760C1EFA}"/>
                </a:ext>
              </a:extLst>
            </p:cNvPr>
            <p:cNvCxnSpPr>
              <a:cxnSpLocks noChangeShapeType="1"/>
              <a:stCxn id="57376" idx="2"/>
              <a:endCxn id="57356" idx="3"/>
            </p:cNvCxnSpPr>
            <p:nvPr/>
          </p:nvCxnSpPr>
          <p:spPr bwMode="auto">
            <a:xfrm rot="5400000" flipH="1" flipV="1">
              <a:off x="3468" y="1788"/>
              <a:ext cx="480" cy="3336"/>
            </a:xfrm>
            <a:prstGeom prst="bentConnector4">
              <a:avLst>
                <a:gd name="adj1" fmla="val -60625"/>
                <a:gd name="adj2" fmla="val 104315"/>
              </a:avLst>
            </a:prstGeom>
            <a:noFill/>
            <a:ln w="9525">
              <a:solidFill>
                <a:srgbClr val="FF0065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78" name="AutoShape 36">
              <a:extLst>
                <a:ext uri="{FF2B5EF4-FFF2-40B4-BE49-F238E27FC236}">
                  <a16:creationId xmlns:a16="http://schemas.microsoft.com/office/drawing/2014/main" id="{39859A6A-49F0-4B8F-90DD-E8F0C751B76F}"/>
                </a:ext>
              </a:extLst>
            </p:cNvPr>
            <p:cNvCxnSpPr>
              <a:cxnSpLocks noChangeShapeType="1"/>
              <a:stCxn id="57365" idx="3"/>
              <a:endCxn id="57355" idx="1"/>
            </p:cNvCxnSpPr>
            <p:nvPr/>
          </p:nvCxnSpPr>
          <p:spPr bwMode="auto">
            <a:xfrm>
              <a:off x="3360" y="3096"/>
              <a:ext cx="384" cy="312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6666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79" name="AutoShape 37">
              <a:extLst>
                <a:ext uri="{FF2B5EF4-FFF2-40B4-BE49-F238E27FC236}">
                  <a16:creationId xmlns:a16="http://schemas.microsoft.com/office/drawing/2014/main" id="{5CD33669-9F84-452E-BDA4-26BD393C30BD}"/>
                </a:ext>
              </a:extLst>
            </p:cNvPr>
            <p:cNvCxnSpPr>
              <a:cxnSpLocks noChangeShapeType="1"/>
              <a:stCxn id="57372" idx="3"/>
              <a:endCxn id="57353" idx="1"/>
            </p:cNvCxnSpPr>
            <p:nvPr/>
          </p:nvCxnSpPr>
          <p:spPr bwMode="auto">
            <a:xfrm>
              <a:off x="3360" y="2088"/>
              <a:ext cx="384" cy="1704"/>
            </a:xfrm>
            <a:prstGeom prst="curvedConnector3">
              <a:avLst>
                <a:gd name="adj1" fmla="val 20833"/>
              </a:avLst>
            </a:prstGeom>
            <a:noFill/>
            <a:ln w="9525">
              <a:solidFill>
                <a:srgbClr val="6666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80" name="Text Box 38">
              <a:extLst>
                <a:ext uri="{FF2B5EF4-FFF2-40B4-BE49-F238E27FC236}">
                  <a16:creationId xmlns:a16="http://schemas.microsoft.com/office/drawing/2014/main" id="{C890CAAF-93D9-4050-9533-F8E278158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352"/>
              <a:ext cx="72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</a:rPr>
                <a:t>Stack-like growth</a:t>
              </a:r>
            </a:p>
          </p:txBody>
        </p:sp>
        <p:sp>
          <p:nvSpPr>
            <p:cNvPr id="57381" name="Text Box 39">
              <a:extLst>
                <a:ext uri="{FF2B5EF4-FFF2-40B4-BE49-F238E27FC236}">
                  <a16:creationId xmlns:a16="http://schemas.microsoft.com/office/drawing/2014/main" id="{EFD8FD5E-7A4B-4FCA-AD96-4214B6601F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969"/>
              <a:ext cx="8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</a:rPr>
                <a:t>Sparse index</a:t>
              </a:r>
            </a:p>
          </p:txBody>
        </p:sp>
        <p:sp>
          <p:nvSpPr>
            <p:cNvPr id="57382" name="Text Box 40">
              <a:extLst>
                <a:ext uri="{FF2B5EF4-FFF2-40B4-BE49-F238E27FC236}">
                  <a16:creationId xmlns:a16="http://schemas.microsoft.com/office/drawing/2014/main" id="{8EC93050-9AA3-4B6E-9FBC-769864F61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969"/>
              <a:ext cx="8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</a:rPr>
                <a:t>Dense table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Footer Placeholder 3">
            <a:extLst>
              <a:ext uri="{FF2B5EF4-FFF2-40B4-BE49-F238E27FC236}">
                <a16:creationId xmlns:a16="http://schemas.microsoft.com/office/drawing/2014/main" id="{63896C64-7170-425B-8BBB-AFA3A1E931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9394" name="Slide Number Placeholder 4">
            <a:extLst>
              <a:ext uri="{FF2B5EF4-FFF2-40B4-BE49-F238E27FC236}">
                <a16:creationId xmlns:a16="http://schemas.microsoft.com/office/drawing/2014/main" id="{CD3FDA18-7AF8-4C1B-9A10-02CDE95E27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1DB5EB9-3A28-4E5C-A51D-B45783BC4EA4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83AE0EE2-D3B1-4F71-A5C2-CB46DD8E6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Hash-less Symbol Tables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5CF8DC5-F4F1-49CB-8775-44BA268CF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4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One alternative is Paige &amp; Cai’s </a:t>
            </a:r>
            <a:r>
              <a:rPr lang="en-US" altLang="it-IT" i="1">
                <a:solidFill>
                  <a:srgbClr val="FF0065"/>
                </a:solidFill>
              </a:rPr>
              <a:t>multiset discrimination</a:t>
            </a:r>
            <a:endParaRPr lang="en-US" altLang="it-IT">
              <a:solidFill>
                <a:srgbClr val="FF0065"/>
              </a:solidFill>
            </a:endParaRPr>
          </a:p>
          <a:p>
            <a:pPr eaLnBrk="1" hangingPunct="1"/>
            <a:r>
              <a:rPr lang="en-US" altLang="it-IT"/>
              <a:t>Order the name space offline</a:t>
            </a:r>
          </a:p>
          <a:p>
            <a:pPr eaLnBrk="1" hangingPunct="1"/>
            <a:r>
              <a:rPr lang="en-US" altLang="it-IT"/>
              <a:t>Assign indices to each name</a:t>
            </a:r>
          </a:p>
          <a:p>
            <a:pPr eaLnBrk="1" hangingPunct="1"/>
            <a:r>
              <a:rPr lang="en-US" altLang="it-IT"/>
              <a:t>Replace the names in the input with their encoded indices</a:t>
            </a: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70000"/>
              </a:spcBef>
              <a:buFont typeface="Times" panose="02020603050405020304" pitchFamily="18" charset="0"/>
              <a:buNone/>
            </a:pPr>
            <a:r>
              <a:rPr lang="en-US" altLang="it-IT"/>
              <a:t>Using DFA techniques, we can build a guaranteed linear-time replacement for the hash function </a:t>
            </a:r>
            <a:r>
              <a:rPr lang="en-US" altLang="it-IT" i="1"/>
              <a:t>h</a:t>
            </a:r>
          </a:p>
          <a:p>
            <a:pPr eaLnBrk="1" hangingPunct="1"/>
            <a:r>
              <a:rPr lang="en-US" altLang="it-IT"/>
              <a:t>DFA that results from a list of words is acyclic</a:t>
            </a:r>
          </a:p>
          <a:p>
            <a:pPr lvl="1" eaLnBrk="1" hangingPunct="1"/>
            <a:r>
              <a:rPr lang="en-US" altLang="it-IT"/>
              <a:t>RE looks like  </a:t>
            </a:r>
            <a:r>
              <a:rPr lang="en-US" altLang="it-IT" i="1"/>
              <a:t>r</a:t>
            </a:r>
            <a:r>
              <a:rPr lang="en-US" altLang="it-IT" i="1" baseline="-25000"/>
              <a:t>1</a:t>
            </a:r>
            <a:r>
              <a:rPr lang="en-US" altLang="it-IT" i="1"/>
              <a:t> </a:t>
            </a:r>
            <a:r>
              <a:rPr lang="en-US" altLang="it-IT"/>
              <a:t>| </a:t>
            </a:r>
            <a:r>
              <a:rPr lang="en-US" altLang="it-IT" i="1"/>
              <a:t>r</a:t>
            </a:r>
            <a:r>
              <a:rPr lang="en-US" altLang="it-IT" i="1" baseline="-25000"/>
              <a:t>2</a:t>
            </a:r>
            <a:r>
              <a:rPr lang="en-US" altLang="it-IT" i="1"/>
              <a:t> </a:t>
            </a:r>
            <a:r>
              <a:rPr lang="en-US" altLang="it-IT"/>
              <a:t>| </a:t>
            </a:r>
            <a:r>
              <a:rPr lang="en-US" altLang="it-IT" i="1"/>
              <a:t>r</a:t>
            </a:r>
            <a:r>
              <a:rPr lang="en-US" altLang="it-IT" i="1" baseline="-25000"/>
              <a:t>3</a:t>
            </a:r>
            <a:r>
              <a:rPr lang="en-US" altLang="it-IT" i="1"/>
              <a:t> </a:t>
            </a:r>
            <a:r>
              <a:rPr lang="en-US" altLang="it-IT"/>
              <a:t>| …</a:t>
            </a:r>
            <a:r>
              <a:rPr lang="en-US" altLang="it-IT" i="1"/>
              <a:t> </a:t>
            </a:r>
            <a:r>
              <a:rPr lang="en-US" altLang="it-IT"/>
              <a:t>| </a:t>
            </a:r>
            <a:r>
              <a:rPr lang="en-US" altLang="it-IT" i="1"/>
              <a:t>r</a:t>
            </a:r>
            <a:r>
              <a:rPr lang="en-US" altLang="it-IT" i="1" baseline="-25000"/>
              <a:t>k</a:t>
            </a:r>
            <a:r>
              <a:rPr lang="en-US" altLang="it-IT"/>
              <a:t> </a:t>
            </a:r>
          </a:p>
          <a:p>
            <a:pPr lvl="1" eaLnBrk="1" hangingPunct="1"/>
            <a:r>
              <a:rPr lang="en-US" altLang="it-IT"/>
              <a:t>Could process input twice, once to build DFA, once to use it</a:t>
            </a:r>
          </a:p>
          <a:p>
            <a:pPr eaLnBrk="1" hangingPunct="1"/>
            <a:r>
              <a:rPr lang="en-US" altLang="it-IT"/>
              <a:t>We can do even better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C5F61105-08A3-45B1-AA77-3578AA90A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743200"/>
            <a:ext cx="2743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>
                <a:solidFill>
                  <a:srgbClr val="003C75"/>
                </a:solidFill>
              </a:rPr>
              <a:t>Digression on page 241 of EaC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Footer Placeholder 3">
            <a:extLst>
              <a:ext uri="{FF2B5EF4-FFF2-40B4-BE49-F238E27FC236}">
                <a16:creationId xmlns:a16="http://schemas.microsoft.com/office/drawing/2014/main" id="{DE3CDE7B-16C5-4ACA-B391-EF375CA88A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1442" name="Slide Number Placeholder 4">
            <a:extLst>
              <a:ext uri="{FF2B5EF4-FFF2-40B4-BE49-F238E27FC236}">
                <a16:creationId xmlns:a16="http://schemas.microsoft.com/office/drawing/2014/main" id="{0DE4C642-99DD-4BBD-8324-D75F013CF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71AC04E-CDD0-44C1-A974-1A2BE808FFF5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532ADFE7-393F-4CAC-8C5E-E417AFB4DF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Hash-less Symbol Tables</a:t>
            </a:r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0FFCF6E7-ABEF-47EE-9783-7A80FCFAE0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  <a:defRPr/>
            </a:pPr>
            <a:r>
              <a:rPr lang="en-US" dirty="0"/>
              <a:t>Classic approach to building a symbol table uses hashing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Some concern about worst-case behavior</a:t>
            </a:r>
          </a:p>
          <a:p>
            <a:pPr lvl="1" eaLnBrk="1" hangingPunct="1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Collisions in the hash function can lead to linear search</a:t>
            </a:r>
          </a:p>
          <a:p>
            <a:pPr lvl="1" eaLnBrk="1" hangingPunct="1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Some authors advocate “perfect” hash for keyword lookup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Automata theory lets us avoid worst-case behavior</a:t>
            </a:r>
          </a:p>
        </p:txBody>
      </p:sp>
      <p:sp>
        <p:nvSpPr>
          <p:cNvPr id="61445" name="Text Box 18">
            <a:extLst>
              <a:ext uri="{FF2B5EF4-FFF2-40B4-BE49-F238E27FC236}">
                <a16:creationId xmlns:a16="http://schemas.microsoft.com/office/drawing/2014/main" id="{DF08A042-9A24-4628-A2A4-32FA170F2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352800"/>
            <a:ext cx="19812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</a:rPr>
              <a:t>Replace the hash function, </a:t>
            </a:r>
            <a:r>
              <a:rPr lang="en-US" altLang="it-IT" sz="1600" i="1">
                <a:solidFill>
                  <a:srgbClr val="FF0065"/>
                </a:solidFill>
              </a:rPr>
              <a:t>h</a:t>
            </a:r>
            <a:r>
              <a:rPr lang="en-US" altLang="it-IT" sz="1600">
                <a:solidFill>
                  <a:srgbClr val="FF0065"/>
                </a:solidFill>
              </a:rPr>
              <a:t>, and the sparse index with an efficient direct map, </a:t>
            </a:r>
            <a:r>
              <a:rPr lang="en-US" altLang="it-IT" sz="1600" i="1">
                <a:solidFill>
                  <a:srgbClr val="FF0065"/>
                </a:solidFill>
              </a:rPr>
              <a:t>d</a:t>
            </a:r>
            <a:r>
              <a:rPr lang="en-US" altLang="it-IT" sz="1600">
                <a:solidFill>
                  <a:srgbClr val="FF0065"/>
                </a:solidFill>
              </a:rPr>
              <a:t>, …</a:t>
            </a:r>
          </a:p>
        </p:txBody>
      </p:sp>
      <p:grpSp>
        <p:nvGrpSpPr>
          <p:cNvPr id="61446" name="Group 25">
            <a:extLst>
              <a:ext uri="{FF2B5EF4-FFF2-40B4-BE49-F238E27FC236}">
                <a16:creationId xmlns:a16="http://schemas.microsoft.com/office/drawing/2014/main" id="{B53AF5D0-F4D5-45A3-9F97-BCAC8ABACEB9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733800"/>
            <a:ext cx="5791200" cy="2871788"/>
            <a:chOff x="1728" y="2352"/>
            <a:chExt cx="3648" cy="1809"/>
          </a:xfrm>
        </p:grpSpPr>
        <p:sp>
          <p:nvSpPr>
            <p:cNvPr id="61447" name="Text Box 4">
              <a:extLst>
                <a:ext uri="{FF2B5EF4-FFF2-40B4-BE49-F238E27FC236}">
                  <a16:creationId xmlns:a16="http://schemas.microsoft.com/office/drawing/2014/main" id="{C515848F-8C9F-478A-BEB8-32714D6BA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120"/>
              <a:ext cx="672" cy="198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it-IT" sz="1400" i="1">
                  <a:solidFill>
                    <a:srgbClr val="003C75"/>
                  </a:solidFill>
                </a:rPr>
                <a:t>d(“foe”)</a:t>
              </a:r>
            </a:p>
          </p:txBody>
        </p:sp>
        <p:sp>
          <p:nvSpPr>
            <p:cNvPr id="61448" name="Text Box 5">
              <a:extLst>
                <a:ext uri="{FF2B5EF4-FFF2-40B4-BE49-F238E27FC236}">
                  <a16:creationId xmlns:a16="http://schemas.microsoft.com/office/drawing/2014/main" id="{3E925216-3E2A-48E7-8C59-5FAFE81C8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80"/>
              <a:ext cx="672" cy="198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it-IT" sz="1400" i="1">
                  <a:solidFill>
                    <a:srgbClr val="003C75"/>
                  </a:solidFill>
                </a:rPr>
                <a:t>d(“fum”)</a:t>
              </a:r>
            </a:p>
          </p:txBody>
        </p:sp>
        <p:sp>
          <p:nvSpPr>
            <p:cNvPr id="61449" name="Rectangle 6">
              <a:extLst>
                <a:ext uri="{FF2B5EF4-FFF2-40B4-BE49-F238E27FC236}">
                  <a16:creationId xmlns:a16="http://schemas.microsoft.com/office/drawing/2014/main" id="{99CDF05C-4FDE-41AB-BD35-4147E931D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696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fie  | char *  </a:t>
              </a:r>
              <a:r>
                <a:rPr lang="en-US" altLang="it-IT" sz="900"/>
                <a:t> </a:t>
              </a:r>
              <a:r>
                <a:rPr lang="en-US" altLang="it-IT" sz="1400"/>
                <a:t>| array </a:t>
              </a:r>
              <a:r>
                <a:rPr lang="en-US" altLang="it-IT" sz="1200"/>
                <a:t> </a:t>
              </a:r>
              <a:r>
                <a:rPr lang="en-US" altLang="it-IT" sz="1400"/>
                <a:t>| …</a:t>
              </a:r>
            </a:p>
          </p:txBody>
        </p:sp>
        <p:sp>
          <p:nvSpPr>
            <p:cNvPr id="61450" name="Rectangle 7">
              <a:extLst>
                <a:ext uri="{FF2B5EF4-FFF2-40B4-BE49-F238E27FC236}">
                  <a16:creationId xmlns:a16="http://schemas.microsoft.com/office/drawing/2014/main" id="{440BBFA7-B5D5-4FDD-A771-9137F0B4F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504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fee | integer | scalar | …</a:t>
              </a:r>
            </a:p>
          </p:txBody>
        </p:sp>
        <p:sp>
          <p:nvSpPr>
            <p:cNvPr id="61451" name="Rectangle 8">
              <a:extLst>
                <a:ext uri="{FF2B5EF4-FFF2-40B4-BE49-F238E27FC236}">
                  <a16:creationId xmlns:a16="http://schemas.microsoft.com/office/drawing/2014/main" id="{1DDD85A3-B6F4-4475-9623-9E6C5C348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312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fum | float    | scalar | …</a:t>
              </a:r>
              <a:endParaRPr lang="en-US" altLang="it-IT"/>
            </a:p>
          </p:txBody>
        </p:sp>
        <p:sp>
          <p:nvSpPr>
            <p:cNvPr id="61452" name="Rectangle 9">
              <a:extLst>
                <a:ext uri="{FF2B5EF4-FFF2-40B4-BE49-F238E27FC236}">
                  <a16:creationId xmlns:a16="http://schemas.microsoft.com/office/drawing/2014/main" id="{E0568EDB-4320-424D-A462-050AD2A7E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120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61453" name="Rectangle 10">
              <a:extLst>
                <a:ext uri="{FF2B5EF4-FFF2-40B4-BE49-F238E27FC236}">
                  <a16:creationId xmlns:a16="http://schemas.microsoft.com/office/drawing/2014/main" id="{DDDFFD14-B636-441E-87A5-01257DDE5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928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61454" name="Rectangle 11">
              <a:extLst>
                <a:ext uri="{FF2B5EF4-FFF2-40B4-BE49-F238E27FC236}">
                  <a16:creationId xmlns:a16="http://schemas.microsoft.com/office/drawing/2014/main" id="{A3695472-1BA7-4605-8964-EB8DA2828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36"/>
              <a:ext cx="163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61455" name="AutoShape 12">
              <a:extLst>
                <a:ext uri="{FF2B5EF4-FFF2-40B4-BE49-F238E27FC236}">
                  <a16:creationId xmlns:a16="http://schemas.microsoft.com/office/drawing/2014/main" id="{945722C2-401B-4552-874F-84364A7B4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400"/>
              <a:ext cx="96" cy="240"/>
            </a:xfrm>
            <a:prstGeom prst="upArrow">
              <a:avLst>
                <a:gd name="adj1" fmla="val 50000"/>
                <a:gd name="adj2" fmla="val 62500"/>
              </a:avLst>
            </a:prstGeom>
            <a:solidFill>
              <a:srgbClr val="B025A6"/>
            </a:solidFill>
            <a:ln w="9525">
              <a:solidFill>
                <a:srgbClr val="B025A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61456" name="Text Box 13">
              <a:extLst>
                <a:ext uri="{FF2B5EF4-FFF2-40B4-BE49-F238E27FC236}">
                  <a16:creationId xmlns:a16="http://schemas.microsoft.com/office/drawing/2014/main" id="{363E678F-9E4E-4AD7-B8FE-FFA686345E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504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/>
                <a:t>NextSlot</a:t>
              </a:r>
            </a:p>
          </p:txBody>
        </p:sp>
        <p:cxnSp>
          <p:nvCxnSpPr>
            <p:cNvPr id="61457" name="AutoShape 14">
              <a:extLst>
                <a:ext uri="{FF2B5EF4-FFF2-40B4-BE49-F238E27FC236}">
                  <a16:creationId xmlns:a16="http://schemas.microsoft.com/office/drawing/2014/main" id="{4D0FEFB0-A91D-4EAD-ADB0-BF06CD764EBD}"/>
                </a:ext>
              </a:extLst>
            </p:cNvPr>
            <p:cNvCxnSpPr>
              <a:cxnSpLocks noChangeShapeType="1"/>
              <a:stCxn id="61456" idx="2"/>
              <a:endCxn id="61452" idx="3"/>
            </p:cNvCxnSpPr>
            <p:nvPr/>
          </p:nvCxnSpPr>
          <p:spPr bwMode="auto">
            <a:xfrm rot="5400000" flipH="1" flipV="1">
              <a:off x="3468" y="1788"/>
              <a:ext cx="480" cy="3336"/>
            </a:xfrm>
            <a:prstGeom prst="bentConnector4">
              <a:avLst>
                <a:gd name="adj1" fmla="val -60625"/>
                <a:gd name="adj2" fmla="val 104315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458" name="Text Box 15">
              <a:extLst>
                <a:ext uri="{FF2B5EF4-FFF2-40B4-BE49-F238E27FC236}">
                  <a16:creationId xmlns:a16="http://schemas.microsoft.com/office/drawing/2014/main" id="{89144A19-257F-4D34-AF07-9A9C9F32A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352"/>
              <a:ext cx="72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</a:rPr>
                <a:t>Stack-like growth</a:t>
              </a:r>
            </a:p>
          </p:txBody>
        </p:sp>
        <p:sp>
          <p:nvSpPr>
            <p:cNvPr id="61459" name="Text Box 16">
              <a:extLst>
                <a:ext uri="{FF2B5EF4-FFF2-40B4-BE49-F238E27FC236}">
                  <a16:creationId xmlns:a16="http://schemas.microsoft.com/office/drawing/2014/main" id="{0A37B04E-C475-4B00-8717-D0A0F17B0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969"/>
              <a:ext cx="8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</a:rPr>
                <a:t>Sparse index</a:t>
              </a:r>
            </a:p>
          </p:txBody>
        </p:sp>
        <p:sp>
          <p:nvSpPr>
            <p:cNvPr id="61460" name="Text Box 17">
              <a:extLst>
                <a:ext uri="{FF2B5EF4-FFF2-40B4-BE49-F238E27FC236}">
                  <a16:creationId xmlns:a16="http://schemas.microsoft.com/office/drawing/2014/main" id="{932BA60A-92F1-452C-AC71-B81F1F3F0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969"/>
              <a:ext cx="8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</a:rPr>
                <a:t>Dense table</a:t>
              </a:r>
            </a:p>
          </p:txBody>
        </p:sp>
        <p:sp>
          <p:nvSpPr>
            <p:cNvPr id="61461" name="Text Box 19">
              <a:extLst>
                <a:ext uri="{FF2B5EF4-FFF2-40B4-BE49-F238E27FC236}">
                  <a16:creationId xmlns:a16="http://schemas.microsoft.com/office/drawing/2014/main" id="{426F16E5-5679-495C-8083-0DA704F74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640"/>
              <a:ext cx="672" cy="198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it-IT" sz="1400" i="1">
                  <a:solidFill>
                    <a:srgbClr val="003C75"/>
                  </a:solidFill>
                </a:rPr>
                <a:t>d(“fee”)</a:t>
              </a:r>
            </a:p>
          </p:txBody>
        </p:sp>
        <p:sp>
          <p:nvSpPr>
            <p:cNvPr id="61462" name="Text Box 20">
              <a:extLst>
                <a:ext uri="{FF2B5EF4-FFF2-40B4-BE49-F238E27FC236}">
                  <a16:creationId xmlns:a16="http://schemas.microsoft.com/office/drawing/2014/main" id="{6EE8802C-A235-45F4-8A83-B853397DE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400"/>
              <a:ext cx="672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it-IT" sz="1400" i="1">
                  <a:solidFill>
                    <a:srgbClr val="003C75"/>
                  </a:solidFill>
                </a:rPr>
                <a:t>d(“fie”)</a:t>
              </a:r>
            </a:p>
          </p:txBody>
        </p:sp>
        <p:cxnSp>
          <p:nvCxnSpPr>
            <p:cNvPr id="61463" name="AutoShape 21">
              <a:extLst>
                <a:ext uri="{FF2B5EF4-FFF2-40B4-BE49-F238E27FC236}">
                  <a16:creationId xmlns:a16="http://schemas.microsoft.com/office/drawing/2014/main" id="{3CEB8501-8BF5-4D66-BD26-2B27E195379E}"/>
                </a:ext>
              </a:extLst>
            </p:cNvPr>
            <p:cNvCxnSpPr>
              <a:cxnSpLocks noChangeShapeType="1"/>
              <a:stCxn id="61462" idx="3"/>
              <a:endCxn id="61449" idx="1"/>
            </p:cNvCxnSpPr>
            <p:nvPr/>
          </p:nvCxnSpPr>
          <p:spPr bwMode="auto">
            <a:xfrm>
              <a:off x="2400" y="2499"/>
              <a:ext cx="1344" cy="1293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64" name="AutoShape 22">
              <a:extLst>
                <a:ext uri="{FF2B5EF4-FFF2-40B4-BE49-F238E27FC236}">
                  <a16:creationId xmlns:a16="http://schemas.microsoft.com/office/drawing/2014/main" id="{9C043E5C-4312-4EE9-968F-0F2D72F9EA2C}"/>
                </a:ext>
              </a:extLst>
            </p:cNvPr>
            <p:cNvCxnSpPr>
              <a:cxnSpLocks noChangeShapeType="1"/>
              <a:stCxn id="61461" idx="3"/>
              <a:endCxn id="61450" idx="1"/>
            </p:cNvCxnSpPr>
            <p:nvPr/>
          </p:nvCxnSpPr>
          <p:spPr bwMode="auto">
            <a:xfrm>
              <a:off x="2400" y="2739"/>
              <a:ext cx="1344" cy="861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65" name="AutoShape 23">
              <a:extLst>
                <a:ext uri="{FF2B5EF4-FFF2-40B4-BE49-F238E27FC236}">
                  <a16:creationId xmlns:a16="http://schemas.microsoft.com/office/drawing/2014/main" id="{8A88C030-5F4B-4F7C-8A37-33A2BDD1A7C6}"/>
                </a:ext>
              </a:extLst>
            </p:cNvPr>
            <p:cNvCxnSpPr>
              <a:cxnSpLocks noChangeShapeType="1"/>
              <a:stCxn id="61448" idx="3"/>
              <a:endCxn id="61451" idx="1"/>
            </p:cNvCxnSpPr>
            <p:nvPr/>
          </p:nvCxnSpPr>
          <p:spPr bwMode="auto">
            <a:xfrm>
              <a:off x="2400" y="2979"/>
              <a:ext cx="1344" cy="429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66" name="AutoShape 24">
              <a:extLst>
                <a:ext uri="{FF2B5EF4-FFF2-40B4-BE49-F238E27FC236}">
                  <a16:creationId xmlns:a16="http://schemas.microsoft.com/office/drawing/2014/main" id="{31CD90D2-8AF4-4B36-BB3D-EA51DC924496}"/>
                </a:ext>
              </a:extLst>
            </p:cNvPr>
            <p:cNvCxnSpPr>
              <a:cxnSpLocks noChangeShapeType="1"/>
              <a:stCxn id="61447" idx="3"/>
              <a:endCxn id="61452" idx="1"/>
            </p:cNvCxnSpPr>
            <p:nvPr/>
          </p:nvCxnSpPr>
          <p:spPr bwMode="auto">
            <a:xfrm flipV="1">
              <a:off x="2400" y="3216"/>
              <a:ext cx="1344" cy="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Footer Placeholder 3">
            <a:extLst>
              <a:ext uri="{FF2B5EF4-FFF2-40B4-BE49-F238E27FC236}">
                <a16:creationId xmlns:a16="http://schemas.microsoft.com/office/drawing/2014/main" id="{0ACC1919-EA8D-4A61-B576-61FB6F261E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3490" name="Slide Number Placeholder 4">
            <a:extLst>
              <a:ext uri="{FF2B5EF4-FFF2-40B4-BE49-F238E27FC236}">
                <a16:creationId xmlns:a16="http://schemas.microsoft.com/office/drawing/2014/main" id="{A5FC4A25-5E89-4416-93AE-1B562074A3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7E55C72-018D-487B-AFD5-19F0593E52E5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30CF8334-415C-4D37-81FE-80E99361E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altLang="it-IT"/>
              <a:t>Hash-less Symbol Tables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3D03717E-CA48-4A94-BBCD-318EC44BA2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Incremental construction of an acyclic DFA</a:t>
            </a:r>
          </a:p>
          <a:p>
            <a:pPr eaLnBrk="1" hangingPunct="1"/>
            <a:r>
              <a:rPr lang="en-US" altLang="it-IT"/>
              <a:t>To add a word, run it through the DFA</a:t>
            </a:r>
          </a:p>
          <a:p>
            <a:pPr lvl="1" eaLnBrk="1" hangingPunct="1"/>
            <a:r>
              <a:rPr lang="en-US" altLang="it-IT"/>
              <a:t>At some point, it will face a transition to the error state</a:t>
            </a:r>
          </a:p>
          <a:p>
            <a:pPr lvl="1" eaLnBrk="1" hangingPunct="1"/>
            <a:r>
              <a:rPr lang="en-US" altLang="it-IT"/>
              <a:t>At that point, start building states &amp; transitions to recognize it</a:t>
            </a:r>
          </a:p>
          <a:p>
            <a:pPr eaLnBrk="1" hangingPunct="1"/>
            <a:r>
              <a:rPr lang="en-US" altLang="it-IT"/>
              <a:t>Requires a memory access per character in the key</a:t>
            </a:r>
          </a:p>
          <a:p>
            <a:pPr lvl="1" eaLnBrk="1" hangingPunct="1"/>
            <a:r>
              <a:rPr lang="en-US" altLang="it-IT"/>
              <a:t>If DFA grows too large, memory access costs become excessive</a:t>
            </a:r>
          </a:p>
          <a:p>
            <a:pPr lvl="1" eaLnBrk="1" hangingPunct="1"/>
            <a:r>
              <a:rPr lang="en-US" altLang="it-IT"/>
              <a:t>For small key sets (e.g., names in a procedure), not a problem</a:t>
            </a:r>
          </a:p>
          <a:p>
            <a:pPr eaLnBrk="1" hangingPunct="1"/>
            <a:r>
              <a:rPr lang="en-US" altLang="it-IT"/>
              <a:t>Optimizations</a:t>
            </a:r>
          </a:p>
          <a:p>
            <a:pPr lvl="1" eaLnBrk="1" hangingPunct="1"/>
            <a:r>
              <a:rPr lang="en-US" altLang="it-IT"/>
              <a:t>Last state on each path can be explicit</a:t>
            </a:r>
          </a:p>
          <a:p>
            <a:pPr marL="1085850" lvl="2" eaLnBrk="1" hangingPunct="1"/>
            <a:r>
              <a:rPr lang="en-US" altLang="it-IT">
                <a:solidFill>
                  <a:srgbClr val="003C75"/>
                </a:solidFill>
              </a:rPr>
              <a:t>Substantial reduction in memory costs</a:t>
            </a:r>
          </a:p>
          <a:p>
            <a:pPr marL="1085850" lvl="2" eaLnBrk="1" hangingPunct="1"/>
            <a:r>
              <a:rPr lang="en-US" altLang="it-IT">
                <a:solidFill>
                  <a:srgbClr val="003C75"/>
                </a:solidFill>
              </a:rPr>
              <a:t>Instantiate when path is lengthened</a:t>
            </a:r>
          </a:p>
          <a:p>
            <a:pPr lvl="1" eaLnBrk="1" hangingPunct="1"/>
            <a:r>
              <a:rPr lang="en-US" altLang="it-IT"/>
              <a:t>Trade off granularity against size of state representation</a:t>
            </a:r>
          </a:p>
          <a:p>
            <a:pPr lvl="1" eaLnBrk="1" hangingPunct="1"/>
            <a:r>
              <a:rPr lang="en-US" altLang="it-IT"/>
              <a:t>Encode capitalization separately </a:t>
            </a:r>
          </a:p>
          <a:p>
            <a:pPr marL="1085850" lvl="2" eaLnBrk="1" hangingPunct="1"/>
            <a:r>
              <a:rPr lang="en-US" altLang="it-IT">
                <a:solidFill>
                  <a:srgbClr val="003C75"/>
                </a:solidFill>
              </a:rPr>
              <a:t>Bit strings tied to final state?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1832</Words>
  <Application>Microsoft Office PowerPoint</Application>
  <PresentationFormat>Presentazione su schermo (4:3)</PresentationFormat>
  <Paragraphs>543</Paragraphs>
  <Slides>25</Slides>
  <Notes>24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26" baseType="lpstr">
      <vt:lpstr>Blank Presentation</vt:lpstr>
      <vt:lpstr>Intermediate Representations  Comp 412</vt:lpstr>
      <vt:lpstr>Where In The Course Are We?</vt:lpstr>
      <vt:lpstr>Intermediate Representations</vt:lpstr>
      <vt:lpstr>Intermediate Representations</vt:lpstr>
      <vt:lpstr>Types of Intermediate Representations</vt:lpstr>
      <vt:lpstr>Level of Abstraction</vt:lpstr>
      <vt:lpstr>Level of Abstraction</vt:lpstr>
      <vt:lpstr>Abstract Syntax Tree</vt:lpstr>
      <vt:lpstr>Directed Acyclic Graph</vt:lpstr>
      <vt:lpstr>Stack Machine Code</vt:lpstr>
      <vt:lpstr>Three Address Code</vt:lpstr>
      <vt:lpstr>Three Address Code: Quadruples</vt:lpstr>
      <vt:lpstr>Three Address Code: Triples</vt:lpstr>
      <vt:lpstr>Three Address Code: Indirect Triples</vt:lpstr>
      <vt:lpstr>Two Address Code</vt:lpstr>
      <vt:lpstr>Control-flow Graph</vt:lpstr>
      <vt:lpstr>Static Single Assignment Form</vt:lpstr>
      <vt:lpstr>Using Multiple Representations</vt:lpstr>
      <vt:lpstr>Memory Models</vt:lpstr>
      <vt:lpstr>The Rest of the Story…</vt:lpstr>
      <vt:lpstr>Symbol Tables</vt:lpstr>
      <vt:lpstr>Hash-less Symbol Tables</vt:lpstr>
      <vt:lpstr>Hash-less Symbol Tables</vt:lpstr>
      <vt:lpstr>Hash-less Symbol Tables</vt:lpstr>
      <vt:lpstr>Hash-less Symbol Tables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24</cp:revision>
  <cp:lastPrinted>2010-10-07T16:52:50Z</cp:lastPrinted>
  <dcterms:created xsi:type="dcterms:W3CDTF">2010-12-23T14:38:37Z</dcterms:created>
  <dcterms:modified xsi:type="dcterms:W3CDTF">2020-10-19T09:19:42Z</dcterms:modified>
</cp:coreProperties>
</file>