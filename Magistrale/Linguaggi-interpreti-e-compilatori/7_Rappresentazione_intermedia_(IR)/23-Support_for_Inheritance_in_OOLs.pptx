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3" r:id="rId3"/>
    <p:sldId id="270" r:id="rId4"/>
    <p:sldId id="291" r:id="rId5"/>
    <p:sldId id="272" r:id="rId6"/>
    <p:sldId id="273" r:id="rId7"/>
    <p:sldId id="274" r:id="rId8"/>
    <p:sldId id="275" r:id="rId9"/>
    <p:sldId id="276" r:id="rId10"/>
    <p:sldId id="289" r:id="rId11"/>
    <p:sldId id="277" r:id="rId12"/>
    <p:sldId id="278" r:id="rId13"/>
    <p:sldId id="280" r:id="rId14"/>
    <p:sldId id="290" r:id="rId15"/>
    <p:sldId id="281" r:id="rId16"/>
    <p:sldId id="284" r:id="rId17"/>
    <p:sldId id="285" r:id="rId18"/>
    <p:sldId id="286" r:id="rId19"/>
    <p:sldId id="287" r:id="rId20"/>
    <p:sldId id="288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CCCCCC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10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0A9B54-616C-423E-A6EE-95316FE3CC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C8AAD-E8D0-4C03-908E-E8ECC5833C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fld id="{FF597031-A27D-4D08-8B86-54311BA2D7F3}" type="datetime1">
              <a:rPr lang="en-US"/>
              <a:pPr>
                <a:defRPr/>
              </a:pPr>
              <a:t>10/20/2020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3A3D7-B5AD-4671-956B-7A00713511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BC011-340E-4398-B87E-89253ED4FC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E9A9F5E-1120-4A26-BB91-804CC54F7914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5DAE065-C388-454C-8BCF-24CDB7B4BB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67C1CF7-9153-446C-AAEC-E9E0D47316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5B487B6-C255-4A5F-A5C3-9DA23B0A4E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5737562-1784-456A-B728-76FCC8D793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5DA5546-57EA-49E7-A3A2-5B982861D5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A8BAEC7C-FDB8-4776-8AA0-FBF6F9ACDC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B68DD122-562E-4595-862E-A0B1F7EE358D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A95C831-CD5D-435B-8058-65E083A78B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02007BD-4BAC-43A9-A8E4-0C1AC31A6685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51D5CEC-1494-456A-B64E-1A0032307E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C48D224-C81A-466D-9049-381CDCE0B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6E09F53D-DCF0-43D2-B80F-E648A375E4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8A58AC7-BB74-47F5-8B0F-2D9BE8F5588F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712D7AB-0B1E-47A4-874E-A2D4A76C60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30AD0F9-C100-4F39-9C63-822916166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BB597F20-0FE8-463F-BA08-4403B7A56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012EB717-2696-4334-8CD6-EF0545BB3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In C++, all methods except for virtual functions, are known at compile time and can be generated as simple static calls.</a:t>
            </a:r>
          </a:p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Virtual functions require runtime mechanisms that are similar to those used in an open class structure, since they require</a:t>
            </a:r>
          </a:p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runtime resolution.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5D1A7F8D-6121-4D1D-BEAC-A2E508BFD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614658-DC45-468A-B5CB-51D2F718B7DC}" type="slidenum">
              <a:rPr lang="en-US" altLang="it-IT"/>
              <a:pPr/>
              <a:t>5</a:t>
            </a:fld>
            <a:endParaRPr lang="en-US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C1FFCD21-B03D-4555-B14C-0B759F7A0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90CECC13-7128-4F1A-BA3E-72128929A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This slide assumes that ColorPoint defines its own instances of both draw and test.</a:t>
            </a: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6AAD8602-578B-4AEF-8D6C-8A64BAF9C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EAE8F1-B480-45C6-BF56-59BC88F8BAE8}" type="slidenum">
              <a:rPr lang="en-US" altLang="it-IT"/>
              <a:pPr/>
              <a:t>6</a:t>
            </a:fld>
            <a:endParaRPr lang="en-US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11CA3B4F-DF6A-400E-8D87-C309163922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035AEC6-024F-478D-A635-2E5BEA58A970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1D148E2-F8F0-4295-86F8-10B5792DD98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90A145-7B8D-4F4B-9D3E-FDAD91813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8E4BBEA9-9766-4327-B87B-F04338439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5914F32-7398-4EA1-A69B-2AE8F755C5D1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153BA511-A234-4FEE-B33A-8D6662FB51F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CB34437-1CFB-4C60-B161-C6DD5615E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F6D64586-6C43-4DC0-82D0-B5F9AC38B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71E4F25-0749-46C7-BA8A-4EF752F6575F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06D89F1-CABF-4751-99FF-8B2A393EFE1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9CD781C-5C11-47FE-8DAA-868E88F19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F68A5538-5B29-4328-B96C-AA361C0D1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D6ED4F7-C79E-4C0D-9DA0-F011216FFEF3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5BC982A5-A527-496C-AEBC-95AFAC65032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D8F3BB1-88FE-48B9-842B-5AD63816C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970BF36-4357-44DD-9D8C-F7E863F903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CB4A03-530E-440C-8740-9EE8339320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B2363E-20AD-4919-A305-3ACAAA70B19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895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79F772-524E-4543-BE7F-3FD504673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80487D-3873-47F0-A6FA-998BF77051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6CDDB0-9918-468B-AA2B-50AC03A5F35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470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06FA3CC-7F69-4C93-9229-A1740231AD6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F4528F-4598-4127-813A-BDDB9A9B0C2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7E284-251A-4F2B-82C1-E1C7F096408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8156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A53B20-1274-47B4-BD54-61021AD70F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EA4397-6D8B-4CB2-8875-74D12940F50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B69B2F-18DF-49A7-B4CE-8B02B028F73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0591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82AAEEE-8BBF-45F0-B6CA-B88DBFB8B1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6D64C6D-57F9-42A6-B312-6607CB1339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28711-30D0-4B09-A732-C35E8D23006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3702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E3716A-CD77-4F14-B6D6-4D2FD5BB8A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14FDD9-E891-461D-B3DE-27C1536145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B53D52-BC0D-46D6-AD35-2B36635D659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7363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45773DB-027F-486A-8D53-4EF62C53DE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F4FFDCF-40A0-4DA6-A182-7252D82534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87ACF5-53E4-4510-8111-119B8B88AC6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9999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173FDD-710E-4C6C-B087-71271FD04A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F88D16-BC36-4805-9E43-0170AF9F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20A05E-DD96-47B3-9201-F4DBD1DBA66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4005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4A5778-7FBC-40C7-AAAC-0D8F48223F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720994-757B-4B35-90A2-E93F3616A8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A4D94-6860-4891-BEB7-1B417ED6AD2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7087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123A9F-4A2B-4B32-93B1-18EA2218F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2B1E86-DE94-4AAA-B993-AC88748E46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5540D5-63B5-4C18-B562-24A6008ED1F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4466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237FF0C-6BF5-4A66-A8CB-6ED01AF5D4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275A58-9B65-4C09-B672-37B2B74FD6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E18147-21CB-4816-AA0E-A5EAA2CC6ED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3376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D4A24A-EA37-4D71-9894-04D26B609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F488CC-BEDD-450E-A32D-D9111DCBE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507C1E-2AE9-495E-8077-CBA88C347B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4E79B7-1343-4250-B9AD-2FACBDA2FF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6343121-90EF-4B42-BC0E-1DD68F80DD27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AA519B15-BCE5-4D98-A9CA-F2C4476A7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400EBE0A-1801-4E8B-A0DB-B1D3E07CF3F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omic Sans MS" pitchFamily="-108" charset="0"/>
              <a:ea typeface="ヒラギノ角ゴ Pro W3" pitchFamily="-108" charset="-128"/>
              <a:cs typeface="ヒラギノ角ゴ Pro W3" pitchFamily="-108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068F088-7A54-4D1A-ACA9-A8B3E18BFC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209800"/>
          </a:xfrm>
        </p:spPr>
        <p:txBody>
          <a:bodyPr/>
          <a:lstStyle/>
          <a:p>
            <a:pPr algn="ctr" eaLnBrk="1" hangingPunct="1"/>
            <a:r>
              <a:rPr lang="en-US" altLang="it-IT" sz="3200" i="1">
                <a:solidFill>
                  <a:schemeClr val="tx1"/>
                </a:solidFill>
              </a:rPr>
              <a:t>The Procedure Abstraction, Part VI:</a:t>
            </a:r>
            <a:br>
              <a:rPr lang="en-US" altLang="it-IT" sz="3200" i="1">
                <a:solidFill>
                  <a:schemeClr val="tx1"/>
                </a:solidFill>
              </a:rPr>
            </a:br>
            <a:r>
              <a:rPr lang="en-US" altLang="it-IT" sz="3200" i="1">
                <a:solidFill>
                  <a:schemeClr val="tx1"/>
                </a:solidFill>
              </a:rPr>
              <a:t>Inheritance in OOLs</a:t>
            </a:r>
            <a:br>
              <a:rPr lang="en-US" altLang="it-IT" sz="3200" i="1">
                <a:solidFill>
                  <a:schemeClr val="tx1"/>
                </a:solidFill>
              </a:rPr>
            </a:br>
            <a:br>
              <a:rPr lang="en-US" altLang="it-IT" sz="3200" i="1">
                <a:solidFill>
                  <a:schemeClr val="tx1"/>
                </a:solidFill>
              </a:rPr>
            </a:br>
            <a:r>
              <a:rPr lang="en-US" altLang="it-IT" sz="3200" i="1">
                <a:solidFill>
                  <a:schemeClr val="tx1"/>
                </a:solidFill>
              </a:rPr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7C74AC0B-EE3C-4E8D-8744-119DCA179C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16399E4D-D0EC-4D84-B4BC-A6FE3E5AB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6">
            <a:extLst>
              <a:ext uri="{FF2B5EF4-FFF2-40B4-BE49-F238E27FC236}">
                <a16:creationId xmlns:a16="http://schemas.microsoft.com/office/drawing/2014/main" id="{FCC2B1AD-9375-4624-B6B0-03AA138F7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2">
            <a:extLst>
              <a:ext uri="{FF2B5EF4-FFF2-40B4-BE49-F238E27FC236}">
                <a16:creationId xmlns:a16="http://schemas.microsoft.com/office/drawing/2014/main" id="{B4E5EC2F-01C4-44A5-9A42-C4AF0046F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E39CB010-020C-4950-9621-8546A870A4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2E2F620-3781-44BF-A29F-BD3E9910BA0B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D4FAA42-328A-4D37-8104-CA9020D66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Java Name Space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7D66FBE3-24F9-48EF-9F7D-6B6871A52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092200"/>
            <a:ext cx="781367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/>
              <a:t>Class Point {</a:t>
            </a:r>
          </a:p>
          <a:p>
            <a:r>
              <a:rPr lang="en-US" altLang="it-IT" sz="1600"/>
              <a:t>		public int x, y;</a:t>
            </a:r>
          </a:p>
          <a:p>
            <a:r>
              <a:rPr lang="en-US" altLang="it-IT" sz="1600"/>
              <a:t>		public void draw();</a:t>
            </a:r>
          </a:p>
          <a:p>
            <a:r>
              <a:rPr lang="en-US" altLang="it-IT" sz="1600"/>
              <a:t>}</a:t>
            </a:r>
          </a:p>
          <a:p>
            <a:r>
              <a:rPr lang="en-US" altLang="it-IT" sz="1600"/>
              <a:t>Class ColorPoint extends Point {	 					// inherits x, y, &amp; draw() from Point</a:t>
            </a:r>
          </a:p>
          <a:p>
            <a:r>
              <a:rPr lang="en-US" altLang="it-IT" sz="1600"/>
              <a:t>		Color c;																 // local data</a:t>
            </a:r>
          </a:p>
          <a:p>
            <a:r>
              <a:rPr lang="en-US" altLang="it-IT" sz="1600"/>
              <a:t>		public void draw() {…} 									 // override (hide) Point’s draw</a:t>
            </a:r>
          </a:p>
          <a:p>
            <a:r>
              <a:rPr lang="en-US" altLang="it-IT" sz="1600"/>
              <a:t>		public void test() { y = x; draw(); }		 //  local code</a:t>
            </a:r>
          </a:p>
          <a:p>
            <a:r>
              <a:rPr lang="en-US" altLang="it-IT" sz="1600"/>
              <a:t>}</a:t>
            </a:r>
          </a:p>
          <a:p>
            <a:r>
              <a:rPr lang="en-US" altLang="it-IT" sz="1600"/>
              <a:t>Class C {																		 // independent of Point &amp; ColorPoint</a:t>
            </a:r>
          </a:p>
          <a:p>
            <a:r>
              <a:rPr lang="en-US" altLang="it-IT" sz="1600"/>
              <a:t>		int x, y;																// local data</a:t>
            </a:r>
          </a:p>
          <a:p>
            <a:r>
              <a:rPr lang="en-US" altLang="it-IT" sz="1600"/>
              <a:t>		public void m() 												 // local code</a:t>
            </a:r>
          </a:p>
          <a:p>
            <a:r>
              <a:rPr lang="en-US" altLang="it-IT" sz="1600"/>
              <a:t>		{ </a:t>
            </a:r>
          </a:p>
          <a:p>
            <a:r>
              <a:rPr lang="en-US" altLang="it-IT" sz="1600"/>
              <a:t>				Point p = new ColorPoint(); 				 // uses ColorPoint, and, by inheritance</a:t>
            </a:r>
          </a:p>
          <a:p>
            <a:r>
              <a:rPr lang="en-US" altLang="it-IT" sz="1600"/>
              <a:t>				y = p.x; 													   // the definitions from Point</a:t>
            </a:r>
          </a:p>
          <a:p>
            <a:r>
              <a:rPr lang="en-US" altLang="it-IT" sz="1600"/>
              <a:t>				p.draw();</a:t>
            </a:r>
          </a:p>
          <a:p>
            <a:r>
              <a:rPr lang="en-US" altLang="it-IT" sz="1600"/>
              <a:t>		}</a:t>
            </a:r>
          </a:p>
          <a:p>
            <a:r>
              <a:rPr lang="en-US" altLang="it-IT" sz="1600"/>
              <a:t>}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75584FC5-6F69-40AC-A606-0A123C5DE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1360488"/>
            <a:ext cx="2386013" cy="6604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We will use and extend this example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C39F401D-1208-4B69-913C-40FCAD05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Inheritance?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B4C09E34-2C0F-4515-B57E-C92FEDA76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Impact on OR Layout</a:t>
            </a:r>
          </a:p>
          <a:p>
            <a:r>
              <a:rPr lang="en-US" altLang="it-IT"/>
              <a:t>OR needs slots for each member declared, all the way up the class hierarchy          (class, superclass, super-superclass, …)</a:t>
            </a:r>
          </a:p>
          <a:p>
            <a:r>
              <a:rPr lang="en-US" altLang="it-IT"/>
              <a:t>Can use </a:t>
            </a:r>
            <a:r>
              <a:rPr lang="en-US" altLang="it-IT">
                <a:solidFill>
                  <a:srgbClr val="003C75"/>
                </a:solidFill>
              </a:rPr>
              <a:t>prefixing of storage</a:t>
            </a:r>
            <a:r>
              <a:rPr lang="en-US" altLang="it-IT"/>
              <a:t> to lay out the OR</a:t>
            </a:r>
          </a:p>
          <a:p>
            <a:pPr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Back to Our Java Example — Class Point</a:t>
            </a:r>
          </a:p>
          <a:p>
            <a:endParaRPr lang="en-US" altLang="it-IT"/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8581A1B9-0FE0-4151-8FF8-47E0D2BEAB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F51A6F4F-4FC9-41F8-BF7F-61BAC29569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10E077D-D4DB-4646-BC1C-9D80F8AD57CB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61" name="TextBox 5">
            <a:extLst>
              <a:ext uri="{FF2B5EF4-FFF2-40B4-BE49-F238E27FC236}">
                <a16:creationId xmlns:a16="http://schemas.microsoft.com/office/drawing/2014/main" id="{55348629-C655-41C2-B13B-67C99A817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22638"/>
            <a:ext cx="4191000" cy="228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Class Point {</a:t>
            </a:r>
          </a:p>
          <a:p>
            <a:r>
              <a:rPr lang="en-US" altLang="it-IT"/>
              <a:t>		public int x, y;</a:t>
            </a:r>
          </a:p>
          <a:p>
            <a:pPr>
              <a:lnSpc>
                <a:spcPts val="1000"/>
              </a:lnSpc>
            </a:pPr>
            <a:r>
              <a:rPr lang="en-US" altLang="it-IT"/>
              <a:t>		…</a:t>
            </a:r>
          </a:p>
          <a:p>
            <a:r>
              <a:rPr lang="en-US" altLang="it-IT"/>
              <a:t>}</a:t>
            </a:r>
          </a:p>
          <a:p>
            <a:endParaRPr lang="en-US" altLang="it-IT"/>
          </a:p>
          <a:p>
            <a:r>
              <a:rPr lang="en-US" altLang="it-IT"/>
              <a:t>Class ColorPoint extends Point {		</a:t>
            </a:r>
          </a:p>
          <a:p>
            <a:r>
              <a:rPr lang="en-US" altLang="it-IT"/>
              <a:t>		Color c;																 </a:t>
            </a:r>
          </a:p>
          <a:p>
            <a:pPr>
              <a:lnSpc>
                <a:spcPts val="1000"/>
              </a:lnSpc>
            </a:pPr>
            <a:r>
              <a:rPr lang="en-US" altLang="it-IT"/>
              <a:t>		…</a:t>
            </a:r>
          </a:p>
          <a:p>
            <a:r>
              <a:rPr lang="en-US" altLang="it-IT"/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7852FA-BD79-42B3-B70A-272F28D61BFF}"/>
              </a:ext>
            </a:extLst>
          </p:cNvPr>
          <p:cNvSpPr txBox="1"/>
          <p:nvPr/>
        </p:nvSpPr>
        <p:spPr>
          <a:xfrm>
            <a:off x="4648200" y="6248400"/>
            <a:ext cx="34290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Take the word </a:t>
            </a:r>
            <a:r>
              <a:rPr lang="en-US" sz="16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extends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literally.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3E88F4-379B-4BDF-AF89-211845273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907088"/>
            <a:ext cx="3200400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it-IT">
                <a:solidFill>
                  <a:srgbClr val="FF0065"/>
                </a:solidFill>
              </a:rPr>
              <a:t>What happens if we cast a ColorPoint to a Point?</a:t>
            </a:r>
          </a:p>
        </p:txBody>
      </p:sp>
      <p:grpSp>
        <p:nvGrpSpPr>
          <p:cNvPr id="19464" name="Group 41">
            <a:extLst>
              <a:ext uri="{FF2B5EF4-FFF2-40B4-BE49-F238E27FC236}">
                <a16:creationId xmlns:a16="http://schemas.microsoft.com/office/drawing/2014/main" id="{9A98A813-0C1F-47A6-8824-892AA2672FEE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3200400"/>
            <a:ext cx="1981200" cy="1219200"/>
            <a:chOff x="6172200" y="2743200"/>
            <a:chExt cx="1981200" cy="1219200"/>
          </a:xfrm>
        </p:grpSpPr>
        <p:sp>
          <p:nvSpPr>
            <p:cNvPr id="19472" name="TextBox 15">
              <a:extLst>
                <a:ext uri="{FF2B5EF4-FFF2-40B4-BE49-F238E27FC236}">
                  <a16:creationId xmlns:a16="http://schemas.microsoft.com/office/drawing/2014/main" id="{6C92D7AC-AE48-4318-BC96-409C8E4BF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16069"/>
              <a:ext cx="12954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OR for a </a:t>
              </a:r>
            </a:p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Point</a:t>
              </a:r>
            </a:p>
          </p:txBody>
        </p:sp>
        <p:grpSp>
          <p:nvGrpSpPr>
            <p:cNvPr id="19473" name="Group 33">
              <a:extLst>
                <a:ext uri="{FF2B5EF4-FFF2-40B4-BE49-F238E27FC236}">
                  <a16:creationId xmlns:a16="http://schemas.microsoft.com/office/drawing/2014/main" id="{FF080B5A-F96A-40FF-8D5C-CC55982A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2743200"/>
              <a:ext cx="1828800" cy="897354"/>
              <a:chOff x="6324600" y="2933700"/>
              <a:chExt cx="1828800" cy="897354"/>
            </a:xfrm>
          </p:grpSpPr>
          <p:sp>
            <p:nvSpPr>
              <p:cNvPr id="19474" name="TextBox 8">
                <a:extLst>
                  <a:ext uri="{FF2B5EF4-FFF2-40B4-BE49-F238E27FC236}">
                    <a16:creationId xmlns:a16="http://schemas.microsoft.com/office/drawing/2014/main" id="{C34896A3-C3FE-4278-9253-FD922798A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2933700"/>
                <a:ext cx="60960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r"/>
                <a:r>
                  <a:rPr lang="en-US" altLang="it-IT" sz="1600"/>
                  <a:t>self</a:t>
                </a:r>
              </a:p>
            </p:txBody>
          </p:sp>
          <p:cxnSp>
            <p:nvCxnSpPr>
              <p:cNvPr id="19475" name="Straight Arrow Connector 11">
                <a:extLst>
                  <a:ext uri="{FF2B5EF4-FFF2-40B4-BE49-F238E27FC236}">
                    <a16:creationId xmlns:a16="http://schemas.microsoft.com/office/drawing/2014/main" id="{C41C9099-E784-4896-99EA-A0422037E485}"/>
                  </a:ext>
                </a:extLst>
              </p:cNvPr>
              <p:cNvCxnSpPr>
                <a:cxnSpLocks noChangeShapeType="1"/>
                <a:stCxn id="19474" idx="3"/>
              </p:cNvCxnSpPr>
              <p:nvPr/>
            </p:nvCxnSpPr>
            <p:spPr bwMode="auto">
              <a:xfrm>
                <a:off x="6934200" y="3102977"/>
                <a:ext cx="533400" cy="4177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AA4CFE7-9DC4-47C2-87B2-9C525A6B0BD0}"/>
                  </a:ext>
                </a:extLst>
              </p:cNvPr>
              <p:cNvGrpSpPr/>
              <p:nvPr/>
            </p:nvGrpSpPr>
            <p:grpSpPr>
              <a:xfrm>
                <a:off x="7467600" y="2946400"/>
                <a:ext cx="685800" cy="884654"/>
                <a:chOff x="7467600" y="2946400"/>
                <a:chExt cx="685800" cy="884654"/>
              </a:xfrm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9277B7F-BEFE-421A-8396-9D5C0396D775}"/>
                    </a:ext>
                  </a:extLst>
                </p:cNvPr>
                <p:cNvSpPr/>
                <p:nvPr/>
              </p:nvSpPr>
              <p:spPr bwMode="auto">
                <a:xfrm>
                  <a:off x="7467600" y="32214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x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487DA42-8E70-45DA-8F44-E8D5D2CA093F}"/>
                    </a:ext>
                  </a:extLst>
                </p:cNvPr>
                <p:cNvSpPr/>
                <p:nvPr/>
              </p:nvSpPr>
              <p:spPr bwMode="auto">
                <a:xfrm>
                  <a:off x="7467600" y="35262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y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CA3154A-C08D-4E1C-BABF-B02358022DC4}"/>
                    </a:ext>
                  </a:extLst>
                </p:cNvPr>
                <p:cNvSpPr/>
                <p:nvPr/>
              </p:nvSpPr>
              <p:spPr bwMode="auto">
                <a:xfrm>
                  <a:off x="7467600" y="29464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class</a:t>
                  </a:r>
                </a:p>
              </p:txBody>
            </p:sp>
          </p:grpSp>
        </p:grpSp>
      </p:grpSp>
      <p:grpSp>
        <p:nvGrpSpPr>
          <p:cNvPr id="19465" name="Group 40">
            <a:extLst>
              <a:ext uri="{FF2B5EF4-FFF2-40B4-BE49-F238E27FC236}">
                <a16:creationId xmlns:a16="http://schemas.microsoft.com/office/drawing/2014/main" id="{A5745D54-6C6C-40BD-A1C6-5D3998160B59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713288"/>
            <a:ext cx="2171700" cy="1230312"/>
            <a:chOff x="6019800" y="4292600"/>
            <a:chExt cx="2171700" cy="1230531"/>
          </a:xfrm>
        </p:grpSpPr>
        <p:sp>
          <p:nvSpPr>
            <p:cNvPr id="19467" name="TextBox 19">
              <a:extLst>
                <a:ext uri="{FF2B5EF4-FFF2-40B4-BE49-F238E27FC236}">
                  <a16:creationId xmlns:a16="http://schemas.microsoft.com/office/drawing/2014/main" id="{89BBDD4F-FD3A-49DA-B915-B5D0D592B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876800"/>
              <a:ext cx="1524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OR for a </a:t>
              </a:r>
            </a:p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ColorPoint</a:t>
              </a:r>
            </a:p>
          </p:txBody>
        </p:sp>
        <p:grpSp>
          <p:nvGrpSpPr>
            <p:cNvPr id="19468" name="Group 38">
              <a:extLst>
                <a:ext uri="{FF2B5EF4-FFF2-40B4-BE49-F238E27FC236}">
                  <a16:creationId xmlns:a16="http://schemas.microsoft.com/office/drawing/2014/main" id="{931236BD-72D3-4D23-BD7F-BFC10A36E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2700" y="4292600"/>
              <a:ext cx="1828800" cy="1219200"/>
              <a:chOff x="6362700" y="4292600"/>
              <a:chExt cx="1828800" cy="1219200"/>
            </a:xfrm>
          </p:grpSpPr>
          <p:sp>
            <p:nvSpPr>
              <p:cNvPr id="19469" name="TextBox 21">
                <a:extLst>
                  <a:ext uri="{FF2B5EF4-FFF2-40B4-BE49-F238E27FC236}">
                    <a16:creationId xmlns:a16="http://schemas.microsoft.com/office/drawing/2014/main" id="{DAE5B67D-CDB1-40CB-B510-7399AB3BBE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62700" y="4292600"/>
                <a:ext cx="6096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r"/>
                <a:r>
                  <a:rPr lang="en-US" altLang="it-IT" sz="1600"/>
                  <a:t>self</a:t>
                </a:r>
              </a:p>
            </p:txBody>
          </p:sp>
          <p:cxnSp>
            <p:nvCxnSpPr>
              <p:cNvPr id="19470" name="Straight Arrow Connector 22">
                <a:extLst>
                  <a:ext uri="{FF2B5EF4-FFF2-40B4-BE49-F238E27FC236}">
                    <a16:creationId xmlns:a16="http://schemas.microsoft.com/office/drawing/2014/main" id="{90A1574C-4819-4C87-B390-C8213638151D}"/>
                  </a:ext>
                </a:extLst>
              </p:cNvPr>
              <p:cNvCxnSpPr>
                <a:cxnSpLocks noChangeShapeType="1"/>
                <a:stCxn id="19469" idx="3"/>
              </p:cNvCxnSpPr>
              <p:nvPr/>
            </p:nvCxnSpPr>
            <p:spPr bwMode="auto">
              <a:xfrm>
                <a:off x="6972300" y="4461877"/>
                <a:ext cx="533400" cy="4177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B938650-948F-4377-A90A-0A9D3F7224EE}"/>
                  </a:ext>
                </a:extLst>
              </p:cNvPr>
              <p:cNvGrpSpPr/>
              <p:nvPr/>
            </p:nvGrpSpPr>
            <p:grpSpPr>
              <a:xfrm>
                <a:off x="7505700" y="4305300"/>
                <a:ext cx="685800" cy="1206500"/>
                <a:chOff x="7505700" y="4305300"/>
                <a:chExt cx="685800" cy="1206500"/>
              </a:xfrm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4800578-7A6C-4F00-94B0-B34D00B86C0E}"/>
                    </a:ext>
                  </a:extLst>
                </p:cNvPr>
                <p:cNvSpPr/>
                <p:nvPr/>
              </p:nvSpPr>
              <p:spPr bwMode="auto">
                <a:xfrm>
                  <a:off x="7505700" y="45930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x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FC10691-DF09-462F-BCC9-B964F7B67DCD}"/>
                    </a:ext>
                  </a:extLst>
                </p:cNvPr>
                <p:cNvSpPr/>
                <p:nvPr/>
              </p:nvSpPr>
              <p:spPr bwMode="auto">
                <a:xfrm>
                  <a:off x="7505700" y="48978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y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ACA69DC-618F-4A63-B0D3-D9EB96467555}"/>
                    </a:ext>
                  </a:extLst>
                </p:cNvPr>
                <p:cNvSpPr/>
                <p:nvPr/>
              </p:nvSpPr>
              <p:spPr bwMode="auto">
                <a:xfrm>
                  <a:off x="7505700" y="52070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7A2D6C8-4532-41B7-9211-ACF97D0A7AF8}"/>
                    </a:ext>
                  </a:extLst>
                </p:cNvPr>
                <p:cNvSpPr/>
                <p:nvPr/>
              </p:nvSpPr>
              <p:spPr bwMode="auto">
                <a:xfrm>
                  <a:off x="7505700" y="43053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class</a:t>
                  </a:r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2D65C99-B928-4CCF-9081-8D7F5779BB0D}"/>
              </a:ext>
            </a:extLst>
          </p:cNvPr>
          <p:cNvSpPr txBox="1"/>
          <p:nvPr/>
        </p:nvSpPr>
        <p:spPr>
          <a:xfrm>
            <a:off x="4648200" y="1143000"/>
            <a:ext cx="26670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Assume single 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7883DDC4-347F-43BB-AADC-EC9CE7A9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Open World versus Closed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12DD-BE93-410D-B785-ABE81BFF5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Prefixing assumes that the class structure is known when layout is performed.  Two common cases occur.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Closed-World Assumption			       (</a:t>
            </a:r>
            <a:r>
              <a:rPr lang="en-US" sz="1800" dirty="0">
                <a:solidFill>
                  <a:srgbClr val="003C75"/>
                </a:solidFill>
              </a:rPr>
              <a:t>Compile time)</a:t>
            </a:r>
            <a:endParaRPr lang="en-US" dirty="0">
              <a:solidFill>
                <a:srgbClr val="003C75"/>
              </a:solidFill>
            </a:endParaRPr>
          </a:p>
          <a:p>
            <a:pPr>
              <a:buFont typeface="Times" charset="0"/>
              <a:buChar char="•"/>
              <a:defRPr/>
            </a:pPr>
            <a:r>
              <a:rPr lang="en-US" dirty="0"/>
              <a:t>Class structure is known and closed prior to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Can lay out </a:t>
            </a:r>
            <a:r>
              <a:rPr lang="en-US" dirty="0" err="1"/>
              <a:t>ORs</a:t>
            </a:r>
            <a:r>
              <a:rPr lang="en-US" dirty="0"/>
              <a:t> in the compiler and/or the linker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Open-World Assumption 		         (</a:t>
            </a:r>
            <a:r>
              <a:rPr lang="en-US" sz="1800" dirty="0">
                <a:solidFill>
                  <a:srgbClr val="003C75"/>
                </a:solidFill>
              </a:rPr>
              <a:t>Interpreter or JIT</a:t>
            </a:r>
            <a:r>
              <a:rPr lang="en-US" dirty="0">
                <a:solidFill>
                  <a:srgbClr val="003C75"/>
                </a:solidFill>
              </a:rPr>
              <a:t>)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Class structure can change at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Cannot lay out </a:t>
            </a:r>
            <a:r>
              <a:rPr lang="en-US" dirty="0" err="1"/>
              <a:t>ORs</a:t>
            </a:r>
            <a:r>
              <a:rPr lang="en-US" dirty="0"/>
              <a:t> until they are allocated</a:t>
            </a:r>
          </a:p>
          <a:p>
            <a:pPr lvl="1">
              <a:defRPr/>
            </a:pPr>
            <a:r>
              <a:rPr lang="en-US" dirty="0"/>
              <a:t>Walk class hierarchy at allocation</a:t>
            </a:r>
          </a:p>
          <a:p>
            <a:pPr>
              <a:spcBef>
                <a:spcPts val="4200"/>
              </a:spcBef>
              <a:buFont typeface="Times" charset="0"/>
              <a:buNone/>
              <a:defRPr/>
            </a:pPr>
            <a:r>
              <a:rPr lang="en-US" dirty="0"/>
              <a:t>C++ has a closed class structure.  </a:t>
            </a:r>
          </a:p>
          <a:p>
            <a:pPr>
              <a:buFont typeface="Times" charset="0"/>
              <a:buNone/>
              <a:defRPr/>
            </a:pPr>
            <a:r>
              <a:rPr lang="en-US" dirty="0"/>
              <a:t>Java as an open class structure.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BBEEC003-7685-41C6-9DEF-61C706A5AD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3D1CB0AA-113D-4F54-8167-60A047294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A0FB3A7-8931-47F8-9DF6-180516E97966}" type="slidenum">
              <a:rPr lang="en-US" altLang="it-IT"/>
              <a:pPr/>
              <a:t>3</a:t>
            </a:fld>
            <a:endParaRPr lang="en-US" alt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FDCA6144-0920-461B-95A9-C525F688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Open World versus Closed World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113FC519-B5B3-4373-BC3B-149EB4121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happens if the class structure changes for a class with active instantiated objects?</a:t>
            </a:r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EEC4FDAF-4673-4D36-86F1-FEEBA79AB0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95C230ED-5C06-4579-A6CF-CF6324A28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B6F1D7E-DD4D-4025-87DF-DEA06F1134D9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8398EA-6159-4E7A-91DD-327EFEA09A6C}"/>
              </a:ext>
            </a:extLst>
          </p:cNvPr>
          <p:cNvSpPr txBox="1">
            <a:spLocks/>
          </p:cNvSpPr>
          <p:nvPr/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Oops. That might be a problem.</a:t>
            </a:r>
          </a:p>
          <a:p>
            <a:pPr marL="342900" indent="-342900" eaLnBrk="0" hangingPunct="0">
              <a:spcBef>
                <a:spcPts val="6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solidFill>
                  <a:srgbClr val="003C75"/>
                </a:solidFill>
                <a:latin typeface="+mn-lt"/>
                <a:ea typeface="+mn-ea"/>
                <a:cs typeface="+mn-cs"/>
              </a:rPr>
              <a:t>Changes to the structure of an instantiated class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Languages differ on legality and advisability of such changes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Smalltalk-80, for example, found &amp; fixed all </a:t>
            </a:r>
            <a:r>
              <a:rPr lang="en-US" sz="2000" kern="0" dirty="0" err="1">
                <a:latin typeface="+mn-lt"/>
                <a:ea typeface="+mn-ea"/>
                <a:cs typeface="+mn-cs"/>
              </a:rPr>
              <a:t>ORs</a:t>
            </a:r>
            <a:r>
              <a:rPr lang="en-US" sz="2000" kern="0" dirty="0">
                <a:latin typeface="+mn-lt"/>
                <a:ea typeface="+mn-ea"/>
                <a:cs typeface="+mn-cs"/>
              </a:rPr>
              <a:t> in the class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Python does not support such changes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Lucida Grande"/>
              <a:buChar char="-"/>
              <a:defRPr/>
            </a:pPr>
            <a:r>
              <a:rPr lang="en-US" sz="2000" i="1" kern="0" dirty="0">
                <a:latin typeface="+mn-lt"/>
                <a:ea typeface="+mn-ea"/>
                <a:cs typeface="+mn-cs"/>
              </a:rPr>
              <a:t>Programmer can, on her own, track instances and re-instantiate them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6233E328-343E-40F1-8166-A7F7A7D7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Code Members?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4DC4-9415-4222-B737-74FB2BA9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How does the language’s runtime environment find the code for a given method invocation?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Closed Class Structure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Mapping of names to methods is static and known  (C++)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Fixed offsets &amp; indirect calls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Virtual functions force runtime resolution </a:t>
            </a:r>
          </a:p>
        </p:txBody>
      </p:sp>
      <p:sp>
        <p:nvSpPr>
          <p:cNvPr id="22531" name="Footer Placeholder 3">
            <a:extLst>
              <a:ext uri="{FF2B5EF4-FFF2-40B4-BE49-F238E27FC236}">
                <a16:creationId xmlns:a16="http://schemas.microsoft.com/office/drawing/2014/main" id="{3A3E2E04-CB1E-4C9C-B9DA-993DC1C5F7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633AAAE9-A19E-49AC-8F5E-DBE032876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12D60E3-002E-4A77-89B5-A9E8BCDFAD7B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E547477-E0CE-436A-84C0-5AD49859E0A6}"/>
              </a:ext>
            </a:extLst>
          </p:cNvPr>
          <p:cNvSpPr txBox="1"/>
          <p:nvPr/>
        </p:nvSpPr>
        <p:spPr>
          <a:xfrm>
            <a:off x="685800" y="6248400"/>
            <a:ext cx="4572000" cy="3079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Geneva"/>
                <a:ea typeface="ヒラギノ角ゴ Pro W3" charset="-128"/>
                <a:cs typeface="Geneva"/>
              </a:rPr>
              <a:t>UL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finds draw at offset 0 in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ColorPoint’s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code vector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676F139-E9CF-49C2-ACCF-8E69FBDB8083}"/>
              </a:ext>
            </a:extLst>
          </p:cNvPr>
          <p:cNvSpPr txBox="1"/>
          <p:nvPr/>
        </p:nvSpPr>
        <p:spPr>
          <a:xfrm>
            <a:off x="6248400" y="2895600"/>
            <a:ext cx="2590800" cy="7381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If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ColorPoint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inherited draw from Point, its code vector would refer to Point’s draw.</a:t>
            </a:r>
          </a:p>
        </p:txBody>
      </p:sp>
      <p:grpSp>
        <p:nvGrpSpPr>
          <p:cNvPr id="22535" name="Group 146">
            <a:extLst>
              <a:ext uri="{FF2B5EF4-FFF2-40B4-BE49-F238E27FC236}">
                <a16:creationId xmlns:a16="http://schemas.microsoft.com/office/drawing/2014/main" id="{8EAF1E84-F2BE-41CB-981C-22A1A87D1CD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60763"/>
            <a:ext cx="7294563" cy="2611437"/>
            <a:chOff x="300567" y="3522133"/>
            <a:chExt cx="7294033" cy="2611967"/>
          </a:xfrm>
        </p:grpSpPr>
        <p:grpSp>
          <p:nvGrpSpPr>
            <p:cNvPr id="22536" name="Group 105">
              <a:extLst>
                <a:ext uri="{FF2B5EF4-FFF2-40B4-BE49-F238E27FC236}">
                  <a16:creationId xmlns:a16="http://schemas.microsoft.com/office/drawing/2014/main" id="{B3758BF8-B5A0-4A98-8D5F-3F864288B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9200" y="5029200"/>
              <a:ext cx="1219200" cy="1104900"/>
              <a:chOff x="838200" y="4381500"/>
              <a:chExt cx="1219200" cy="1104900"/>
            </a:xfrm>
          </p:grpSpPr>
          <p:sp>
            <p:nvSpPr>
              <p:cNvPr id="22601" name="Rectangle 81">
                <a:extLst>
                  <a:ext uri="{FF2B5EF4-FFF2-40B4-BE49-F238E27FC236}">
                    <a16:creationId xmlns:a16="http://schemas.microsoft.com/office/drawing/2014/main" id="{A48EE272-01A6-438B-9EAE-5C02EA786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573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602" name="Rectangle 84">
                <a:extLst>
                  <a:ext uri="{FF2B5EF4-FFF2-40B4-BE49-F238E27FC236}">
                    <a16:creationId xmlns:a16="http://schemas.microsoft.com/office/drawing/2014/main" id="{AC7818F8-B31A-4212-9F39-92531FB5A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8006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603" name="Rectangle 85">
                <a:extLst>
                  <a:ext uri="{FF2B5EF4-FFF2-40B4-BE49-F238E27FC236}">
                    <a16:creationId xmlns:a16="http://schemas.microsoft.com/office/drawing/2014/main" id="{8AB4AC4A-5D50-4E2A-8B50-FCE101109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029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604" name="Rectangle 86">
                <a:extLst>
                  <a:ext uri="{FF2B5EF4-FFF2-40B4-BE49-F238E27FC236}">
                    <a16:creationId xmlns:a16="http://schemas.microsoft.com/office/drawing/2014/main" id="{4A297F70-A72D-40F6-8E38-2CF0438F6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257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605" name="TextBox 87">
                <a:extLst>
                  <a:ext uri="{FF2B5EF4-FFF2-40B4-BE49-F238E27FC236}">
                    <a16:creationId xmlns:a16="http://schemas.microsoft.com/office/drawing/2014/main" id="{C651BCEE-6BD8-471E-A144-CFE3B0D66F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381500"/>
                <a:ext cx="41583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UL</a:t>
                </a:r>
              </a:p>
            </p:txBody>
          </p:sp>
          <p:sp>
            <p:nvSpPr>
              <p:cNvPr id="22606" name="TextBox 88">
                <a:extLst>
                  <a:ext uri="{FF2B5EF4-FFF2-40B4-BE49-F238E27FC236}">
                    <a16:creationId xmlns:a16="http://schemas.microsoft.com/office/drawing/2014/main" id="{E83FBB69-5932-48B1-A11B-906A3A0DF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7522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2607" name="TextBox 89">
                <a:extLst>
                  <a:ext uri="{FF2B5EF4-FFF2-40B4-BE49-F238E27FC236}">
                    <a16:creationId xmlns:a16="http://schemas.microsoft.com/office/drawing/2014/main" id="{10A47E30-23A9-4A96-9975-16659A3CE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980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2608" name="TextBox 90">
                <a:extLst>
                  <a:ext uri="{FF2B5EF4-FFF2-40B4-BE49-F238E27FC236}">
                    <a16:creationId xmlns:a16="http://schemas.microsoft.com/office/drawing/2014/main" id="{910F3811-2384-4EA2-94E9-C81B388B82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5209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</a:t>
                </a:r>
              </a:p>
            </p:txBody>
          </p:sp>
          <p:sp>
            <p:nvSpPr>
              <p:cNvPr id="22609" name="TextBox 103">
                <a:extLst>
                  <a:ext uri="{FF2B5EF4-FFF2-40B4-BE49-F238E27FC236}">
                    <a16:creationId xmlns:a16="http://schemas.microsoft.com/office/drawing/2014/main" id="{54A7D3E2-43FA-4C3F-99D7-3059F6C32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9200" y="45339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2537" name="Group 134">
              <a:extLst>
                <a:ext uri="{FF2B5EF4-FFF2-40B4-BE49-F238E27FC236}">
                  <a16:creationId xmlns:a16="http://schemas.microsoft.com/office/drawing/2014/main" id="{1B0017AF-6096-4366-96E5-756E9C59D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3657600"/>
              <a:ext cx="1473200" cy="1104900"/>
              <a:chOff x="4851400" y="3581400"/>
              <a:chExt cx="1473200" cy="1104900"/>
            </a:xfrm>
          </p:grpSpPr>
          <p:sp>
            <p:nvSpPr>
              <p:cNvPr id="22592" name="Rectangle 135">
                <a:extLst>
                  <a:ext uri="{FF2B5EF4-FFF2-40B4-BE49-F238E27FC236}">
                    <a16:creationId xmlns:a16="http://schemas.microsoft.com/office/drawing/2014/main" id="{FDCFA6F2-BDB9-4AD9-8292-7BB94B2DA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3773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93" name="Rectangle 136">
                <a:extLst>
                  <a:ext uri="{FF2B5EF4-FFF2-40B4-BE49-F238E27FC236}">
                    <a16:creationId xmlns:a16="http://schemas.microsoft.com/office/drawing/2014/main" id="{F4007E2E-31A4-4F4A-BD4D-97518BF71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0005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94" name="Rectangle 137">
                <a:extLst>
                  <a:ext uri="{FF2B5EF4-FFF2-40B4-BE49-F238E27FC236}">
                    <a16:creationId xmlns:a16="http://schemas.microsoft.com/office/drawing/2014/main" id="{5CB8B257-8F3E-4452-A994-E1BDB10F1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229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95" name="Rectangle 138">
                <a:extLst>
                  <a:ext uri="{FF2B5EF4-FFF2-40B4-BE49-F238E27FC236}">
                    <a16:creationId xmlns:a16="http://schemas.microsoft.com/office/drawing/2014/main" id="{2FC5B6CB-6523-41F6-ACF1-249D5EDCF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4577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96" name="TextBox 139">
                <a:extLst>
                  <a:ext uri="{FF2B5EF4-FFF2-40B4-BE49-F238E27FC236}">
                    <a16:creationId xmlns:a16="http://schemas.microsoft.com/office/drawing/2014/main" id="{6D8C45CE-18CA-444A-8449-031EB3E15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1400" y="3581400"/>
                <a:ext cx="60869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Class</a:t>
                </a:r>
              </a:p>
            </p:txBody>
          </p:sp>
          <p:sp>
            <p:nvSpPr>
              <p:cNvPr id="22597" name="TextBox 140">
                <a:extLst>
                  <a:ext uri="{FF2B5EF4-FFF2-40B4-BE49-F238E27FC236}">
                    <a16:creationId xmlns:a16="http://schemas.microsoft.com/office/drawing/2014/main" id="{65A89231-5172-46B6-95EF-74EDA50BDD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0" y="3952101"/>
                <a:ext cx="9906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superclass</a:t>
                </a:r>
              </a:p>
            </p:txBody>
          </p:sp>
          <p:sp>
            <p:nvSpPr>
              <p:cNvPr id="22598" name="TextBox 141">
                <a:extLst>
                  <a:ext uri="{FF2B5EF4-FFF2-40B4-BE49-F238E27FC236}">
                    <a16:creationId xmlns:a16="http://schemas.microsoft.com/office/drawing/2014/main" id="{438A969D-350E-4A2D-9FDA-FEBD73AAAC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1807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code</a:t>
                </a:r>
              </a:p>
            </p:txBody>
          </p:sp>
          <p:sp>
            <p:nvSpPr>
              <p:cNvPr id="22599" name="TextBox 142">
                <a:extLst>
                  <a:ext uri="{FF2B5EF4-FFF2-40B4-BE49-F238E27FC236}">
                    <a16:creationId xmlns:a16="http://schemas.microsoft.com/office/drawing/2014/main" id="{4DC48E4E-C2E8-4392-8EB6-2AE4FB938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381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…</a:t>
                </a:r>
              </a:p>
            </p:txBody>
          </p:sp>
          <p:sp>
            <p:nvSpPr>
              <p:cNvPr id="22600" name="TextBox 143">
                <a:extLst>
                  <a:ext uri="{FF2B5EF4-FFF2-40B4-BE49-F238E27FC236}">
                    <a16:creationId xmlns:a16="http://schemas.microsoft.com/office/drawing/2014/main" id="{8721F59F-1AAD-497D-A908-4DC60F6F9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37338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2538" name="Group 122">
              <a:extLst>
                <a:ext uri="{FF2B5EF4-FFF2-40B4-BE49-F238E27FC236}">
                  <a16:creationId xmlns:a16="http://schemas.microsoft.com/office/drawing/2014/main" id="{747829E0-E46D-4078-B24B-3E1F7BAA8F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600" y="3657600"/>
              <a:ext cx="3175000" cy="1104900"/>
              <a:chOff x="3073400" y="4457700"/>
              <a:chExt cx="3175000" cy="1104900"/>
            </a:xfrm>
          </p:grpSpPr>
          <p:grpSp>
            <p:nvGrpSpPr>
              <p:cNvPr id="22576" name="Group 104">
                <a:extLst>
                  <a:ext uri="{FF2B5EF4-FFF2-40B4-BE49-F238E27FC236}">
                    <a16:creationId xmlns:a16="http://schemas.microsoft.com/office/drawing/2014/main" id="{8D0C9AE2-98CF-4AD5-9D74-64235A9E1A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3400" y="4457700"/>
                <a:ext cx="1905000" cy="1104900"/>
                <a:chOff x="2895600" y="4381500"/>
                <a:chExt cx="1905000" cy="1104900"/>
              </a:xfrm>
            </p:grpSpPr>
            <p:sp>
              <p:nvSpPr>
                <p:cNvPr id="22583" name="Rectangle 94">
                  <a:extLst>
                    <a:ext uri="{FF2B5EF4-FFF2-40B4-BE49-F238E27FC236}">
                      <a16:creationId xmlns:a16="http://schemas.microsoft.com/office/drawing/2014/main" id="{C7123935-A843-4990-A30D-E84DC7F9DD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573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84" name="Rectangle 95">
                  <a:extLst>
                    <a:ext uri="{FF2B5EF4-FFF2-40B4-BE49-F238E27FC236}">
                      <a16:creationId xmlns:a16="http://schemas.microsoft.com/office/drawing/2014/main" id="{54C9154B-D501-4B9A-8E18-B0D516632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801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85" name="Rectangle 96">
                  <a:extLst>
                    <a:ext uri="{FF2B5EF4-FFF2-40B4-BE49-F238E27FC236}">
                      <a16:creationId xmlns:a16="http://schemas.microsoft.com/office/drawing/2014/main" id="{41DA1989-5ABD-460E-AFDB-65DC20A42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029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86" name="Rectangle 97">
                  <a:extLst>
                    <a:ext uri="{FF2B5EF4-FFF2-40B4-BE49-F238E27FC236}">
                      <a16:creationId xmlns:a16="http://schemas.microsoft.com/office/drawing/2014/main" id="{171F7B72-5608-4913-8B35-015C85A529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257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87" name="TextBox 98">
                  <a:extLst>
                    <a:ext uri="{FF2B5EF4-FFF2-40B4-BE49-F238E27FC236}">
                      <a16:creationId xmlns:a16="http://schemas.microsoft.com/office/drawing/2014/main" id="{4C6FA225-DDCB-4917-BD9F-FE51D840EB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5600" y="4381500"/>
                  <a:ext cx="1033869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ColorPoint</a:t>
                  </a:r>
                </a:p>
              </p:txBody>
            </p:sp>
            <p:sp>
              <p:nvSpPr>
                <p:cNvPr id="22588" name="TextBox 99">
                  <a:extLst>
                    <a:ext uri="{FF2B5EF4-FFF2-40B4-BE49-F238E27FC236}">
                      <a16:creationId xmlns:a16="http://schemas.microsoft.com/office/drawing/2014/main" id="{A8177ADA-F245-485F-9C7A-874DF22EF9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10000" y="47522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2589" name="TextBox 100">
                  <a:extLst>
                    <a:ext uri="{FF2B5EF4-FFF2-40B4-BE49-F238E27FC236}">
                      <a16:creationId xmlns:a16="http://schemas.microsoft.com/office/drawing/2014/main" id="{7EAF3278-35A0-4B80-A514-5DE46E3AED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980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2590" name="TextBox 101">
                  <a:extLst>
                    <a:ext uri="{FF2B5EF4-FFF2-40B4-BE49-F238E27FC236}">
                      <a16:creationId xmlns:a16="http://schemas.microsoft.com/office/drawing/2014/main" id="{43FEE8F5-B785-45C7-941F-1FCD2BC1B4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51816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2591" name="TextBox 102">
                  <a:extLst>
                    <a:ext uri="{FF2B5EF4-FFF2-40B4-BE49-F238E27FC236}">
                      <a16:creationId xmlns:a16="http://schemas.microsoft.com/office/drawing/2014/main" id="{EA89D666-0B93-4DC7-B6B0-B48A291956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5339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grpSp>
            <p:nvGrpSpPr>
              <p:cNvPr id="22577" name="Group 177">
                <a:extLst>
                  <a:ext uri="{FF2B5EF4-FFF2-40B4-BE49-F238E27FC236}">
                    <a16:creationId xmlns:a16="http://schemas.microsoft.com/office/drawing/2014/main" id="{2A84B9F8-18AB-43F0-80DD-3DA9222F1E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10200" y="5041900"/>
                <a:ext cx="838200" cy="495300"/>
                <a:chOff x="5791200" y="5308600"/>
                <a:chExt cx="838200" cy="495300"/>
              </a:xfrm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978811AB-9B41-46E9-A407-99744E926E61}"/>
                    </a:ext>
                  </a:extLst>
                </p:cNvPr>
                <p:cNvSpPr/>
                <p:nvPr/>
              </p:nvSpPr>
              <p:spPr bwMode="auto">
                <a:xfrm>
                  <a:off x="5791261" y="5347911"/>
                  <a:ext cx="838139" cy="228646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7EE0766F-7E17-4809-BFCC-880255904697}"/>
                    </a:ext>
                  </a:extLst>
                </p:cNvPr>
                <p:cNvSpPr/>
                <p:nvPr/>
              </p:nvSpPr>
              <p:spPr bwMode="auto">
                <a:xfrm>
                  <a:off x="5791261" y="5574969"/>
                  <a:ext cx="838139" cy="228646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2581" name="TextBox 170">
                  <a:extLst>
                    <a:ext uri="{FF2B5EF4-FFF2-40B4-BE49-F238E27FC236}">
                      <a16:creationId xmlns:a16="http://schemas.microsoft.com/office/drawing/2014/main" id="{CC40F25E-FB58-42CA-A9AA-3E0874BB42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400" y="5526901"/>
                  <a:ext cx="6858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test</a:t>
                  </a:r>
                </a:p>
              </p:txBody>
            </p:sp>
            <p:sp>
              <p:nvSpPr>
                <p:cNvPr id="22582" name="TextBox 173">
                  <a:extLst>
                    <a:ext uri="{FF2B5EF4-FFF2-40B4-BE49-F238E27FC236}">
                      <a16:creationId xmlns:a16="http://schemas.microsoft.com/office/drawing/2014/main" id="{CD40354B-8899-48BB-9852-C4D43E5513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400" y="5308600"/>
                  <a:ext cx="6858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draw</a:t>
                  </a:r>
                </a:p>
              </p:txBody>
            </p:sp>
          </p:grpSp>
          <p:cxnSp>
            <p:nvCxnSpPr>
              <p:cNvPr id="22578" name="Straight Arrow Connector 176">
                <a:extLst>
                  <a:ext uri="{FF2B5EF4-FFF2-40B4-BE49-F238E27FC236}">
                    <a16:creationId xmlns:a16="http://schemas.microsoft.com/office/drawing/2014/main" id="{D83106E0-012D-4843-A977-5EBA93720A16}"/>
                  </a:ext>
                </a:extLst>
              </p:cNvPr>
              <p:cNvCxnSpPr>
                <a:cxnSpLocks noChangeShapeType="1"/>
                <a:stCxn id="22589" idx="3"/>
                <a:endCxn id="166" idx="1"/>
              </p:cNvCxnSpPr>
              <p:nvPr/>
            </p:nvCxnSpPr>
            <p:spPr bwMode="auto">
              <a:xfrm flipV="1">
                <a:off x="4902200" y="5195500"/>
                <a:ext cx="508000" cy="1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22539" name="Group 73">
              <a:extLst>
                <a:ext uri="{FF2B5EF4-FFF2-40B4-BE49-F238E27FC236}">
                  <a16:creationId xmlns:a16="http://schemas.microsoft.com/office/drawing/2014/main" id="{589C6C7E-17C6-4F39-88BE-CB0F8A7C8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8000" y="4178300"/>
              <a:ext cx="457200" cy="153194"/>
              <a:chOff x="1981200" y="4292600"/>
              <a:chExt cx="457200" cy="153194"/>
            </a:xfrm>
          </p:grpSpPr>
          <p:cxnSp>
            <p:nvCxnSpPr>
              <p:cNvPr id="22572" name="Straight Connector 147">
                <a:extLst>
                  <a:ext uri="{FF2B5EF4-FFF2-40B4-BE49-F238E27FC236}">
                    <a16:creationId xmlns:a16="http://schemas.microsoft.com/office/drawing/2014/main" id="{756F4DA5-DDB9-42D7-AAB1-90C8C8A328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81200" y="4292600"/>
                <a:ext cx="381000" cy="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73" name="Straight Connector 149">
                <a:extLst>
                  <a:ext uri="{FF2B5EF4-FFF2-40B4-BE49-F238E27FC236}">
                    <a16:creationId xmlns:a16="http://schemas.microsoft.com/office/drawing/2014/main" id="{800481A6-1F90-43A4-B90F-02B7EB4513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74" name="Straight Connector 151">
                <a:extLst>
                  <a:ext uri="{FF2B5EF4-FFF2-40B4-BE49-F238E27FC236}">
                    <a16:creationId xmlns:a16="http://schemas.microsoft.com/office/drawing/2014/main" id="{1EE23224-11C8-44AC-856A-794BB3F1459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75" name="Straight Connector 72">
                <a:extLst>
                  <a:ext uri="{FF2B5EF4-FFF2-40B4-BE49-F238E27FC236}">
                    <a16:creationId xmlns:a16="http://schemas.microsoft.com/office/drawing/2014/main" id="{CC32B64A-F545-4396-A4FC-087BE35E443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15210" y="4406900"/>
                <a:ext cx="9144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22540" name="Group 121">
              <a:extLst>
                <a:ext uri="{FF2B5EF4-FFF2-40B4-BE49-F238E27FC236}">
                  <a16:creationId xmlns:a16="http://schemas.microsoft.com/office/drawing/2014/main" id="{5A1F5B7E-84D4-4FAF-B744-179D68108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0600" y="3657600"/>
              <a:ext cx="2616200" cy="1104900"/>
              <a:chOff x="5257800" y="4114800"/>
              <a:chExt cx="2616200" cy="1104900"/>
            </a:xfrm>
          </p:grpSpPr>
          <p:grpSp>
            <p:nvGrpSpPr>
              <p:cNvPr id="22554" name="Group 124">
                <a:extLst>
                  <a:ext uri="{FF2B5EF4-FFF2-40B4-BE49-F238E27FC236}">
                    <a16:creationId xmlns:a16="http://schemas.microsoft.com/office/drawing/2014/main" id="{864DC76A-701F-436B-AC26-F86CE6A6E3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57800" y="4114800"/>
                <a:ext cx="1473200" cy="1104900"/>
                <a:chOff x="4851400" y="3581400"/>
                <a:chExt cx="1473200" cy="1104900"/>
              </a:xfrm>
            </p:grpSpPr>
            <p:sp>
              <p:nvSpPr>
                <p:cNvPr id="22563" name="Rectangle 109">
                  <a:extLst>
                    <a:ext uri="{FF2B5EF4-FFF2-40B4-BE49-F238E27FC236}">
                      <a16:creationId xmlns:a16="http://schemas.microsoft.com/office/drawing/2014/main" id="{80C9C53C-F895-4D8B-BFB3-30681319A3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3773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64" name="Rectangle 110">
                  <a:extLst>
                    <a:ext uri="{FF2B5EF4-FFF2-40B4-BE49-F238E27FC236}">
                      <a16:creationId xmlns:a16="http://schemas.microsoft.com/office/drawing/2014/main" id="{00295379-6DB5-43C5-9BA1-0D55725E8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0005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65" name="Rectangle 111">
                  <a:extLst>
                    <a:ext uri="{FF2B5EF4-FFF2-40B4-BE49-F238E27FC236}">
                      <a16:creationId xmlns:a16="http://schemas.microsoft.com/office/drawing/2014/main" id="{EC236C38-5FE8-4466-8806-0F1A0EEC4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229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66" name="Rectangle 112">
                  <a:extLst>
                    <a:ext uri="{FF2B5EF4-FFF2-40B4-BE49-F238E27FC236}">
                      <a16:creationId xmlns:a16="http://schemas.microsoft.com/office/drawing/2014/main" id="{79881D30-86B7-49CE-A2F8-B1AC2EA755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4577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2567" name="TextBox 113">
                  <a:extLst>
                    <a:ext uri="{FF2B5EF4-FFF2-40B4-BE49-F238E27FC236}">
                      <a16:creationId xmlns:a16="http://schemas.microsoft.com/office/drawing/2014/main" id="{8A6F8B2B-60CC-4CEC-8F96-6CBDBEA16B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400" y="3581400"/>
                  <a:ext cx="601422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Point</a:t>
                  </a:r>
                </a:p>
              </p:txBody>
            </p:sp>
            <p:sp>
              <p:nvSpPr>
                <p:cNvPr id="22568" name="TextBox 114">
                  <a:extLst>
                    <a:ext uri="{FF2B5EF4-FFF2-40B4-BE49-F238E27FC236}">
                      <a16:creationId xmlns:a16="http://schemas.microsoft.com/office/drawing/2014/main" id="{43580E4B-2119-49BF-8D99-64B5016372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34000" y="39521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2569" name="TextBox 115">
                  <a:extLst>
                    <a:ext uri="{FF2B5EF4-FFF2-40B4-BE49-F238E27FC236}">
                      <a16:creationId xmlns:a16="http://schemas.microsoft.com/office/drawing/2014/main" id="{84F97400-A9ED-4058-9D08-5481A8EAA6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1807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2570" name="TextBox 116">
                  <a:extLst>
                    <a:ext uri="{FF2B5EF4-FFF2-40B4-BE49-F238E27FC236}">
                      <a16:creationId xmlns:a16="http://schemas.microsoft.com/office/drawing/2014/main" id="{4CC43F2F-1D90-4D9F-9304-CE5D3CE68E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3815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2571" name="TextBox 117">
                  <a:extLst>
                    <a:ext uri="{FF2B5EF4-FFF2-40B4-BE49-F238E27FC236}">
                      <a16:creationId xmlns:a16="http://schemas.microsoft.com/office/drawing/2014/main" id="{508F6FF8-87C3-4D1E-9356-BD2BE7919D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3733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46A59D3-FFD4-4A93-B101-CA3F8708AD9F}"/>
                  </a:ext>
                </a:extLst>
              </p:cNvPr>
              <p:cNvSpPr/>
              <p:nvPr/>
            </p:nvSpPr>
            <p:spPr bwMode="auto">
              <a:xfrm>
                <a:off x="7036059" y="4981248"/>
                <a:ext cx="838139" cy="22864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22556" name="TextBox 182">
                <a:extLst>
                  <a:ext uri="{FF2B5EF4-FFF2-40B4-BE49-F238E27FC236}">
                    <a16:creationId xmlns:a16="http://schemas.microsoft.com/office/drawing/2014/main" id="{74FF51E1-81B4-4462-B6CF-3FDBAA291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2000" y="4942701"/>
                <a:ext cx="6858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draw</a:t>
                </a:r>
              </a:p>
            </p:txBody>
          </p:sp>
          <p:cxnSp>
            <p:nvCxnSpPr>
              <p:cNvPr id="22557" name="Straight Arrow Connector 184">
                <a:extLst>
                  <a:ext uri="{FF2B5EF4-FFF2-40B4-BE49-F238E27FC236}">
                    <a16:creationId xmlns:a16="http://schemas.microsoft.com/office/drawing/2014/main" id="{EFE2CF0E-3738-419D-AF88-2A8CEF2F614A}"/>
                  </a:ext>
                </a:extLst>
              </p:cNvPr>
              <p:cNvCxnSpPr>
                <a:cxnSpLocks noChangeShapeType="1"/>
                <a:stCxn id="22569" idx="3"/>
                <a:endCxn id="180" idx="1"/>
              </p:cNvCxnSpPr>
              <p:nvPr/>
            </p:nvCxnSpPr>
            <p:spPr bwMode="auto">
              <a:xfrm>
                <a:off x="6654800" y="4852601"/>
                <a:ext cx="381000" cy="243700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22558" name="Group 74">
                <a:extLst>
                  <a:ext uri="{FF2B5EF4-FFF2-40B4-BE49-F238E27FC236}">
                    <a16:creationId xmlns:a16="http://schemas.microsoft.com/office/drawing/2014/main" id="{6A746DBF-4744-40D1-95B9-CD6CF15C54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54800" y="4628356"/>
                <a:ext cx="457200" cy="153194"/>
                <a:chOff x="1981200" y="4292600"/>
                <a:chExt cx="457200" cy="153194"/>
              </a:xfrm>
            </p:grpSpPr>
            <p:cxnSp>
              <p:nvCxnSpPr>
                <p:cNvPr id="22559" name="Straight Connector 75">
                  <a:extLst>
                    <a:ext uri="{FF2B5EF4-FFF2-40B4-BE49-F238E27FC236}">
                      <a16:creationId xmlns:a16="http://schemas.microsoft.com/office/drawing/2014/main" id="{1A0785DB-4667-4B97-865E-BD476574557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81200" y="4292600"/>
                  <a:ext cx="381000" cy="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560" name="Straight Connector 76">
                  <a:extLst>
                    <a:ext uri="{FF2B5EF4-FFF2-40B4-BE49-F238E27FC236}">
                      <a16:creationId xmlns:a16="http://schemas.microsoft.com/office/drawing/2014/main" id="{13697942-3BE5-4E5B-9839-49330AD9484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561" name="Straight Connector 77">
                  <a:extLst>
                    <a:ext uri="{FF2B5EF4-FFF2-40B4-BE49-F238E27FC236}">
                      <a16:creationId xmlns:a16="http://schemas.microsoft.com/office/drawing/2014/main" id="{9EF716BF-E7D2-47D9-9623-CEE2D9CEC9D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562" name="Straight Connector 78">
                  <a:extLst>
                    <a:ext uri="{FF2B5EF4-FFF2-40B4-BE49-F238E27FC236}">
                      <a16:creationId xmlns:a16="http://schemas.microsoft.com/office/drawing/2014/main" id="{09DDF533-6BAC-48FC-9A83-51E8380D609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315210" y="4406900"/>
                  <a:ext cx="9144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2541" name="Group 118">
              <a:extLst>
                <a:ext uri="{FF2B5EF4-FFF2-40B4-BE49-F238E27FC236}">
                  <a16:creationId xmlns:a16="http://schemas.microsoft.com/office/drawing/2014/main" id="{0EFEAE39-9817-4135-A231-C7556FE133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200" y="5105400"/>
              <a:ext cx="1219200" cy="876300"/>
              <a:chOff x="6858000" y="5372100"/>
              <a:chExt cx="1219200" cy="876300"/>
            </a:xfrm>
          </p:grpSpPr>
          <p:sp>
            <p:nvSpPr>
              <p:cNvPr id="22547" name="Rectangle 79">
                <a:extLst>
                  <a:ext uri="{FF2B5EF4-FFF2-40B4-BE49-F238E27FC236}">
                    <a16:creationId xmlns:a16="http://schemas.microsoft.com/office/drawing/2014/main" id="{3A3A4157-DA41-4D7C-9A0C-DB4E64E18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563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48" name="Rectangle 80">
                <a:extLst>
                  <a:ext uri="{FF2B5EF4-FFF2-40B4-BE49-F238E27FC236}">
                    <a16:creationId xmlns:a16="http://schemas.microsoft.com/office/drawing/2014/main" id="{31727433-CE1A-4533-A8BC-B24FC430A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791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49" name="Rectangle 82">
                <a:extLst>
                  <a:ext uri="{FF2B5EF4-FFF2-40B4-BE49-F238E27FC236}">
                    <a16:creationId xmlns:a16="http://schemas.microsoft.com/office/drawing/2014/main" id="{375F4D34-312D-4856-8AB4-291923093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6019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2550" name="TextBox 91">
                <a:extLst>
                  <a:ext uri="{FF2B5EF4-FFF2-40B4-BE49-F238E27FC236}">
                    <a16:creationId xmlns:a16="http://schemas.microsoft.com/office/drawing/2014/main" id="{C5FEBF0F-DA1C-4B4E-9892-15A6BEA26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0" y="5372100"/>
                <a:ext cx="39637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LR</a:t>
                </a:r>
              </a:p>
            </p:txBody>
          </p:sp>
          <p:sp>
            <p:nvSpPr>
              <p:cNvPr id="22551" name="TextBox 92">
                <a:extLst>
                  <a:ext uri="{FF2B5EF4-FFF2-40B4-BE49-F238E27FC236}">
                    <a16:creationId xmlns:a16="http://schemas.microsoft.com/office/drawing/2014/main" id="{E92145B4-C143-4B84-B305-E779C2AD4D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742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2552" name="TextBox 93">
                <a:extLst>
                  <a:ext uri="{FF2B5EF4-FFF2-40B4-BE49-F238E27FC236}">
                    <a16:creationId xmlns:a16="http://schemas.microsoft.com/office/drawing/2014/main" id="{22FD81A8-6CFB-424C-90A9-E327031D23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971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2553" name="TextBox 108">
                <a:extLst>
                  <a:ext uri="{FF2B5EF4-FFF2-40B4-BE49-F238E27FC236}">
                    <a16:creationId xmlns:a16="http://schemas.microsoft.com/office/drawing/2014/main" id="{85EF35EB-2E59-450F-971D-3C449EE95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39000" y="5524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cxnSp>
          <p:nvCxnSpPr>
            <p:cNvPr id="22542" name="Straight Arrow Connector 127">
              <a:extLst>
                <a:ext uri="{FF2B5EF4-FFF2-40B4-BE49-F238E27FC236}">
                  <a16:creationId xmlns:a16="http://schemas.microsoft.com/office/drawing/2014/main" id="{D8C8A640-D4AD-4D93-A05F-48EACFFF648F}"/>
                </a:ext>
              </a:extLst>
            </p:cNvPr>
            <p:cNvCxnSpPr>
              <a:cxnSpLocks noChangeShapeType="1"/>
              <a:stCxn id="22571" idx="1"/>
            </p:cNvCxnSpPr>
            <p:nvPr/>
          </p:nvCxnSpPr>
          <p:spPr bwMode="auto">
            <a:xfrm rot="10800000" flipV="1">
              <a:off x="1765300" y="3948500"/>
              <a:ext cx="1054100" cy="138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43" name="Freeform 128">
              <a:extLst>
                <a:ext uri="{FF2B5EF4-FFF2-40B4-BE49-F238E27FC236}">
                  <a16:creationId xmlns:a16="http://schemas.microsoft.com/office/drawing/2014/main" id="{1793F5D7-8369-4B0D-8F65-8BD3A1A14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67" y="3522133"/>
              <a:ext cx="829733" cy="448734"/>
            </a:xfrm>
            <a:custGeom>
              <a:avLst/>
              <a:gdLst>
                <a:gd name="T0" fmla="*/ 626533 w 829733"/>
                <a:gd name="T1" fmla="*/ 440267 h 448734"/>
                <a:gd name="T2" fmla="*/ 270933 w 829733"/>
                <a:gd name="T3" fmla="*/ 440267 h 448734"/>
                <a:gd name="T4" fmla="*/ 42333 w 829733"/>
                <a:gd name="T5" fmla="*/ 389467 h 448734"/>
                <a:gd name="T6" fmla="*/ 55033 w 829733"/>
                <a:gd name="T7" fmla="*/ 97367 h 448734"/>
                <a:gd name="T8" fmla="*/ 372533 w 829733"/>
                <a:gd name="T9" fmla="*/ 33867 h 448734"/>
                <a:gd name="T10" fmla="*/ 829733 w 829733"/>
                <a:gd name="T11" fmla="*/ 300567 h 4487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29733"/>
                <a:gd name="T19" fmla="*/ 0 h 448734"/>
                <a:gd name="T20" fmla="*/ 829733 w 829733"/>
                <a:gd name="T21" fmla="*/ 448734 h 4487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29733" h="448734">
                  <a:moveTo>
                    <a:pt x="626533" y="440267"/>
                  </a:moveTo>
                  <a:cubicBezTo>
                    <a:pt x="497416" y="444500"/>
                    <a:pt x="368300" y="448734"/>
                    <a:pt x="270933" y="440267"/>
                  </a:cubicBezTo>
                  <a:cubicBezTo>
                    <a:pt x="173566" y="431800"/>
                    <a:pt x="78316" y="446617"/>
                    <a:pt x="42333" y="389467"/>
                  </a:cubicBezTo>
                  <a:cubicBezTo>
                    <a:pt x="6350" y="332317"/>
                    <a:pt x="0" y="156634"/>
                    <a:pt x="55033" y="97367"/>
                  </a:cubicBezTo>
                  <a:cubicBezTo>
                    <a:pt x="110066" y="38100"/>
                    <a:pt x="243416" y="0"/>
                    <a:pt x="372533" y="33867"/>
                  </a:cubicBezTo>
                  <a:cubicBezTo>
                    <a:pt x="501650" y="67734"/>
                    <a:pt x="829733" y="300567"/>
                    <a:pt x="829733" y="300567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22544" name="Straight Arrow Connector 132">
              <a:extLst>
                <a:ext uri="{FF2B5EF4-FFF2-40B4-BE49-F238E27FC236}">
                  <a16:creationId xmlns:a16="http://schemas.microsoft.com/office/drawing/2014/main" id="{4E0A42AC-895F-4E8C-B007-216534783D53}"/>
                </a:ext>
              </a:extLst>
            </p:cNvPr>
            <p:cNvCxnSpPr>
              <a:cxnSpLocks noChangeShapeType="1"/>
              <a:stCxn id="22584" idx="1"/>
              <a:endCxn id="22571" idx="3"/>
            </p:cNvCxnSpPr>
            <p:nvPr/>
          </p:nvCxnSpPr>
          <p:spPr bwMode="auto">
            <a:xfrm rot="10800000">
              <a:off x="3657600" y="3948502"/>
              <a:ext cx="1752600" cy="2436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45" name="Freeform 133">
              <a:extLst>
                <a:ext uri="{FF2B5EF4-FFF2-40B4-BE49-F238E27FC236}">
                  <a16:creationId xmlns:a16="http://schemas.microsoft.com/office/drawing/2014/main" id="{810DCB4F-80B3-4E7D-BCBD-DC2540B65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700" y="4013200"/>
              <a:ext cx="508000" cy="1443567"/>
            </a:xfrm>
            <a:custGeom>
              <a:avLst/>
              <a:gdLst>
                <a:gd name="T0" fmla="*/ 444500 w 508000"/>
                <a:gd name="T1" fmla="*/ 1384300 h 1443567"/>
                <a:gd name="T2" fmla="*/ 114300 w 508000"/>
                <a:gd name="T3" fmla="*/ 1409700 h 1443567"/>
                <a:gd name="T4" fmla="*/ 0 w 508000"/>
                <a:gd name="T5" fmla="*/ 1181100 h 1443567"/>
                <a:gd name="T6" fmla="*/ 114300 w 508000"/>
                <a:gd name="T7" fmla="*/ 584200 h 1443567"/>
                <a:gd name="T8" fmla="*/ 508000 w 508000"/>
                <a:gd name="T9" fmla="*/ 0 h 1443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8000"/>
                <a:gd name="T16" fmla="*/ 0 h 1443567"/>
                <a:gd name="T17" fmla="*/ 508000 w 508000"/>
                <a:gd name="T18" fmla="*/ 1443567 h 1443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8000" h="1443567">
                  <a:moveTo>
                    <a:pt x="444500" y="1384300"/>
                  </a:moveTo>
                  <a:cubicBezTo>
                    <a:pt x="316441" y="1413933"/>
                    <a:pt x="188383" y="1443567"/>
                    <a:pt x="114300" y="1409700"/>
                  </a:cubicBezTo>
                  <a:cubicBezTo>
                    <a:pt x="40217" y="1375833"/>
                    <a:pt x="0" y="1318683"/>
                    <a:pt x="0" y="1181100"/>
                  </a:cubicBezTo>
                  <a:cubicBezTo>
                    <a:pt x="0" y="1043517"/>
                    <a:pt x="29633" y="781050"/>
                    <a:pt x="114300" y="584200"/>
                  </a:cubicBezTo>
                  <a:cubicBezTo>
                    <a:pt x="198967" y="387350"/>
                    <a:pt x="508000" y="0"/>
                    <a:pt x="50800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2546" name="Freeform 144">
              <a:extLst>
                <a:ext uri="{FF2B5EF4-FFF2-40B4-BE49-F238E27FC236}">
                  <a16:creationId xmlns:a16="http://schemas.microsoft.com/office/drawing/2014/main" id="{14AA5CA5-43B6-4751-981B-CB1AA8E8A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150" y="3975100"/>
              <a:ext cx="527050" cy="1445683"/>
            </a:xfrm>
            <a:custGeom>
              <a:avLst/>
              <a:gdLst>
                <a:gd name="T0" fmla="*/ 527050 w 527050"/>
                <a:gd name="T1" fmla="*/ 1358900 h 1445683"/>
                <a:gd name="T2" fmla="*/ 260350 w 527050"/>
                <a:gd name="T3" fmla="*/ 1422400 h 1445683"/>
                <a:gd name="T4" fmla="*/ 19050 w 527050"/>
                <a:gd name="T5" fmla="*/ 1219200 h 1445683"/>
                <a:gd name="T6" fmla="*/ 146050 w 527050"/>
                <a:gd name="T7" fmla="*/ 495300 h 1445683"/>
                <a:gd name="T8" fmla="*/ 527050 w 527050"/>
                <a:gd name="T9" fmla="*/ 0 h 1445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7050"/>
                <a:gd name="T16" fmla="*/ 0 h 1445683"/>
                <a:gd name="T17" fmla="*/ 527050 w 527050"/>
                <a:gd name="T18" fmla="*/ 1445683 h 14456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7050" h="1445683">
                  <a:moveTo>
                    <a:pt x="527050" y="1358900"/>
                  </a:moveTo>
                  <a:cubicBezTo>
                    <a:pt x="436033" y="1402291"/>
                    <a:pt x="345017" y="1445683"/>
                    <a:pt x="260350" y="1422400"/>
                  </a:cubicBezTo>
                  <a:cubicBezTo>
                    <a:pt x="175683" y="1399117"/>
                    <a:pt x="38100" y="1373717"/>
                    <a:pt x="19050" y="1219200"/>
                  </a:cubicBezTo>
                  <a:cubicBezTo>
                    <a:pt x="0" y="1064683"/>
                    <a:pt x="61383" y="698500"/>
                    <a:pt x="146050" y="495300"/>
                  </a:cubicBezTo>
                  <a:cubicBezTo>
                    <a:pt x="230717" y="292100"/>
                    <a:pt x="527050" y="0"/>
                    <a:pt x="52705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D0AB9C12-A57C-43DE-8F7C-F77EECCF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Code Members?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0CFF-E80C-44BD-B592-E1575CAF5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How does the language’s runtime environment find the code for a given method invocation?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Open Class Structure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Dynamic mapping, unknown until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In general case, need runtime representation of hierarchy</a:t>
            </a:r>
          </a:p>
          <a:p>
            <a:pPr lvl="1">
              <a:defRPr/>
            </a:pPr>
            <a:r>
              <a:rPr lang="en-US" dirty="0"/>
              <a:t>Lookup by textual name in class’ table of methods</a:t>
            </a:r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F7D5B8F2-7268-4016-A82A-8999927D5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D38A2A0A-E803-4908-AD6F-E3A1AE9AA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260668-AED8-4BA4-87DB-3B00A9E7D2D9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749967-0A0A-4365-9440-3828AED5A4C3}"/>
              </a:ext>
            </a:extLst>
          </p:cNvPr>
          <p:cNvSpPr txBox="1"/>
          <p:nvPr/>
        </p:nvSpPr>
        <p:spPr>
          <a:xfrm>
            <a:off x="685800" y="6248400"/>
            <a:ext cx="4572000" cy="3079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Geneva"/>
                <a:ea typeface="ヒラギノ角ゴ Pro W3" charset="-128"/>
                <a:cs typeface="Geneva"/>
              </a:rPr>
              <a:t>UL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finds draw at offset 0 in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ColorPoint’s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code vector</a:t>
            </a:r>
          </a:p>
        </p:txBody>
      </p:sp>
      <p:grpSp>
        <p:nvGrpSpPr>
          <p:cNvPr id="24582" name="Group 175">
            <a:extLst>
              <a:ext uri="{FF2B5EF4-FFF2-40B4-BE49-F238E27FC236}">
                <a16:creationId xmlns:a16="http://schemas.microsoft.com/office/drawing/2014/main" id="{17BEE2B7-90FF-4B3A-B421-9BAFBB1A362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60763"/>
            <a:ext cx="7912100" cy="2611437"/>
            <a:chOff x="762000" y="3560233"/>
            <a:chExt cx="7912100" cy="2611967"/>
          </a:xfrm>
        </p:grpSpPr>
        <p:grpSp>
          <p:nvGrpSpPr>
            <p:cNvPr id="24583" name="Group 105">
              <a:extLst>
                <a:ext uri="{FF2B5EF4-FFF2-40B4-BE49-F238E27FC236}">
                  <a16:creationId xmlns:a16="http://schemas.microsoft.com/office/drawing/2014/main" id="{6E851B21-997F-4E33-B8C3-570612236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0633" y="5067300"/>
              <a:ext cx="1219200" cy="1104900"/>
              <a:chOff x="838200" y="4381500"/>
              <a:chExt cx="1219200" cy="1104900"/>
            </a:xfrm>
          </p:grpSpPr>
          <p:sp>
            <p:nvSpPr>
              <p:cNvPr id="24651" name="Rectangle 156">
                <a:extLst>
                  <a:ext uri="{FF2B5EF4-FFF2-40B4-BE49-F238E27FC236}">
                    <a16:creationId xmlns:a16="http://schemas.microsoft.com/office/drawing/2014/main" id="{8D6FAC37-560A-4763-9ED0-B4FD70253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573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52" name="Rectangle 157">
                <a:extLst>
                  <a:ext uri="{FF2B5EF4-FFF2-40B4-BE49-F238E27FC236}">
                    <a16:creationId xmlns:a16="http://schemas.microsoft.com/office/drawing/2014/main" id="{488E4359-5DFE-49C5-BB0C-E23D95A23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8006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53" name="Rectangle 158">
                <a:extLst>
                  <a:ext uri="{FF2B5EF4-FFF2-40B4-BE49-F238E27FC236}">
                    <a16:creationId xmlns:a16="http://schemas.microsoft.com/office/drawing/2014/main" id="{55BA90C7-BEAB-4924-B4FA-2BD577D6F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029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54" name="Rectangle 159">
                <a:extLst>
                  <a:ext uri="{FF2B5EF4-FFF2-40B4-BE49-F238E27FC236}">
                    <a16:creationId xmlns:a16="http://schemas.microsoft.com/office/drawing/2014/main" id="{EBBE7CD7-FE37-431A-B60C-BAEA6D987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257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55" name="TextBox 160">
                <a:extLst>
                  <a:ext uri="{FF2B5EF4-FFF2-40B4-BE49-F238E27FC236}">
                    <a16:creationId xmlns:a16="http://schemas.microsoft.com/office/drawing/2014/main" id="{9CA30575-689E-4B09-8F94-B7A39A1C9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381500"/>
                <a:ext cx="41583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UL</a:t>
                </a:r>
              </a:p>
            </p:txBody>
          </p:sp>
          <p:sp>
            <p:nvSpPr>
              <p:cNvPr id="24656" name="TextBox 161">
                <a:extLst>
                  <a:ext uri="{FF2B5EF4-FFF2-40B4-BE49-F238E27FC236}">
                    <a16:creationId xmlns:a16="http://schemas.microsoft.com/office/drawing/2014/main" id="{D1491F62-45D1-411C-9686-140BDF984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7522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4657" name="TextBox 162">
                <a:extLst>
                  <a:ext uri="{FF2B5EF4-FFF2-40B4-BE49-F238E27FC236}">
                    <a16:creationId xmlns:a16="http://schemas.microsoft.com/office/drawing/2014/main" id="{7403CE02-24F7-46C9-85CA-11807BBB3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980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4658" name="TextBox 163">
                <a:extLst>
                  <a:ext uri="{FF2B5EF4-FFF2-40B4-BE49-F238E27FC236}">
                    <a16:creationId xmlns:a16="http://schemas.microsoft.com/office/drawing/2014/main" id="{8A1DAC67-688E-43FB-8FAF-2B4BF00B10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5209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</a:t>
                </a:r>
              </a:p>
            </p:txBody>
          </p:sp>
          <p:sp>
            <p:nvSpPr>
              <p:cNvPr id="24659" name="TextBox 164">
                <a:extLst>
                  <a:ext uri="{FF2B5EF4-FFF2-40B4-BE49-F238E27FC236}">
                    <a16:creationId xmlns:a16="http://schemas.microsoft.com/office/drawing/2014/main" id="{FE8E07C2-3AE1-45D1-82BA-28A5631583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9200" y="45339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4584" name="Group 134">
              <a:extLst>
                <a:ext uri="{FF2B5EF4-FFF2-40B4-BE49-F238E27FC236}">
                  <a16:creationId xmlns:a16="http://schemas.microsoft.com/office/drawing/2014/main" id="{0DBCB0E2-E001-427A-9BD1-5BA9B78E0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2433" y="3695700"/>
              <a:ext cx="1473200" cy="1104900"/>
              <a:chOff x="4851400" y="3581400"/>
              <a:chExt cx="1473200" cy="1104900"/>
            </a:xfrm>
          </p:grpSpPr>
          <p:sp>
            <p:nvSpPr>
              <p:cNvPr id="24642" name="Rectangle 147">
                <a:extLst>
                  <a:ext uri="{FF2B5EF4-FFF2-40B4-BE49-F238E27FC236}">
                    <a16:creationId xmlns:a16="http://schemas.microsoft.com/office/drawing/2014/main" id="{B01D011D-D1A8-42ED-B620-2702A6BD5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3773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43" name="Rectangle 148">
                <a:extLst>
                  <a:ext uri="{FF2B5EF4-FFF2-40B4-BE49-F238E27FC236}">
                    <a16:creationId xmlns:a16="http://schemas.microsoft.com/office/drawing/2014/main" id="{52842138-898A-4D18-ABB2-F19469289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0005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44" name="Rectangle 149">
                <a:extLst>
                  <a:ext uri="{FF2B5EF4-FFF2-40B4-BE49-F238E27FC236}">
                    <a16:creationId xmlns:a16="http://schemas.microsoft.com/office/drawing/2014/main" id="{7C3586AB-5E39-4AC4-A94D-32637F363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229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45" name="Rectangle 150">
                <a:extLst>
                  <a:ext uri="{FF2B5EF4-FFF2-40B4-BE49-F238E27FC236}">
                    <a16:creationId xmlns:a16="http://schemas.microsoft.com/office/drawing/2014/main" id="{50B875C2-5351-471F-82B8-DCD5498D0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4577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646" name="TextBox 151">
                <a:extLst>
                  <a:ext uri="{FF2B5EF4-FFF2-40B4-BE49-F238E27FC236}">
                    <a16:creationId xmlns:a16="http://schemas.microsoft.com/office/drawing/2014/main" id="{08B25709-61B7-4CA0-809F-24706F1CD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1400" y="3581400"/>
                <a:ext cx="60869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Class</a:t>
                </a:r>
              </a:p>
            </p:txBody>
          </p:sp>
          <p:sp>
            <p:nvSpPr>
              <p:cNvPr id="24647" name="TextBox 152">
                <a:extLst>
                  <a:ext uri="{FF2B5EF4-FFF2-40B4-BE49-F238E27FC236}">
                    <a16:creationId xmlns:a16="http://schemas.microsoft.com/office/drawing/2014/main" id="{4FE170D4-EC66-42E5-9B0A-01A7EC4D80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0" y="3952101"/>
                <a:ext cx="9906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superclass</a:t>
                </a:r>
              </a:p>
            </p:txBody>
          </p:sp>
          <p:sp>
            <p:nvSpPr>
              <p:cNvPr id="24648" name="TextBox 153">
                <a:extLst>
                  <a:ext uri="{FF2B5EF4-FFF2-40B4-BE49-F238E27FC236}">
                    <a16:creationId xmlns:a16="http://schemas.microsoft.com/office/drawing/2014/main" id="{46DA128F-E1FC-4CDF-AD2D-AAF70C6DB1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1807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code</a:t>
                </a:r>
              </a:p>
            </p:txBody>
          </p:sp>
          <p:sp>
            <p:nvSpPr>
              <p:cNvPr id="24649" name="TextBox 154">
                <a:extLst>
                  <a:ext uri="{FF2B5EF4-FFF2-40B4-BE49-F238E27FC236}">
                    <a16:creationId xmlns:a16="http://schemas.microsoft.com/office/drawing/2014/main" id="{4AD2F547-A8F9-44E3-87AB-8D1CABDFA1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381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…</a:t>
                </a:r>
              </a:p>
            </p:txBody>
          </p:sp>
          <p:sp>
            <p:nvSpPr>
              <p:cNvPr id="24650" name="TextBox 155">
                <a:extLst>
                  <a:ext uri="{FF2B5EF4-FFF2-40B4-BE49-F238E27FC236}">
                    <a16:creationId xmlns:a16="http://schemas.microsoft.com/office/drawing/2014/main" id="{384B149E-A093-4F28-9B4C-80F8762267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37338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4585" name="Group 166">
              <a:extLst>
                <a:ext uri="{FF2B5EF4-FFF2-40B4-BE49-F238E27FC236}">
                  <a16:creationId xmlns:a16="http://schemas.microsoft.com/office/drawing/2014/main" id="{E849896D-D008-4DF2-A557-3AB35F867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1033" y="3695700"/>
              <a:ext cx="3793067" cy="1104900"/>
              <a:chOff x="4881033" y="3695700"/>
              <a:chExt cx="3793067" cy="1104900"/>
            </a:xfrm>
          </p:grpSpPr>
          <p:grpSp>
            <p:nvGrpSpPr>
              <p:cNvPr id="24625" name="Group 83">
                <a:extLst>
                  <a:ext uri="{FF2B5EF4-FFF2-40B4-BE49-F238E27FC236}">
                    <a16:creationId xmlns:a16="http://schemas.microsoft.com/office/drawing/2014/main" id="{D711A695-7E19-4A78-9F8B-A1006338C2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26300" y="4279900"/>
                <a:ext cx="1447800" cy="496094"/>
                <a:chOff x="5791200" y="5676900"/>
                <a:chExt cx="1447800" cy="496094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B1A5B38-E98F-4742-B9EE-0BDA44A7E0CD}"/>
                    </a:ext>
                  </a:extLst>
                </p:cNvPr>
                <p:cNvSpPr/>
                <p:nvPr/>
              </p:nvSpPr>
              <p:spPr bwMode="auto">
                <a:xfrm>
                  <a:off x="5791200" y="5716211"/>
                  <a:ext cx="1447800" cy="22864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2B62DDE-E126-411B-B22E-D12055F474FA}"/>
                    </a:ext>
                  </a:extLst>
                </p:cNvPr>
                <p:cNvSpPr/>
                <p:nvPr/>
              </p:nvSpPr>
              <p:spPr bwMode="auto">
                <a:xfrm>
                  <a:off x="5791200" y="5943269"/>
                  <a:ext cx="1447800" cy="22864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4639" name="TextBox 63">
                  <a:extLst>
                    <a:ext uri="{FF2B5EF4-FFF2-40B4-BE49-F238E27FC236}">
                      <a16:creationId xmlns:a16="http://schemas.microsoft.com/office/drawing/2014/main" id="{EDC625C5-A3E1-4CBC-9684-2EB4A0428F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400" y="5895201"/>
                  <a:ext cx="1184564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“test”        •</a:t>
                  </a:r>
                </a:p>
              </p:txBody>
            </p:sp>
            <p:sp>
              <p:nvSpPr>
                <p:cNvPr id="24640" name="TextBox 64">
                  <a:extLst>
                    <a:ext uri="{FF2B5EF4-FFF2-40B4-BE49-F238E27FC236}">
                      <a16:creationId xmlns:a16="http://schemas.microsoft.com/office/drawing/2014/main" id="{48A31BC2-C796-416F-91A1-83A49A1105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400" y="5676900"/>
                  <a:ext cx="1184564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“draw”       •</a:t>
                  </a:r>
                </a:p>
              </p:txBody>
            </p:sp>
            <p:cxnSp>
              <p:nvCxnSpPr>
                <p:cNvPr id="24641" name="Straight Connector 71">
                  <a:extLst>
                    <a:ext uri="{FF2B5EF4-FFF2-40B4-BE49-F238E27FC236}">
                      <a16:creationId xmlns:a16="http://schemas.microsoft.com/office/drawing/2014/main" id="{29ED3738-9392-497C-814F-493D3E23705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6350397" y="5943203"/>
                  <a:ext cx="4579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24626" name="Group 104">
                <a:extLst>
                  <a:ext uri="{FF2B5EF4-FFF2-40B4-BE49-F238E27FC236}">
                    <a16:creationId xmlns:a16="http://schemas.microsoft.com/office/drawing/2014/main" id="{AC34C8B0-5FFE-4ACE-95BD-D98A2E8073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81033" y="3695700"/>
                <a:ext cx="1905000" cy="1104900"/>
                <a:chOff x="2895600" y="4381500"/>
                <a:chExt cx="1905000" cy="1104900"/>
              </a:xfrm>
            </p:grpSpPr>
            <p:sp>
              <p:nvSpPr>
                <p:cNvPr id="24628" name="Rectangle 138">
                  <a:extLst>
                    <a:ext uri="{FF2B5EF4-FFF2-40B4-BE49-F238E27FC236}">
                      <a16:creationId xmlns:a16="http://schemas.microsoft.com/office/drawing/2014/main" id="{E02E7E96-DC98-4C8C-9CA9-B2C171661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573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29" name="Rectangle 139">
                  <a:extLst>
                    <a:ext uri="{FF2B5EF4-FFF2-40B4-BE49-F238E27FC236}">
                      <a16:creationId xmlns:a16="http://schemas.microsoft.com/office/drawing/2014/main" id="{985CAD2C-0728-43B3-92B6-A105AC1EB9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801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30" name="Rectangle 140">
                  <a:extLst>
                    <a:ext uri="{FF2B5EF4-FFF2-40B4-BE49-F238E27FC236}">
                      <a16:creationId xmlns:a16="http://schemas.microsoft.com/office/drawing/2014/main" id="{0B168C66-5F2C-4C96-8166-0B84A2B665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029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31" name="Rectangle 141">
                  <a:extLst>
                    <a:ext uri="{FF2B5EF4-FFF2-40B4-BE49-F238E27FC236}">
                      <a16:creationId xmlns:a16="http://schemas.microsoft.com/office/drawing/2014/main" id="{AAC84CB8-5B58-45FD-B29D-1A870356C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257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32" name="TextBox 142">
                  <a:extLst>
                    <a:ext uri="{FF2B5EF4-FFF2-40B4-BE49-F238E27FC236}">
                      <a16:creationId xmlns:a16="http://schemas.microsoft.com/office/drawing/2014/main" id="{FB51C825-6348-48BF-8D05-5064E45E9D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5600" y="4381500"/>
                  <a:ext cx="1033869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ColorPoint</a:t>
                  </a:r>
                </a:p>
              </p:txBody>
            </p:sp>
            <p:sp>
              <p:nvSpPr>
                <p:cNvPr id="24633" name="TextBox 143">
                  <a:extLst>
                    <a:ext uri="{FF2B5EF4-FFF2-40B4-BE49-F238E27FC236}">
                      <a16:creationId xmlns:a16="http://schemas.microsoft.com/office/drawing/2014/main" id="{1A457BC7-139C-40E4-AB02-D39F000D36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10000" y="47522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4634" name="TextBox 144">
                  <a:extLst>
                    <a:ext uri="{FF2B5EF4-FFF2-40B4-BE49-F238E27FC236}">
                      <a16:creationId xmlns:a16="http://schemas.microsoft.com/office/drawing/2014/main" id="{477D2B59-72B5-422B-8954-4F505E245F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980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4635" name="TextBox 145">
                  <a:extLst>
                    <a:ext uri="{FF2B5EF4-FFF2-40B4-BE49-F238E27FC236}">
                      <a16:creationId xmlns:a16="http://schemas.microsoft.com/office/drawing/2014/main" id="{9E087580-32DC-4E36-80CC-74C10C6C4D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51816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4636" name="TextBox 146">
                  <a:extLst>
                    <a:ext uri="{FF2B5EF4-FFF2-40B4-BE49-F238E27FC236}">
                      <a16:creationId xmlns:a16="http://schemas.microsoft.com/office/drawing/2014/main" id="{D97F1524-32B5-428D-85D7-923C2727C0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5339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cxnSp>
            <p:nvCxnSpPr>
              <p:cNvPr id="24627" name="Straight Arrow Connector 133">
                <a:extLst>
                  <a:ext uri="{FF2B5EF4-FFF2-40B4-BE49-F238E27FC236}">
                    <a16:creationId xmlns:a16="http://schemas.microsoft.com/office/drawing/2014/main" id="{031BC262-92AD-41F9-90B7-CB13D953B8EA}"/>
                  </a:ext>
                </a:extLst>
              </p:cNvPr>
              <p:cNvCxnSpPr>
                <a:cxnSpLocks noChangeShapeType="1"/>
                <a:stCxn id="24634" idx="3"/>
              </p:cNvCxnSpPr>
              <p:nvPr/>
            </p:nvCxnSpPr>
            <p:spPr bwMode="auto">
              <a:xfrm flipV="1">
                <a:off x="6709833" y="4433500"/>
                <a:ext cx="508000" cy="1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24586" name="Group 73">
              <a:extLst>
                <a:ext uri="{FF2B5EF4-FFF2-40B4-BE49-F238E27FC236}">
                  <a16:creationId xmlns:a16="http://schemas.microsoft.com/office/drawing/2014/main" id="{157DE240-27AC-4D28-8772-4DA73788C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9433" y="4216400"/>
              <a:ext cx="457200" cy="153194"/>
              <a:chOff x="1981200" y="4292600"/>
              <a:chExt cx="457200" cy="153194"/>
            </a:xfrm>
          </p:grpSpPr>
          <p:cxnSp>
            <p:nvCxnSpPr>
              <p:cNvPr id="24621" name="Straight Connector 127">
                <a:extLst>
                  <a:ext uri="{FF2B5EF4-FFF2-40B4-BE49-F238E27FC236}">
                    <a16:creationId xmlns:a16="http://schemas.microsoft.com/office/drawing/2014/main" id="{D83F4ADF-D7CF-4453-9E2E-59AAB70416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81200" y="4292600"/>
                <a:ext cx="381000" cy="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4622" name="Straight Connector 128">
                <a:extLst>
                  <a:ext uri="{FF2B5EF4-FFF2-40B4-BE49-F238E27FC236}">
                    <a16:creationId xmlns:a16="http://schemas.microsoft.com/office/drawing/2014/main" id="{AA8C6158-AF1B-44CE-8011-B7BE98AB1C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4623" name="Straight Connector 129">
                <a:extLst>
                  <a:ext uri="{FF2B5EF4-FFF2-40B4-BE49-F238E27FC236}">
                    <a16:creationId xmlns:a16="http://schemas.microsoft.com/office/drawing/2014/main" id="{AC9E6995-ECBA-4263-B198-21FCE308D9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4624" name="Straight Connector 130">
                <a:extLst>
                  <a:ext uri="{FF2B5EF4-FFF2-40B4-BE49-F238E27FC236}">
                    <a16:creationId xmlns:a16="http://schemas.microsoft.com/office/drawing/2014/main" id="{EA5ED2AF-D395-4873-89C9-1DED231A06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15210" y="4406900"/>
                <a:ext cx="9144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24587" name="Group 171">
              <a:extLst>
                <a:ext uri="{FF2B5EF4-FFF2-40B4-BE49-F238E27FC236}">
                  <a16:creationId xmlns:a16="http://schemas.microsoft.com/office/drawing/2014/main" id="{37FECE90-0C67-4A9B-9C2B-3C510F8ED1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2033" y="3695700"/>
              <a:ext cx="2840567" cy="1104900"/>
              <a:chOff x="2722033" y="3695700"/>
              <a:chExt cx="2840567" cy="1104900"/>
            </a:xfrm>
          </p:grpSpPr>
          <p:grpSp>
            <p:nvGrpSpPr>
              <p:cNvPr id="24601" name="Group 170">
                <a:extLst>
                  <a:ext uri="{FF2B5EF4-FFF2-40B4-BE49-F238E27FC236}">
                    <a16:creationId xmlns:a16="http://schemas.microsoft.com/office/drawing/2014/main" id="{C2B96292-37BF-49A9-A330-834BB46E2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3400" y="4371201"/>
                <a:ext cx="1219200" cy="276999"/>
                <a:chOff x="4343400" y="4371201"/>
                <a:chExt cx="1219200" cy="276999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6DC176FF-4360-42AD-91B4-9C65B2853D34}"/>
                    </a:ext>
                  </a:extLst>
                </p:cNvPr>
                <p:cNvSpPr/>
                <p:nvPr/>
              </p:nvSpPr>
              <p:spPr bwMode="auto">
                <a:xfrm>
                  <a:off x="4343400" y="4411305"/>
                  <a:ext cx="1219200" cy="23658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4619" name="TextBox 74">
                  <a:extLst>
                    <a:ext uri="{FF2B5EF4-FFF2-40B4-BE49-F238E27FC236}">
                      <a16:creationId xmlns:a16="http://schemas.microsoft.com/office/drawing/2014/main" id="{772F33D8-CCEA-48ED-9759-C9650E9785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8036" y="4371201"/>
                  <a:ext cx="1184564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“draw”      •</a:t>
                  </a:r>
                </a:p>
              </p:txBody>
            </p:sp>
            <p:cxnSp>
              <p:nvCxnSpPr>
                <p:cNvPr id="24620" name="Straight Connector 77">
                  <a:extLst>
                    <a:ext uri="{FF2B5EF4-FFF2-40B4-BE49-F238E27FC236}">
                      <a16:creationId xmlns:a16="http://schemas.microsoft.com/office/drawing/2014/main" id="{2A69D588-585E-4C3C-A808-88EE49E7CA5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066507" y="4523603"/>
                  <a:ext cx="229392" cy="79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24602" name="Group 124">
                <a:extLst>
                  <a:ext uri="{FF2B5EF4-FFF2-40B4-BE49-F238E27FC236}">
                    <a16:creationId xmlns:a16="http://schemas.microsoft.com/office/drawing/2014/main" id="{EAC5CF9E-6CED-4A1A-BEC9-02B847576F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2033" y="3695700"/>
                <a:ext cx="1473200" cy="1104900"/>
                <a:chOff x="4851400" y="3581400"/>
                <a:chExt cx="1473200" cy="1104900"/>
              </a:xfrm>
            </p:grpSpPr>
            <p:sp>
              <p:nvSpPr>
                <p:cNvPr id="24609" name="Rectangle 118">
                  <a:extLst>
                    <a:ext uri="{FF2B5EF4-FFF2-40B4-BE49-F238E27FC236}">
                      <a16:creationId xmlns:a16="http://schemas.microsoft.com/office/drawing/2014/main" id="{35D02F4F-EE05-49A7-9D54-BDBEFFD03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3773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10" name="Rectangle 119">
                  <a:extLst>
                    <a:ext uri="{FF2B5EF4-FFF2-40B4-BE49-F238E27FC236}">
                      <a16:creationId xmlns:a16="http://schemas.microsoft.com/office/drawing/2014/main" id="{AE8364D3-1BAA-404C-AE48-9FC0EF2E51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0005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11" name="Rectangle 120">
                  <a:extLst>
                    <a:ext uri="{FF2B5EF4-FFF2-40B4-BE49-F238E27FC236}">
                      <a16:creationId xmlns:a16="http://schemas.microsoft.com/office/drawing/2014/main" id="{7139D502-09A2-4366-AB7C-473D6CD190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229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12" name="Rectangle 121">
                  <a:extLst>
                    <a:ext uri="{FF2B5EF4-FFF2-40B4-BE49-F238E27FC236}">
                      <a16:creationId xmlns:a16="http://schemas.microsoft.com/office/drawing/2014/main" id="{F3A87E8E-7EBB-4F9D-8782-013AFFBEB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4577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4613" name="TextBox 122">
                  <a:extLst>
                    <a:ext uri="{FF2B5EF4-FFF2-40B4-BE49-F238E27FC236}">
                      <a16:creationId xmlns:a16="http://schemas.microsoft.com/office/drawing/2014/main" id="{6987D471-EBB3-409D-B48A-0861ACBD0A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400" y="3581400"/>
                  <a:ext cx="601422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Point</a:t>
                  </a:r>
                </a:p>
              </p:txBody>
            </p:sp>
            <p:sp>
              <p:nvSpPr>
                <p:cNvPr id="24614" name="TextBox 123">
                  <a:extLst>
                    <a:ext uri="{FF2B5EF4-FFF2-40B4-BE49-F238E27FC236}">
                      <a16:creationId xmlns:a16="http://schemas.microsoft.com/office/drawing/2014/main" id="{E4B7718D-ACAC-42E4-BBAF-0885D29CB5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34000" y="39521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4615" name="TextBox 124">
                  <a:extLst>
                    <a:ext uri="{FF2B5EF4-FFF2-40B4-BE49-F238E27FC236}">
                      <a16:creationId xmlns:a16="http://schemas.microsoft.com/office/drawing/2014/main" id="{0A6F2699-5FC8-4716-99CA-5398561B1E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1807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4616" name="TextBox 125">
                  <a:extLst>
                    <a:ext uri="{FF2B5EF4-FFF2-40B4-BE49-F238E27FC236}">
                      <a16:creationId xmlns:a16="http://schemas.microsoft.com/office/drawing/2014/main" id="{2D434E0C-1B88-48D9-9A05-CBC85DD318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3815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4617" name="TextBox 126">
                  <a:extLst>
                    <a:ext uri="{FF2B5EF4-FFF2-40B4-BE49-F238E27FC236}">
                      <a16:creationId xmlns:a16="http://schemas.microsoft.com/office/drawing/2014/main" id="{9566FCE7-EB7F-47C8-8F92-02846BBC7C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3733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cxnSp>
            <p:nvCxnSpPr>
              <p:cNvPr id="24603" name="Straight Arrow Connector 112">
                <a:extLst>
                  <a:ext uri="{FF2B5EF4-FFF2-40B4-BE49-F238E27FC236}">
                    <a16:creationId xmlns:a16="http://schemas.microsoft.com/office/drawing/2014/main" id="{F8E473F9-0F2B-47DE-A9C3-8C4F74DCE5C9}"/>
                  </a:ext>
                </a:extLst>
              </p:cNvPr>
              <p:cNvCxnSpPr>
                <a:cxnSpLocks noChangeShapeType="1"/>
                <a:stCxn id="24615" idx="3"/>
                <a:endCxn id="74" idx="1"/>
              </p:cNvCxnSpPr>
              <p:nvPr/>
            </p:nvCxnSpPr>
            <p:spPr bwMode="auto">
              <a:xfrm>
                <a:off x="4119033" y="4433501"/>
                <a:ext cx="224367" cy="95849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24604" name="Group 74">
                <a:extLst>
                  <a:ext uri="{FF2B5EF4-FFF2-40B4-BE49-F238E27FC236}">
                    <a16:creationId xmlns:a16="http://schemas.microsoft.com/office/drawing/2014/main" id="{B17872E8-88FD-4290-B8FF-07BDF90470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9033" y="4209256"/>
                <a:ext cx="457200" cy="153194"/>
                <a:chOff x="1981200" y="4292600"/>
                <a:chExt cx="457200" cy="153194"/>
              </a:xfrm>
            </p:grpSpPr>
            <p:cxnSp>
              <p:nvCxnSpPr>
                <p:cNvPr id="24605" name="Straight Connector 114">
                  <a:extLst>
                    <a:ext uri="{FF2B5EF4-FFF2-40B4-BE49-F238E27FC236}">
                      <a16:creationId xmlns:a16="http://schemas.microsoft.com/office/drawing/2014/main" id="{ED5C4208-0892-4540-935A-852F46FC1C8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81200" y="4292600"/>
                  <a:ext cx="381000" cy="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4606" name="Straight Connector 115">
                  <a:extLst>
                    <a:ext uri="{FF2B5EF4-FFF2-40B4-BE49-F238E27FC236}">
                      <a16:creationId xmlns:a16="http://schemas.microsoft.com/office/drawing/2014/main" id="{C151FCC6-91D4-4942-90F4-6E9F4DCEFE3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4607" name="Straight Connector 116">
                  <a:extLst>
                    <a:ext uri="{FF2B5EF4-FFF2-40B4-BE49-F238E27FC236}">
                      <a16:creationId xmlns:a16="http://schemas.microsoft.com/office/drawing/2014/main" id="{0685B50D-1572-426A-951E-906DFBEE94E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4608" name="Straight Connector 117">
                  <a:extLst>
                    <a:ext uri="{FF2B5EF4-FFF2-40B4-BE49-F238E27FC236}">
                      <a16:creationId xmlns:a16="http://schemas.microsoft.com/office/drawing/2014/main" id="{7BD5A380-D5A8-419F-854B-FEA1E2704C1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315210" y="4406900"/>
                  <a:ext cx="9144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4588" name="Group 118">
              <a:extLst>
                <a:ext uri="{FF2B5EF4-FFF2-40B4-BE49-F238E27FC236}">
                  <a16:creationId xmlns:a16="http://schemas.microsoft.com/office/drawing/2014/main" id="{70F3657F-C71B-45D8-B66C-4D943FA142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3633" y="5143500"/>
              <a:ext cx="1219200" cy="876300"/>
              <a:chOff x="6858000" y="5372100"/>
              <a:chExt cx="1219200" cy="876300"/>
            </a:xfrm>
          </p:grpSpPr>
          <p:sp>
            <p:nvSpPr>
              <p:cNvPr id="24594" name="Rectangle 102">
                <a:extLst>
                  <a:ext uri="{FF2B5EF4-FFF2-40B4-BE49-F238E27FC236}">
                    <a16:creationId xmlns:a16="http://schemas.microsoft.com/office/drawing/2014/main" id="{F62F54A1-70EC-47C5-90CD-EB9E169F4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563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595" name="Rectangle 103">
                <a:extLst>
                  <a:ext uri="{FF2B5EF4-FFF2-40B4-BE49-F238E27FC236}">
                    <a16:creationId xmlns:a16="http://schemas.microsoft.com/office/drawing/2014/main" id="{85607DBC-6BFB-44E5-B29C-2EB029D9B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791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596" name="Rectangle 104">
                <a:extLst>
                  <a:ext uri="{FF2B5EF4-FFF2-40B4-BE49-F238E27FC236}">
                    <a16:creationId xmlns:a16="http://schemas.microsoft.com/office/drawing/2014/main" id="{9F0CA6C9-7D20-4514-8F7E-C838D0360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6019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4597" name="TextBox 105">
                <a:extLst>
                  <a:ext uri="{FF2B5EF4-FFF2-40B4-BE49-F238E27FC236}">
                    <a16:creationId xmlns:a16="http://schemas.microsoft.com/office/drawing/2014/main" id="{4D53DF07-64D7-4135-989D-87A6AD89A9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0" y="5372100"/>
                <a:ext cx="39637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LR</a:t>
                </a:r>
              </a:p>
            </p:txBody>
          </p:sp>
          <p:sp>
            <p:nvSpPr>
              <p:cNvPr id="24598" name="TextBox 106">
                <a:extLst>
                  <a:ext uri="{FF2B5EF4-FFF2-40B4-BE49-F238E27FC236}">
                    <a16:creationId xmlns:a16="http://schemas.microsoft.com/office/drawing/2014/main" id="{6F3A9EAC-0C3A-4802-BE3D-B8FA26DD28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742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4599" name="TextBox 107">
                <a:extLst>
                  <a:ext uri="{FF2B5EF4-FFF2-40B4-BE49-F238E27FC236}">
                    <a16:creationId xmlns:a16="http://schemas.microsoft.com/office/drawing/2014/main" id="{54FEC9F5-EBDE-4454-AA21-F0B31744C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971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4600" name="TextBox 108">
                <a:extLst>
                  <a:ext uri="{FF2B5EF4-FFF2-40B4-BE49-F238E27FC236}">
                    <a16:creationId xmlns:a16="http://schemas.microsoft.com/office/drawing/2014/main" id="{38F2C5EE-9E41-4407-A127-3131488AB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39000" y="5524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cxnSp>
          <p:nvCxnSpPr>
            <p:cNvPr id="24589" name="Straight Arrow Connector 97">
              <a:extLst>
                <a:ext uri="{FF2B5EF4-FFF2-40B4-BE49-F238E27FC236}">
                  <a16:creationId xmlns:a16="http://schemas.microsoft.com/office/drawing/2014/main" id="{EF046012-9289-46F8-8B7F-CCB08FD8E1D4}"/>
                </a:ext>
              </a:extLst>
            </p:cNvPr>
            <p:cNvCxnSpPr>
              <a:cxnSpLocks noChangeShapeType="1"/>
              <a:stCxn id="24617" idx="1"/>
            </p:cNvCxnSpPr>
            <p:nvPr/>
          </p:nvCxnSpPr>
          <p:spPr bwMode="auto">
            <a:xfrm rot="10800000" flipV="1">
              <a:off x="2226733" y="3986600"/>
              <a:ext cx="1054100" cy="138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4590" name="Freeform 98">
              <a:extLst>
                <a:ext uri="{FF2B5EF4-FFF2-40B4-BE49-F238E27FC236}">
                  <a16:creationId xmlns:a16="http://schemas.microsoft.com/office/drawing/2014/main" id="{BB051EFB-8F7B-49AC-A174-6A84AD554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3560233"/>
              <a:ext cx="829733" cy="448734"/>
            </a:xfrm>
            <a:custGeom>
              <a:avLst/>
              <a:gdLst>
                <a:gd name="T0" fmla="*/ 626533 w 829733"/>
                <a:gd name="T1" fmla="*/ 440267 h 448734"/>
                <a:gd name="T2" fmla="*/ 270933 w 829733"/>
                <a:gd name="T3" fmla="*/ 440267 h 448734"/>
                <a:gd name="T4" fmla="*/ 42333 w 829733"/>
                <a:gd name="T5" fmla="*/ 389467 h 448734"/>
                <a:gd name="T6" fmla="*/ 55033 w 829733"/>
                <a:gd name="T7" fmla="*/ 97367 h 448734"/>
                <a:gd name="T8" fmla="*/ 372533 w 829733"/>
                <a:gd name="T9" fmla="*/ 33867 h 448734"/>
                <a:gd name="T10" fmla="*/ 829733 w 829733"/>
                <a:gd name="T11" fmla="*/ 300567 h 4487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29733"/>
                <a:gd name="T19" fmla="*/ 0 h 448734"/>
                <a:gd name="T20" fmla="*/ 829733 w 829733"/>
                <a:gd name="T21" fmla="*/ 448734 h 4487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29733" h="448734">
                  <a:moveTo>
                    <a:pt x="626533" y="440267"/>
                  </a:moveTo>
                  <a:cubicBezTo>
                    <a:pt x="497416" y="444500"/>
                    <a:pt x="368300" y="448734"/>
                    <a:pt x="270933" y="440267"/>
                  </a:cubicBezTo>
                  <a:cubicBezTo>
                    <a:pt x="173566" y="431800"/>
                    <a:pt x="78316" y="446617"/>
                    <a:pt x="42333" y="389467"/>
                  </a:cubicBezTo>
                  <a:cubicBezTo>
                    <a:pt x="6350" y="332317"/>
                    <a:pt x="0" y="156634"/>
                    <a:pt x="55033" y="97367"/>
                  </a:cubicBezTo>
                  <a:cubicBezTo>
                    <a:pt x="110066" y="38100"/>
                    <a:pt x="243416" y="0"/>
                    <a:pt x="372533" y="33867"/>
                  </a:cubicBezTo>
                  <a:cubicBezTo>
                    <a:pt x="501650" y="67734"/>
                    <a:pt x="829733" y="300567"/>
                    <a:pt x="829733" y="300567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24591" name="Straight Arrow Connector 99">
              <a:extLst>
                <a:ext uri="{FF2B5EF4-FFF2-40B4-BE49-F238E27FC236}">
                  <a16:creationId xmlns:a16="http://schemas.microsoft.com/office/drawing/2014/main" id="{F966F735-536D-4235-A169-1BE68DA3719B}"/>
                </a:ext>
              </a:extLst>
            </p:cNvPr>
            <p:cNvCxnSpPr>
              <a:cxnSpLocks noChangeShapeType="1"/>
              <a:stCxn id="24629" idx="1"/>
              <a:endCxn id="24617" idx="3"/>
            </p:cNvCxnSpPr>
            <p:nvPr/>
          </p:nvCxnSpPr>
          <p:spPr bwMode="auto">
            <a:xfrm rot="10800000">
              <a:off x="4119033" y="3986602"/>
              <a:ext cx="1752600" cy="2436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4592" name="Freeform 100">
              <a:extLst>
                <a:ext uri="{FF2B5EF4-FFF2-40B4-BE49-F238E27FC236}">
                  <a16:creationId xmlns:a16="http://schemas.microsoft.com/office/drawing/2014/main" id="{7AD04EFA-0A89-4C38-98EA-F5C02CD42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133" y="4051300"/>
              <a:ext cx="508000" cy="1443567"/>
            </a:xfrm>
            <a:custGeom>
              <a:avLst/>
              <a:gdLst>
                <a:gd name="T0" fmla="*/ 444500 w 508000"/>
                <a:gd name="T1" fmla="*/ 1384300 h 1443567"/>
                <a:gd name="T2" fmla="*/ 114300 w 508000"/>
                <a:gd name="T3" fmla="*/ 1409700 h 1443567"/>
                <a:gd name="T4" fmla="*/ 0 w 508000"/>
                <a:gd name="T5" fmla="*/ 1181100 h 1443567"/>
                <a:gd name="T6" fmla="*/ 114300 w 508000"/>
                <a:gd name="T7" fmla="*/ 584200 h 1443567"/>
                <a:gd name="T8" fmla="*/ 508000 w 508000"/>
                <a:gd name="T9" fmla="*/ 0 h 1443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8000"/>
                <a:gd name="T16" fmla="*/ 0 h 1443567"/>
                <a:gd name="T17" fmla="*/ 508000 w 508000"/>
                <a:gd name="T18" fmla="*/ 1443567 h 1443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8000" h="1443567">
                  <a:moveTo>
                    <a:pt x="444500" y="1384300"/>
                  </a:moveTo>
                  <a:cubicBezTo>
                    <a:pt x="316441" y="1413933"/>
                    <a:pt x="188383" y="1443567"/>
                    <a:pt x="114300" y="1409700"/>
                  </a:cubicBezTo>
                  <a:cubicBezTo>
                    <a:pt x="40217" y="1375833"/>
                    <a:pt x="0" y="1318683"/>
                    <a:pt x="0" y="1181100"/>
                  </a:cubicBezTo>
                  <a:cubicBezTo>
                    <a:pt x="0" y="1043517"/>
                    <a:pt x="29633" y="781050"/>
                    <a:pt x="114300" y="584200"/>
                  </a:cubicBezTo>
                  <a:cubicBezTo>
                    <a:pt x="198967" y="387350"/>
                    <a:pt x="508000" y="0"/>
                    <a:pt x="50800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4593" name="Freeform 101">
              <a:extLst>
                <a:ext uri="{FF2B5EF4-FFF2-40B4-BE49-F238E27FC236}">
                  <a16:creationId xmlns:a16="http://schemas.microsoft.com/office/drawing/2014/main" id="{1729B8D3-6C48-4C0D-8524-C724A910B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4583" y="4013200"/>
              <a:ext cx="527050" cy="1445683"/>
            </a:xfrm>
            <a:custGeom>
              <a:avLst/>
              <a:gdLst>
                <a:gd name="T0" fmla="*/ 527050 w 527050"/>
                <a:gd name="T1" fmla="*/ 1358900 h 1445683"/>
                <a:gd name="T2" fmla="*/ 260350 w 527050"/>
                <a:gd name="T3" fmla="*/ 1422400 h 1445683"/>
                <a:gd name="T4" fmla="*/ 19050 w 527050"/>
                <a:gd name="T5" fmla="*/ 1219200 h 1445683"/>
                <a:gd name="T6" fmla="*/ 146050 w 527050"/>
                <a:gd name="T7" fmla="*/ 495300 h 1445683"/>
                <a:gd name="T8" fmla="*/ 527050 w 527050"/>
                <a:gd name="T9" fmla="*/ 0 h 1445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7050"/>
                <a:gd name="T16" fmla="*/ 0 h 1445683"/>
                <a:gd name="T17" fmla="*/ 527050 w 527050"/>
                <a:gd name="T18" fmla="*/ 1445683 h 14456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7050" h="1445683">
                  <a:moveTo>
                    <a:pt x="527050" y="1358900"/>
                  </a:moveTo>
                  <a:cubicBezTo>
                    <a:pt x="436033" y="1402291"/>
                    <a:pt x="345017" y="1445683"/>
                    <a:pt x="260350" y="1422400"/>
                  </a:cubicBezTo>
                  <a:cubicBezTo>
                    <a:pt x="175683" y="1399117"/>
                    <a:pt x="38100" y="1373717"/>
                    <a:pt x="19050" y="1219200"/>
                  </a:cubicBezTo>
                  <a:cubicBezTo>
                    <a:pt x="0" y="1064683"/>
                    <a:pt x="61383" y="698500"/>
                    <a:pt x="146050" y="495300"/>
                  </a:cubicBezTo>
                  <a:cubicBezTo>
                    <a:pt x="230717" y="292100"/>
                    <a:pt x="527050" y="0"/>
                    <a:pt x="52705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A51C3A48-7081-4CB7-A8A2-1EB1ACEF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Code Members?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81AA-1F41-4332-B81C-3584EC90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How does the language’s runtime environment find the code for a given method invocation?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Open Class Structure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Dynamic mapping, unknown until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In general case, need runtime representation of hierarchy</a:t>
            </a:r>
          </a:p>
          <a:p>
            <a:pPr lvl="1">
              <a:defRPr/>
            </a:pPr>
            <a:r>
              <a:rPr lang="en-US" dirty="0"/>
              <a:t>Lookup by textual name in class’ table of methods</a:t>
            </a:r>
          </a:p>
        </p:txBody>
      </p:sp>
      <p:sp>
        <p:nvSpPr>
          <p:cNvPr id="26627" name="Footer Placeholder 3">
            <a:extLst>
              <a:ext uri="{FF2B5EF4-FFF2-40B4-BE49-F238E27FC236}">
                <a16:creationId xmlns:a16="http://schemas.microsoft.com/office/drawing/2014/main" id="{0B3BE62A-0CE2-4088-8DA8-A2E1B8E349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45B7B34C-1E4C-4DBD-B048-34E24FA621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5678C92-9CF3-411D-9D59-7B7DD22DF36B}" type="slidenum">
              <a:rPr lang="en-US" altLang="it-IT"/>
              <a:pPr/>
              <a:t>7</a:t>
            </a:fld>
            <a:endParaRPr lang="en-US" altLang="it-IT"/>
          </a:p>
        </p:txBody>
      </p:sp>
      <p:grpSp>
        <p:nvGrpSpPr>
          <p:cNvPr id="26629" name="Group 87">
            <a:extLst>
              <a:ext uri="{FF2B5EF4-FFF2-40B4-BE49-F238E27FC236}">
                <a16:creationId xmlns:a16="http://schemas.microsoft.com/office/drawing/2014/main" id="{66D705F9-4659-4294-B2A8-5CF309F95C8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60763"/>
            <a:ext cx="7912100" cy="2611437"/>
            <a:chOff x="762000" y="3560233"/>
            <a:chExt cx="7912100" cy="2611967"/>
          </a:xfrm>
        </p:grpSpPr>
        <p:grpSp>
          <p:nvGrpSpPr>
            <p:cNvPr id="26633" name="Group 105">
              <a:extLst>
                <a:ext uri="{FF2B5EF4-FFF2-40B4-BE49-F238E27FC236}">
                  <a16:creationId xmlns:a16="http://schemas.microsoft.com/office/drawing/2014/main" id="{5927A9E4-58F0-4735-BC90-2CE2A832B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0633" y="5067300"/>
              <a:ext cx="1219200" cy="1104900"/>
              <a:chOff x="838200" y="4381500"/>
              <a:chExt cx="1219200" cy="1104900"/>
            </a:xfrm>
          </p:grpSpPr>
          <p:sp>
            <p:nvSpPr>
              <p:cNvPr id="26699" name="Rectangle 156">
                <a:extLst>
                  <a:ext uri="{FF2B5EF4-FFF2-40B4-BE49-F238E27FC236}">
                    <a16:creationId xmlns:a16="http://schemas.microsoft.com/office/drawing/2014/main" id="{8AB8F4AA-B369-4066-A806-3F8BA64B8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573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700" name="Rectangle 157">
                <a:extLst>
                  <a:ext uri="{FF2B5EF4-FFF2-40B4-BE49-F238E27FC236}">
                    <a16:creationId xmlns:a16="http://schemas.microsoft.com/office/drawing/2014/main" id="{653D188F-445D-45FD-9C5F-3543153F2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48006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701" name="Rectangle 158">
                <a:extLst>
                  <a:ext uri="{FF2B5EF4-FFF2-40B4-BE49-F238E27FC236}">
                    <a16:creationId xmlns:a16="http://schemas.microsoft.com/office/drawing/2014/main" id="{057ACA20-C1CF-4E4A-BAE5-F52BCA2C7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029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702" name="Rectangle 159">
                <a:extLst>
                  <a:ext uri="{FF2B5EF4-FFF2-40B4-BE49-F238E27FC236}">
                    <a16:creationId xmlns:a16="http://schemas.microsoft.com/office/drawing/2014/main" id="{AD0FFEFD-23E8-4AAA-912F-CAF989332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5257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703" name="TextBox 160">
                <a:extLst>
                  <a:ext uri="{FF2B5EF4-FFF2-40B4-BE49-F238E27FC236}">
                    <a16:creationId xmlns:a16="http://schemas.microsoft.com/office/drawing/2014/main" id="{E2BA448B-471D-4ECD-A16B-93A5611F4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381500"/>
                <a:ext cx="41583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UL</a:t>
                </a:r>
              </a:p>
            </p:txBody>
          </p:sp>
          <p:sp>
            <p:nvSpPr>
              <p:cNvPr id="26704" name="TextBox 161">
                <a:extLst>
                  <a:ext uri="{FF2B5EF4-FFF2-40B4-BE49-F238E27FC236}">
                    <a16:creationId xmlns:a16="http://schemas.microsoft.com/office/drawing/2014/main" id="{BDE92923-9600-4BBC-A2E1-5115611354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7522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6705" name="TextBox 162">
                <a:extLst>
                  <a:ext uri="{FF2B5EF4-FFF2-40B4-BE49-F238E27FC236}">
                    <a16:creationId xmlns:a16="http://schemas.microsoft.com/office/drawing/2014/main" id="{DDDF468D-FBA4-4392-9AB9-E3D2C294E4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4980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6706" name="TextBox 163">
                <a:extLst>
                  <a:ext uri="{FF2B5EF4-FFF2-40B4-BE49-F238E27FC236}">
                    <a16:creationId xmlns:a16="http://schemas.microsoft.com/office/drawing/2014/main" id="{C7C6940B-D33A-492E-99D4-D747F15E95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9700" y="5209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</a:t>
                </a:r>
              </a:p>
            </p:txBody>
          </p:sp>
          <p:sp>
            <p:nvSpPr>
              <p:cNvPr id="26707" name="TextBox 164">
                <a:extLst>
                  <a:ext uri="{FF2B5EF4-FFF2-40B4-BE49-F238E27FC236}">
                    <a16:creationId xmlns:a16="http://schemas.microsoft.com/office/drawing/2014/main" id="{E92488D0-6435-45B1-A42C-79ABD65F6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9200" y="45339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6634" name="Group 134">
              <a:extLst>
                <a:ext uri="{FF2B5EF4-FFF2-40B4-BE49-F238E27FC236}">
                  <a16:creationId xmlns:a16="http://schemas.microsoft.com/office/drawing/2014/main" id="{C6ED97F5-E367-4E47-AB54-940DD751C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2433" y="3695700"/>
              <a:ext cx="1473200" cy="1104900"/>
              <a:chOff x="4851400" y="3581400"/>
              <a:chExt cx="1473200" cy="1104900"/>
            </a:xfrm>
          </p:grpSpPr>
          <p:sp>
            <p:nvSpPr>
              <p:cNvPr id="26690" name="Rectangle 147">
                <a:extLst>
                  <a:ext uri="{FF2B5EF4-FFF2-40B4-BE49-F238E27FC236}">
                    <a16:creationId xmlns:a16="http://schemas.microsoft.com/office/drawing/2014/main" id="{E86F97D5-226A-44E1-A224-CE6A4F997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3773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91" name="Rectangle 148">
                <a:extLst>
                  <a:ext uri="{FF2B5EF4-FFF2-40B4-BE49-F238E27FC236}">
                    <a16:creationId xmlns:a16="http://schemas.microsoft.com/office/drawing/2014/main" id="{FE9792A5-C579-4F91-A08F-CCDFB87F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0005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92" name="Rectangle 149">
                <a:extLst>
                  <a:ext uri="{FF2B5EF4-FFF2-40B4-BE49-F238E27FC236}">
                    <a16:creationId xmlns:a16="http://schemas.microsoft.com/office/drawing/2014/main" id="{5EEAAEBF-199A-45AB-8326-2365E2354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2291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93" name="Rectangle 150">
                <a:extLst>
                  <a:ext uri="{FF2B5EF4-FFF2-40B4-BE49-F238E27FC236}">
                    <a16:creationId xmlns:a16="http://schemas.microsoft.com/office/drawing/2014/main" id="{52E7BDBF-9665-4F59-8C5C-4C9C588EC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44577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94" name="TextBox 151">
                <a:extLst>
                  <a:ext uri="{FF2B5EF4-FFF2-40B4-BE49-F238E27FC236}">
                    <a16:creationId xmlns:a16="http://schemas.microsoft.com/office/drawing/2014/main" id="{6DA73B24-BB0F-45B3-A7B4-A195C61214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1400" y="3581400"/>
                <a:ext cx="60869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Class</a:t>
                </a:r>
              </a:p>
            </p:txBody>
          </p:sp>
          <p:sp>
            <p:nvSpPr>
              <p:cNvPr id="26695" name="TextBox 152">
                <a:extLst>
                  <a:ext uri="{FF2B5EF4-FFF2-40B4-BE49-F238E27FC236}">
                    <a16:creationId xmlns:a16="http://schemas.microsoft.com/office/drawing/2014/main" id="{C5D7BCE4-8D2F-4106-AACF-B37BFB337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0" y="3952101"/>
                <a:ext cx="9906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superclass</a:t>
                </a:r>
              </a:p>
            </p:txBody>
          </p:sp>
          <p:sp>
            <p:nvSpPr>
              <p:cNvPr id="26696" name="TextBox 153">
                <a:extLst>
                  <a:ext uri="{FF2B5EF4-FFF2-40B4-BE49-F238E27FC236}">
                    <a16:creationId xmlns:a16="http://schemas.microsoft.com/office/drawing/2014/main" id="{B8AA4E56-22F8-4CDC-AD18-006CD046D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1807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code</a:t>
                </a:r>
              </a:p>
            </p:txBody>
          </p:sp>
          <p:sp>
            <p:nvSpPr>
              <p:cNvPr id="26697" name="TextBox 154">
                <a:extLst>
                  <a:ext uri="{FF2B5EF4-FFF2-40B4-BE49-F238E27FC236}">
                    <a16:creationId xmlns:a16="http://schemas.microsoft.com/office/drawing/2014/main" id="{10E688D4-519E-4DBE-8473-89A3EF5FD4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4381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…</a:t>
                </a:r>
              </a:p>
            </p:txBody>
          </p:sp>
          <p:sp>
            <p:nvSpPr>
              <p:cNvPr id="26698" name="TextBox 155">
                <a:extLst>
                  <a:ext uri="{FF2B5EF4-FFF2-40B4-BE49-F238E27FC236}">
                    <a16:creationId xmlns:a16="http://schemas.microsoft.com/office/drawing/2014/main" id="{FD141312-909D-4F18-9918-96ABADD3F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3733801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grpSp>
          <p:nvGrpSpPr>
            <p:cNvPr id="26635" name="Group 166">
              <a:extLst>
                <a:ext uri="{FF2B5EF4-FFF2-40B4-BE49-F238E27FC236}">
                  <a16:creationId xmlns:a16="http://schemas.microsoft.com/office/drawing/2014/main" id="{6282A9F9-5783-4BCD-BE7D-CF7BB3817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1033" y="3695700"/>
              <a:ext cx="3793067" cy="1104900"/>
              <a:chOff x="4881033" y="3695700"/>
              <a:chExt cx="3793067" cy="1104900"/>
            </a:xfrm>
          </p:grpSpPr>
          <p:grpSp>
            <p:nvGrpSpPr>
              <p:cNvPr id="26676" name="Group 83">
                <a:extLst>
                  <a:ext uri="{FF2B5EF4-FFF2-40B4-BE49-F238E27FC236}">
                    <a16:creationId xmlns:a16="http://schemas.microsoft.com/office/drawing/2014/main" id="{AF1188AF-CD80-4AA8-AE4C-751AB442BF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26300" y="4279900"/>
                <a:ext cx="1447800" cy="276999"/>
                <a:chOff x="5791200" y="5676900"/>
                <a:chExt cx="1447800" cy="276999"/>
              </a:xfrm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74119812-2390-4D56-BC7A-313457B7FD8B}"/>
                    </a:ext>
                  </a:extLst>
                </p:cNvPr>
                <p:cNvSpPr/>
                <p:nvPr/>
              </p:nvSpPr>
              <p:spPr bwMode="auto">
                <a:xfrm>
                  <a:off x="5791200" y="5716211"/>
                  <a:ext cx="1447800" cy="227058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6689" name="TextBox 145">
                  <a:extLst>
                    <a:ext uri="{FF2B5EF4-FFF2-40B4-BE49-F238E27FC236}">
                      <a16:creationId xmlns:a16="http://schemas.microsoft.com/office/drawing/2014/main" id="{61D69290-505C-4382-B4BC-2F5AB6D9C7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400" y="5676900"/>
                  <a:ext cx="1184564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“test”       •</a:t>
                  </a:r>
                </a:p>
              </p:txBody>
            </p:sp>
          </p:grpSp>
          <p:grpSp>
            <p:nvGrpSpPr>
              <p:cNvPr id="26677" name="Group 104">
                <a:extLst>
                  <a:ext uri="{FF2B5EF4-FFF2-40B4-BE49-F238E27FC236}">
                    <a16:creationId xmlns:a16="http://schemas.microsoft.com/office/drawing/2014/main" id="{19D1EEEF-51D8-44D7-8CC7-E3C95D578E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81033" y="3695700"/>
                <a:ext cx="1905000" cy="1104900"/>
                <a:chOff x="2895600" y="4381500"/>
                <a:chExt cx="1905000" cy="1104900"/>
              </a:xfrm>
            </p:grpSpPr>
            <p:sp>
              <p:nvSpPr>
                <p:cNvPr id="26679" name="Rectangle 133">
                  <a:extLst>
                    <a:ext uri="{FF2B5EF4-FFF2-40B4-BE49-F238E27FC236}">
                      <a16:creationId xmlns:a16="http://schemas.microsoft.com/office/drawing/2014/main" id="{E7FCF389-D0B8-43BE-99AC-366EE2B26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573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0" name="Rectangle 134">
                  <a:extLst>
                    <a:ext uri="{FF2B5EF4-FFF2-40B4-BE49-F238E27FC236}">
                      <a16:creationId xmlns:a16="http://schemas.microsoft.com/office/drawing/2014/main" id="{1C3C15C1-CEBD-4F93-B491-37F4F6467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801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1" name="Rectangle 135">
                  <a:extLst>
                    <a:ext uri="{FF2B5EF4-FFF2-40B4-BE49-F238E27FC236}">
                      <a16:creationId xmlns:a16="http://schemas.microsoft.com/office/drawing/2014/main" id="{08308367-1D36-4B2B-9CC8-7446CC6172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0292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2" name="Rectangle 136">
                  <a:extLst>
                    <a:ext uri="{FF2B5EF4-FFF2-40B4-BE49-F238E27FC236}">
                      <a16:creationId xmlns:a16="http://schemas.microsoft.com/office/drawing/2014/main" id="{DCCC22C5-0037-4DD9-8403-B8155A88B5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52578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83" name="TextBox 137">
                  <a:extLst>
                    <a:ext uri="{FF2B5EF4-FFF2-40B4-BE49-F238E27FC236}">
                      <a16:creationId xmlns:a16="http://schemas.microsoft.com/office/drawing/2014/main" id="{D9F5F6A8-52DE-441E-80AE-975D69C175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5600" y="4381500"/>
                  <a:ext cx="1033869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ColorPoint</a:t>
                  </a:r>
                </a:p>
              </p:txBody>
            </p:sp>
            <p:sp>
              <p:nvSpPr>
                <p:cNvPr id="26684" name="TextBox 138">
                  <a:extLst>
                    <a:ext uri="{FF2B5EF4-FFF2-40B4-BE49-F238E27FC236}">
                      <a16:creationId xmlns:a16="http://schemas.microsoft.com/office/drawing/2014/main" id="{0CABA554-E5E7-4A7C-99DC-D0ABF7FEBF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10000" y="47522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6685" name="TextBox 139">
                  <a:extLst>
                    <a:ext uri="{FF2B5EF4-FFF2-40B4-BE49-F238E27FC236}">
                      <a16:creationId xmlns:a16="http://schemas.microsoft.com/office/drawing/2014/main" id="{7899E0B7-E5E7-4FF2-8417-0ED9A8FEB2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980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6686" name="TextBox 140">
                  <a:extLst>
                    <a:ext uri="{FF2B5EF4-FFF2-40B4-BE49-F238E27FC236}">
                      <a16:creationId xmlns:a16="http://schemas.microsoft.com/office/drawing/2014/main" id="{97CB4002-5D8C-455A-961F-F1F4B676CA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51816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6687" name="TextBox 141">
                  <a:extLst>
                    <a:ext uri="{FF2B5EF4-FFF2-40B4-BE49-F238E27FC236}">
                      <a16:creationId xmlns:a16="http://schemas.microsoft.com/office/drawing/2014/main" id="{A13C74BC-B4D3-47BE-912D-FBD380A359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6200" y="45339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cxnSp>
            <p:nvCxnSpPr>
              <p:cNvPr id="26678" name="Straight Arrow Connector 132">
                <a:extLst>
                  <a:ext uri="{FF2B5EF4-FFF2-40B4-BE49-F238E27FC236}">
                    <a16:creationId xmlns:a16="http://schemas.microsoft.com/office/drawing/2014/main" id="{393CDDB3-B812-48C6-91CB-16DA9D957761}"/>
                  </a:ext>
                </a:extLst>
              </p:cNvPr>
              <p:cNvCxnSpPr>
                <a:cxnSpLocks noChangeShapeType="1"/>
                <a:stCxn id="26685" idx="3"/>
              </p:cNvCxnSpPr>
              <p:nvPr/>
            </p:nvCxnSpPr>
            <p:spPr bwMode="auto">
              <a:xfrm flipV="1">
                <a:off x="6709833" y="4433500"/>
                <a:ext cx="508000" cy="1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26636" name="Group 73">
              <a:extLst>
                <a:ext uri="{FF2B5EF4-FFF2-40B4-BE49-F238E27FC236}">
                  <a16:creationId xmlns:a16="http://schemas.microsoft.com/office/drawing/2014/main" id="{D49344CD-9275-4077-A0D7-7C1861708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9433" y="4216400"/>
              <a:ext cx="457200" cy="153194"/>
              <a:chOff x="1981200" y="4292600"/>
              <a:chExt cx="457200" cy="153194"/>
            </a:xfrm>
          </p:grpSpPr>
          <p:cxnSp>
            <p:nvCxnSpPr>
              <p:cNvPr id="26672" name="Straight Connector 126">
                <a:extLst>
                  <a:ext uri="{FF2B5EF4-FFF2-40B4-BE49-F238E27FC236}">
                    <a16:creationId xmlns:a16="http://schemas.microsoft.com/office/drawing/2014/main" id="{2E70244F-F836-4396-AFFF-2C69BB53CD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81200" y="4292600"/>
                <a:ext cx="381000" cy="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673" name="Straight Connector 127">
                <a:extLst>
                  <a:ext uri="{FF2B5EF4-FFF2-40B4-BE49-F238E27FC236}">
                    <a16:creationId xmlns:a16="http://schemas.microsoft.com/office/drawing/2014/main" id="{4C20E9A2-D9AC-4EEF-AA98-820ACB038F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674" name="Straight Connector 128">
                <a:extLst>
                  <a:ext uri="{FF2B5EF4-FFF2-40B4-BE49-F238E27FC236}">
                    <a16:creationId xmlns:a16="http://schemas.microsoft.com/office/drawing/2014/main" id="{FFB4928B-FABB-4B81-B245-5EBB9E8F40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6000" y="4368800"/>
                <a:ext cx="1524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675" name="Straight Connector 129">
                <a:extLst>
                  <a:ext uri="{FF2B5EF4-FFF2-40B4-BE49-F238E27FC236}">
                    <a16:creationId xmlns:a16="http://schemas.microsoft.com/office/drawing/2014/main" id="{708426C1-5179-4FC9-84A7-560E3FCE28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15210" y="4406900"/>
                <a:ext cx="9144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26637" name="Group 171">
              <a:extLst>
                <a:ext uri="{FF2B5EF4-FFF2-40B4-BE49-F238E27FC236}">
                  <a16:creationId xmlns:a16="http://schemas.microsoft.com/office/drawing/2014/main" id="{FE54E192-D73F-47E3-9929-79F40ED176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2033" y="3695700"/>
              <a:ext cx="5329766" cy="1104900"/>
              <a:chOff x="2722033" y="3695700"/>
              <a:chExt cx="5329766" cy="1104900"/>
            </a:xfrm>
          </p:grpSpPr>
          <p:grpSp>
            <p:nvGrpSpPr>
              <p:cNvPr id="26651" name="Group 170">
                <a:extLst>
                  <a:ext uri="{FF2B5EF4-FFF2-40B4-BE49-F238E27FC236}">
                    <a16:creationId xmlns:a16="http://schemas.microsoft.com/office/drawing/2014/main" id="{FB0113A4-1DA6-423B-8774-07A247C51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3400" y="4305301"/>
                <a:ext cx="3708399" cy="342899"/>
                <a:chOff x="4343400" y="4305301"/>
                <a:chExt cx="3708399" cy="342899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F4D5895-018C-45F6-A79F-678E03E039C2}"/>
                    </a:ext>
                  </a:extLst>
                </p:cNvPr>
                <p:cNvSpPr/>
                <p:nvPr/>
              </p:nvSpPr>
              <p:spPr bwMode="auto">
                <a:xfrm>
                  <a:off x="4343400" y="4409717"/>
                  <a:ext cx="1219200" cy="23817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0" hangingPunct="0">
                    <a:defRPr/>
                  </a:pPr>
                  <a:endParaRPr lang="en-US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26669" name="TextBox 124">
                  <a:extLst>
                    <a:ext uri="{FF2B5EF4-FFF2-40B4-BE49-F238E27FC236}">
                      <a16:creationId xmlns:a16="http://schemas.microsoft.com/office/drawing/2014/main" id="{3DDD1451-F00C-4120-9D8F-FD24D1E767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8036" y="4371201"/>
                  <a:ext cx="1184564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“draw”      •</a:t>
                  </a:r>
                </a:p>
              </p:txBody>
            </p:sp>
            <p:cxnSp>
              <p:nvCxnSpPr>
                <p:cNvPr id="26670" name="Straight Connector 125">
                  <a:extLst>
                    <a:ext uri="{FF2B5EF4-FFF2-40B4-BE49-F238E27FC236}">
                      <a16:creationId xmlns:a16="http://schemas.microsoft.com/office/drawing/2014/main" id="{016C4E67-645B-4276-8539-35B968C8065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066507" y="4523603"/>
                  <a:ext cx="229392" cy="79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6671" name="Straight Connector 166">
                  <a:extLst>
                    <a:ext uri="{FF2B5EF4-FFF2-40B4-BE49-F238E27FC236}">
                      <a16:creationId xmlns:a16="http://schemas.microsoft.com/office/drawing/2014/main" id="{C67AD5E0-59E9-4E33-A086-AB4D6FC945A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936707" y="4419600"/>
                  <a:ext cx="229392" cy="79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26652" name="Group 124">
                <a:extLst>
                  <a:ext uri="{FF2B5EF4-FFF2-40B4-BE49-F238E27FC236}">
                    <a16:creationId xmlns:a16="http://schemas.microsoft.com/office/drawing/2014/main" id="{225CB50E-7195-417E-972E-A72064CF57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2033" y="3695700"/>
                <a:ext cx="1473200" cy="1104900"/>
                <a:chOff x="4851400" y="3581400"/>
                <a:chExt cx="1473200" cy="1104900"/>
              </a:xfrm>
            </p:grpSpPr>
            <p:sp>
              <p:nvSpPr>
                <p:cNvPr id="26659" name="Rectangle 114">
                  <a:extLst>
                    <a:ext uri="{FF2B5EF4-FFF2-40B4-BE49-F238E27FC236}">
                      <a16:creationId xmlns:a16="http://schemas.microsoft.com/office/drawing/2014/main" id="{DDC8E4DE-3EA6-4A03-8007-FD2DFD26E0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3773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0" name="Rectangle 115">
                  <a:extLst>
                    <a:ext uri="{FF2B5EF4-FFF2-40B4-BE49-F238E27FC236}">
                      <a16:creationId xmlns:a16="http://schemas.microsoft.com/office/drawing/2014/main" id="{8FC08904-09E1-4CD9-89FA-39EDB4B535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0005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1" name="Rectangle 116">
                  <a:extLst>
                    <a:ext uri="{FF2B5EF4-FFF2-40B4-BE49-F238E27FC236}">
                      <a16:creationId xmlns:a16="http://schemas.microsoft.com/office/drawing/2014/main" id="{1C644A5C-E076-4F0D-8C2D-E347B4344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2291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2" name="Rectangle 117">
                  <a:extLst>
                    <a:ext uri="{FF2B5EF4-FFF2-40B4-BE49-F238E27FC236}">
                      <a16:creationId xmlns:a16="http://schemas.microsoft.com/office/drawing/2014/main" id="{87BF80E5-8913-4BB7-A0F0-4CAA441B9C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4457700"/>
                  <a:ext cx="838200" cy="22860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6663" name="TextBox 118">
                  <a:extLst>
                    <a:ext uri="{FF2B5EF4-FFF2-40B4-BE49-F238E27FC236}">
                      <a16:creationId xmlns:a16="http://schemas.microsoft.com/office/drawing/2014/main" id="{06AB42B8-1D05-4FD1-9490-2F154A7F8B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400" y="3581400"/>
                  <a:ext cx="601422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400"/>
                    <a:t>Point</a:t>
                  </a:r>
                </a:p>
              </p:txBody>
            </p:sp>
            <p:sp>
              <p:nvSpPr>
                <p:cNvPr id="26664" name="TextBox 119">
                  <a:extLst>
                    <a:ext uri="{FF2B5EF4-FFF2-40B4-BE49-F238E27FC236}">
                      <a16:creationId xmlns:a16="http://schemas.microsoft.com/office/drawing/2014/main" id="{DD58C627-3AD2-4BAC-A61E-7FEE1A3425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34000" y="3952101"/>
                  <a:ext cx="9906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superclass</a:t>
                  </a:r>
                </a:p>
              </p:txBody>
            </p:sp>
            <p:sp>
              <p:nvSpPr>
                <p:cNvPr id="26665" name="TextBox 120">
                  <a:extLst>
                    <a:ext uri="{FF2B5EF4-FFF2-40B4-BE49-F238E27FC236}">
                      <a16:creationId xmlns:a16="http://schemas.microsoft.com/office/drawing/2014/main" id="{1F0BC782-E315-4AEB-8A33-BFD16A5567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1807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code</a:t>
                  </a:r>
                </a:p>
              </p:txBody>
            </p:sp>
            <p:sp>
              <p:nvSpPr>
                <p:cNvPr id="26666" name="TextBox 121">
                  <a:extLst>
                    <a:ext uri="{FF2B5EF4-FFF2-40B4-BE49-F238E27FC236}">
                      <a16:creationId xmlns:a16="http://schemas.microsoft.com/office/drawing/2014/main" id="{4D43D549-FC3B-407B-B083-F9C93A48A1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4381500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…</a:t>
                  </a:r>
                </a:p>
              </p:txBody>
            </p:sp>
            <p:sp>
              <p:nvSpPr>
                <p:cNvPr id="26667" name="TextBox 122">
                  <a:extLst>
                    <a:ext uri="{FF2B5EF4-FFF2-40B4-BE49-F238E27FC236}">
                      <a16:creationId xmlns:a16="http://schemas.microsoft.com/office/drawing/2014/main" id="{FF785E94-CCDF-4577-8EDC-91262744A2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10200" y="3733801"/>
                  <a:ext cx="838200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>
                      <a:latin typeface="Geneva"/>
                      <a:ea typeface="Geneva"/>
                      <a:cs typeface="Geneva"/>
                    </a:rPr>
                    <a:t>class</a:t>
                  </a:r>
                </a:p>
              </p:txBody>
            </p:sp>
          </p:grpSp>
          <p:cxnSp>
            <p:nvCxnSpPr>
              <p:cNvPr id="26653" name="Straight Arrow Connector 108">
                <a:extLst>
                  <a:ext uri="{FF2B5EF4-FFF2-40B4-BE49-F238E27FC236}">
                    <a16:creationId xmlns:a16="http://schemas.microsoft.com/office/drawing/2014/main" id="{CBC1D932-2005-4861-AC8D-089B3E0A7DBF}"/>
                  </a:ext>
                </a:extLst>
              </p:cNvPr>
              <p:cNvCxnSpPr>
                <a:cxnSpLocks noChangeShapeType="1"/>
                <a:stCxn id="26665" idx="3"/>
                <a:endCxn id="124" idx="1"/>
              </p:cNvCxnSpPr>
              <p:nvPr/>
            </p:nvCxnSpPr>
            <p:spPr bwMode="auto">
              <a:xfrm>
                <a:off x="4119033" y="4433501"/>
                <a:ext cx="224367" cy="95849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26654" name="Group 74">
                <a:extLst>
                  <a:ext uri="{FF2B5EF4-FFF2-40B4-BE49-F238E27FC236}">
                    <a16:creationId xmlns:a16="http://schemas.microsoft.com/office/drawing/2014/main" id="{A5F73035-1EEB-477E-824D-793487EE15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9033" y="4209256"/>
                <a:ext cx="457200" cy="153194"/>
                <a:chOff x="1981200" y="4292600"/>
                <a:chExt cx="457200" cy="153194"/>
              </a:xfrm>
            </p:grpSpPr>
            <p:cxnSp>
              <p:nvCxnSpPr>
                <p:cNvPr id="26655" name="Straight Connector 110">
                  <a:extLst>
                    <a:ext uri="{FF2B5EF4-FFF2-40B4-BE49-F238E27FC236}">
                      <a16:creationId xmlns:a16="http://schemas.microsoft.com/office/drawing/2014/main" id="{389F39F1-5274-4974-9B58-0577E710234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81200" y="4292600"/>
                  <a:ext cx="381000" cy="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6656" name="Straight Connector 111">
                  <a:extLst>
                    <a:ext uri="{FF2B5EF4-FFF2-40B4-BE49-F238E27FC236}">
                      <a16:creationId xmlns:a16="http://schemas.microsoft.com/office/drawing/2014/main" id="{30280196-D772-454A-B7A4-4CF8919FEDA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6657" name="Straight Connector 112">
                  <a:extLst>
                    <a:ext uri="{FF2B5EF4-FFF2-40B4-BE49-F238E27FC236}">
                      <a16:creationId xmlns:a16="http://schemas.microsoft.com/office/drawing/2014/main" id="{33E59633-9C2F-4508-929D-1460541602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86000" y="4368800"/>
                  <a:ext cx="1524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6658" name="Straight Connector 113">
                  <a:extLst>
                    <a:ext uri="{FF2B5EF4-FFF2-40B4-BE49-F238E27FC236}">
                      <a16:creationId xmlns:a16="http://schemas.microsoft.com/office/drawing/2014/main" id="{8DC2BBB1-AE84-4644-812E-A51341F72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315210" y="4406900"/>
                  <a:ext cx="9144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  <p:grpSp>
          <p:nvGrpSpPr>
            <p:cNvPr id="26638" name="Group 118">
              <a:extLst>
                <a:ext uri="{FF2B5EF4-FFF2-40B4-BE49-F238E27FC236}">
                  <a16:creationId xmlns:a16="http://schemas.microsoft.com/office/drawing/2014/main" id="{DF237678-F51D-4FE4-A511-F073BF8971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3633" y="5143500"/>
              <a:ext cx="1219200" cy="876300"/>
              <a:chOff x="6858000" y="5372100"/>
              <a:chExt cx="1219200" cy="876300"/>
            </a:xfrm>
          </p:grpSpPr>
          <p:sp>
            <p:nvSpPr>
              <p:cNvPr id="26644" name="Rectangle 99">
                <a:extLst>
                  <a:ext uri="{FF2B5EF4-FFF2-40B4-BE49-F238E27FC236}">
                    <a16:creationId xmlns:a16="http://schemas.microsoft.com/office/drawing/2014/main" id="{9A759347-6ECC-45DF-9A15-3C64AD8A8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563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45" name="Rectangle 100">
                <a:extLst>
                  <a:ext uri="{FF2B5EF4-FFF2-40B4-BE49-F238E27FC236}">
                    <a16:creationId xmlns:a16="http://schemas.microsoft.com/office/drawing/2014/main" id="{17475EBA-E5FE-4D89-AD15-C9057CE6D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57912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46" name="Rectangle 101">
                <a:extLst>
                  <a:ext uri="{FF2B5EF4-FFF2-40B4-BE49-F238E27FC236}">
                    <a16:creationId xmlns:a16="http://schemas.microsoft.com/office/drawing/2014/main" id="{D7498C4F-8702-440A-BE24-55C21556E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6019800"/>
                <a:ext cx="838200" cy="2286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6647" name="TextBox 102">
                <a:extLst>
                  <a:ext uri="{FF2B5EF4-FFF2-40B4-BE49-F238E27FC236}">
                    <a16:creationId xmlns:a16="http://schemas.microsoft.com/office/drawing/2014/main" id="{ACA07E5D-E128-41DB-9B51-438BF8AE2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0" y="5372100"/>
                <a:ext cx="39637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r>
                  <a:rPr lang="en-US" altLang="it-IT" sz="1400"/>
                  <a:t>LR</a:t>
                </a:r>
              </a:p>
            </p:txBody>
          </p:sp>
          <p:sp>
            <p:nvSpPr>
              <p:cNvPr id="26648" name="TextBox 103">
                <a:extLst>
                  <a:ext uri="{FF2B5EF4-FFF2-40B4-BE49-F238E27FC236}">
                    <a16:creationId xmlns:a16="http://schemas.microsoft.com/office/drawing/2014/main" id="{0CB13FB7-F57C-4726-B757-1FCFAF9A3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7428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x</a:t>
                </a:r>
              </a:p>
            </p:txBody>
          </p:sp>
          <p:sp>
            <p:nvSpPr>
              <p:cNvPr id="26649" name="TextBox 104">
                <a:extLst>
                  <a:ext uri="{FF2B5EF4-FFF2-40B4-BE49-F238E27FC236}">
                    <a16:creationId xmlns:a16="http://schemas.microsoft.com/office/drawing/2014/main" id="{066A24BD-9752-4A4D-8EC5-3716D372B1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5971401"/>
                <a:ext cx="457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y</a:t>
                </a:r>
              </a:p>
            </p:txBody>
          </p:sp>
          <p:sp>
            <p:nvSpPr>
              <p:cNvPr id="26650" name="TextBox 105">
                <a:extLst>
                  <a:ext uri="{FF2B5EF4-FFF2-40B4-BE49-F238E27FC236}">
                    <a16:creationId xmlns:a16="http://schemas.microsoft.com/office/drawing/2014/main" id="{AFF6F336-1362-4E7B-9BA5-728AFB62FD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39000" y="5524500"/>
                <a:ext cx="83820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>
                    <a:latin typeface="Geneva"/>
                    <a:ea typeface="Geneva"/>
                    <a:cs typeface="Geneva"/>
                  </a:rPr>
                  <a:t>class</a:t>
                </a:r>
              </a:p>
            </p:txBody>
          </p:sp>
        </p:grpSp>
        <p:cxnSp>
          <p:nvCxnSpPr>
            <p:cNvPr id="26639" name="Straight Arrow Connector 94">
              <a:extLst>
                <a:ext uri="{FF2B5EF4-FFF2-40B4-BE49-F238E27FC236}">
                  <a16:creationId xmlns:a16="http://schemas.microsoft.com/office/drawing/2014/main" id="{3A8BA237-D7CD-404E-B0A3-8DAF9936665E}"/>
                </a:ext>
              </a:extLst>
            </p:cNvPr>
            <p:cNvCxnSpPr>
              <a:cxnSpLocks noChangeShapeType="1"/>
              <a:stCxn id="26667" idx="1"/>
            </p:cNvCxnSpPr>
            <p:nvPr/>
          </p:nvCxnSpPr>
          <p:spPr bwMode="auto">
            <a:xfrm rot="10800000" flipV="1">
              <a:off x="2226733" y="3986600"/>
              <a:ext cx="1054100" cy="138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6640" name="Freeform 95">
              <a:extLst>
                <a:ext uri="{FF2B5EF4-FFF2-40B4-BE49-F238E27FC236}">
                  <a16:creationId xmlns:a16="http://schemas.microsoft.com/office/drawing/2014/main" id="{5D8E7A56-A8AC-4001-866C-A69BE04D7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3560233"/>
              <a:ext cx="829733" cy="448734"/>
            </a:xfrm>
            <a:custGeom>
              <a:avLst/>
              <a:gdLst>
                <a:gd name="T0" fmla="*/ 626533 w 829733"/>
                <a:gd name="T1" fmla="*/ 440267 h 448734"/>
                <a:gd name="T2" fmla="*/ 270933 w 829733"/>
                <a:gd name="T3" fmla="*/ 440267 h 448734"/>
                <a:gd name="T4" fmla="*/ 42333 w 829733"/>
                <a:gd name="T5" fmla="*/ 389467 h 448734"/>
                <a:gd name="T6" fmla="*/ 55033 w 829733"/>
                <a:gd name="T7" fmla="*/ 97367 h 448734"/>
                <a:gd name="T8" fmla="*/ 372533 w 829733"/>
                <a:gd name="T9" fmla="*/ 33867 h 448734"/>
                <a:gd name="T10" fmla="*/ 829733 w 829733"/>
                <a:gd name="T11" fmla="*/ 300567 h 4487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29733"/>
                <a:gd name="T19" fmla="*/ 0 h 448734"/>
                <a:gd name="T20" fmla="*/ 829733 w 829733"/>
                <a:gd name="T21" fmla="*/ 448734 h 4487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29733" h="448734">
                  <a:moveTo>
                    <a:pt x="626533" y="440267"/>
                  </a:moveTo>
                  <a:cubicBezTo>
                    <a:pt x="497416" y="444500"/>
                    <a:pt x="368300" y="448734"/>
                    <a:pt x="270933" y="440267"/>
                  </a:cubicBezTo>
                  <a:cubicBezTo>
                    <a:pt x="173566" y="431800"/>
                    <a:pt x="78316" y="446617"/>
                    <a:pt x="42333" y="389467"/>
                  </a:cubicBezTo>
                  <a:cubicBezTo>
                    <a:pt x="6350" y="332317"/>
                    <a:pt x="0" y="156634"/>
                    <a:pt x="55033" y="97367"/>
                  </a:cubicBezTo>
                  <a:cubicBezTo>
                    <a:pt x="110066" y="38100"/>
                    <a:pt x="243416" y="0"/>
                    <a:pt x="372533" y="33867"/>
                  </a:cubicBezTo>
                  <a:cubicBezTo>
                    <a:pt x="501650" y="67734"/>
                    <a:pt x="829733" y="300567"/>
                    <a:pt x="829733" y="300567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26641" name="Straight Arrow Connector 96">
              <a:extLst>
                <a:ext uri="{FF2B5EF4-FFF2-40B4-BE49-F238E27FC236}">
                  <a16:creationId xmlns:a16="http://schemas.microsoft.com/office/drawing/2014/main" id="{578EF072-2A31-4573-9208-4E32B6308540}"/>
                </a:ext>
              </a:extLst>
            </p:cNvPr>
            <p:cNvCxnSpPr>
              <a:cxnSpLocks noChangeShapeType="1"/>
              <a:stCxn id="26680" idx="1"/>
              <a:endCxn id="26667" idx="3"/>
            </p:cNvCxnSpPr>
            <p:nvPr/>
          </p:nvCxnSpPr>
          <p:spPr bwMode="auto">
            <a:xfrm rot="10800000">
              <a:off x="4119033" y="3986602"/>
              <a:ext cx="1752600" cy="24369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6642" name="Freeform 97">
              <a:extLst>
                <a:ext uri="{FF2B5EF4-FFF2-40B4-BE49-F238E27FC236}">
                  <a16:creationId xmlns:a16="http://schemas.microsoft.com/office/drawing/2014/main" id="{8F5282C7-2A3F-468C-BABE-67A8168E9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133" y="4051300"/>
              <a:ext cx="508000" cy="1443567"/>
            </a:xfrm>
            <a:custGeom>
              <a:avLst/>
              <a:gdLst>
                <a:gd name="T0" fmla="*/ 444500 w 508000"/>
                <a:gd name="T1" fmla="*/ 1384300 h 1443567"/>
                <a:gd name="T2" fmla="*/ 114300 w 508000"/>
                <a:gd name="T3" fmla="*/ 1409700 h 1443567"/>
                <a:gd name="T4" fmla="*/ 0 w 508000"/>
                <a:gd name="T5" fmla="*/ 1181100 h 1443567"/>
                <a:gd name="T6" fmla="*/ 114300 w 508000"/>
                <a:gd name="T7" fmla="*/ 584200 h 1443567"/>
                <a:gd name="T8" fmla="*/ 508000 w 508000"/>
                <a:gd name="T9" fmla="*/ 0 h 1443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8000"/>
                <a:gd name="T16" fmla="*/ 0 h 1443567"/>
                <a:gd name="T17" fmla="*/ 508000 w 508000"/>
                <a:gd name="T18" fmla="*/ 1443567 h 1443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8000" h="1443567">
                  <a:moveTo>
                    <a:pt x="444500" y="1384300"/>
                  </a:moveTo>
                  <a:cubicBezTo>
                    <a:pt x="316441" y="1413933"/>
                    <a:pt x="188383" y="1443567"/>
                    <a:pt x="114300" y="1409700"/>
                  </a:cubicBezTo>
                  <a:cubicBezTo>
                    <a:pt x="40217" y="1375833"/>
                    <a:pt x="0" y="1318683"/>
                    <a:pt x="0" y="1181100"/>
                  </a:cubicBezTo>
                  <a:cubicBezTo>
                    <a:pt x="0" y="1043517"/>
                    <a:pt x="29633" y="781050"/>
                    <a:pt x="114300" y="584200"/>
                  </a:cubicBezTo>
                  <a:cubicBezTo>
                    <a:pt x="198967" y="387350"/>
                    <a:pt x="508000" y="0"/>
                    <a:pt x="50800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6643" name="Freeform 98">
              <a:extLst>
                <a:ext uri="{FF2B5EF4-FFF2-40B4-BE49-F238E27FC236}">
                  <a16:creationId xmlns:a16="http://schemas.microsoft.com/office/drawing/2014/main" id="{AAA38E88-5A7E-4546-B152-6EE9F903E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4583" y="4013200"/>
              <a:ext cx="527050" cy="1445683"/>
            </a:xfrm>
            <a:custGeom>
              <a:avLst/>
              <a:gdLst>
                <a:gd name="T0" fmla="*/ 527050 w 527050"/>
                <a:gd name="T1" fmla="*/ 1358900 h 1445683"/>
                <a:gd name="T2" fmla="*/ 260350 w 527050"/>
                <a:gd name="T3" fmla="*/ 1422400 h 1445683"/>
                <a:gd name="T4" fmla="*/ 19050 w 527050"/>
                <a:gd name="T5" fmla="*/ 1219200 h 1445683"/>
                <a:gd name="T6" fmla="*/ 146050 w 527050"/>
                <a:gd name="T7" fmla="*/ 495300 h 1445683"/>
                <a:gd name="T8" fmla="*/ 527050 w 527050"/>
                <a:gd name="T9" fmla="*/ 0 h 1445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7050"/>
                <a:gd name="T16" fmla="*/ 0 h 1445683"/>
                <a:gd name="T17" fmla="*/ 527050 w 527050"/>
                <a:gd name="T18" fmla="*/ 1445683 h 14456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7050" h="1445683">
                  <a:moveTo>
                    <a:pt x="527050" y="1358900"/>
                  </a:moveTo>
                  <a:cubicBezTo>
                    <a:pt x="436033" y="1402291"/>
                    <a:pt x="345017" y="1445683"/>
                    <a:pt x="260350" y="1422400"/>
                  </a:cubicBezTo>
                  <a:cubicBezTo>
                    <a:pt x="175683" y="1399117"/>
                    <a:pt x="38100" y="1373717"/>
                    <a:pt x="19050" y="1219200"/>
                  </a:cubicBezTo>
                  <a:cubicBezTo>
                    <a:pt x="0" y="1064683"/>
                    <a:pt x="61383" y="698500"/>
                    <a:pt x="146050" y="495300"/>
                  </a:cubicBezTo>
                  <a:cubicBezTo>
                    <a:pt x="230717" y="292100"/>
                    <a:pt x="527050" y="0"/>
                    <a:pt x="527050" y="0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26630" name="Group 169">
            <a:extLst>
              <a:ext uri="{FF2B5EF4-FFF2-40B4-BE49-F238E27FC236}">
                <a16:creationId xmlns:a16="http://schemas.microsoft.com/office/drawing/2014/main" id="{3AD17AC9-3366-4F31-97E9-FEABD31C22A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648200"/>
            <a:ext cx="7099300" cy="1905000"/>
            <a:chOff x="609600" y="4648200"/>
            <a:chExt cx="7099300" cy="190500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208B5A-D3AB-45B5-8BC5-18FD00CE4E20}"/>
                </a:ext>
              </a:extLst>
            </p:cNvPr>
            <p:cNvSpPr txBox="1"/>
            <p:nvPr/>
          </p:nvSpPr>
          <p:spPr>
            <a:xfrm>
              <a:off x="609600" y="6245225"/>
              <a:ext cx="6400800" cy="307975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If </a:t>
              </a:r>
              <a:r>
                <a:rPr lang="en-US" sz="1400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ColorPoint</a:t>
              </a: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inherited draw from Point, its code vector would lack a draw.</a:t>
              </a:r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FF59818A-5A56-4FEE-AF50-F0A6EF71E3FE}"/>
                </a:ext>
              </a:extLst>
            </p:cNvPr>
            <p:cNvSpPr/>
            <p:nvPr/>
          </p:nvSpPr>
          <p:spPr bwMode="auto">
            <a:xfrm>
              <a:off x="7010400" y="4648200"/>
              <a:ext cx="698500" cy="1765300"/>
            </a:xfrm>
            <a:custGeom>
              <a:avLst/>
              <a:gdLst>
                <a:gd name="connsiteX0" fmla="*/ 0 w 698500"/>
                <a:gd name="connsiteY0" fmla="*/ 1765300 h 1765300"/>
                <a:gd name="connsiteX1" fmla="*/ 419100 w 698500"/>
                <a:gd name="connsiteY1" fmla="*/ 1562100 h 1765300"/>
                <a:gd name="connsiteX2" fmla="*/ 647700 w 698500"/>
                <a:gd name="connsiteY2" fmla="*/ 1104900 h 1765300"/>
                <a:gd name="connsiteX3" fmla="*/ 698500 w 698500"/>
                <a:gd name="connsiteY3" fmla="*/ 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00" h="1765300">
                  <a:moveTo>
                    <a:pt x="0" y="1765300"/>
                  </a:moveTo>
                  <a:cubicBezTo>
                    <a:pt x="155575" y="1718733"/>
                    <a:pt x="311150" y="1672167"/>
                    <a:pt x="419100" y="1562100"/>
                  </a:cubicBezTo>
                  <a:cubicBezTo>
                    <a:pt x="527050" y="1452033"/>
                    <a:pt x="601133" y="1365250"/>
                    <a:pt x="647700" y="1104900"/>
                  </a:cubicBezTo>
                  <a:cubicBezTo>
                    <a:pt x="694267" y="844550"/>
                    <a:pt x="698500" y="0"/>
                    <a:pt x="698500" y="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77CFF15B-C900-48A5-A16B-1535335365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105206E5-AC51-432B-864D-810A8A0355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A54DCE5-2EEF-4822-A308-E5E24DB06A4C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B8C517A-2DE4-4A80-9D46-E73B58D2C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Single Inheritance Hierarchy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B3436444-04B6-43BC-89EB-ADFA0C983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153400" cy="5105400"/>
          </a:xfrm>
        </p:spPr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Two distinct philosophies </a:t>
            </a:r>
          </a:p>
          <a:p>
            <a:pPr eaLnBrk="1" hangingPunct="1">
              <a:spcBef>
                <a:spcPct val="750000"/>
              </a:spcBef>
              <a:buFont typeface="Times" charset="0"/>
              <a:buNone/>
              <a:defRPr/>
            </a:pPr>
            <a:endParaRPr lang="en-US" dirty="0"/>
          </a:p>
          <a:p>
            <a:pPr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dirty="0"/>
              <a:t>Impact of OOL on Program’s Name Space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Method can see values in the code’s lexical hierarchy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Method can see members of self, class, &amp; </a:t>
            </a:r>
            <a:r>
              <a:rPr lang="en-US" dirty="0" err="1"/>
              <a:t>superclasses</a:t>
            </a:r>
            <a:endParaRPr lang="en-US" dirty="0"/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Many different levels where a value can reside</a:t>
            </a:r>
          </a:p>
          <a:p>
            <a:pPr marL="0" indent="0" eaLnBrk="1" hangingPunct="1">
              <a:buFont typeface="Times" charset="0"/>
              <a:buNone/>
              <a:defRPr/>
            </a:pPr>
            <a:r>
              <a:rPr lang="en-US" dirty="0"/>
              <a:t>OOL differs from ALL in the shape of its name space </a:t>
            </a:r>
            <a:r>
              <a:rPr lang="en-US" sz="1600" b="1" i="1" u="sng" dirty="0"/>
              <a:t>AND</a:t>
            </a:r>
            <a:r>
              <a:rPr lang="en-US" sz="1600" b="1" dirty="0"/>
              <a:t> </a:t>
            </a:r>
            <a:r>
              <a:rPr lang="en-US" dirty="0"/>
              <a:t>in the mechanism used to bind names to implementations</a:t>
            </a:r>
          </a:p>
        </p:txBody>
      </p:sp>
      <p:grpSp>
        <p:nvGrpSpPr>
          <p:cNvPr id="27653" name="Group 9">
            <a:extLst>
              <a:ext uri="{FF2B5EF4-FFF2-40B4-BE49-F238E27FC236}">
                <a16:creationId xmlns:a16="http://schemas.microsoft.com/office/drawing/2014/main" id="{9E7F301C-733B-4FDC-9680-A870CC50377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600200"/>
            <a:ext cx="7162800" cy="1816100"/>
            <a:chOff x="990600" y="1600200"/>
            <a:chExt cx="7162800" cy="1815882"/>
          </a:xfrm>
        </p:grpSpPr>
        <p:sp>
          <p:nvSpPr>
            <p:cNvPr id="56328" name="Text Box 5">
              <a:extLst>
                <a:ext uri="{FF2B5EF4-FFF2-40B4-BE49-F238E27FC236}">
                  <a16:creationId xmlns:a16="http://schemas.microsoft.com/office/drawing/2014/main" id="{C1493908-6259-44DF-A77E-66C6CDCF0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1600200"/>
              <a:ext cx="3211513" cy="1815882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 u="sng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Closed Class Structure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    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(C++)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Can map name to code at  compile time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Leads to 1-level code vector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Copy </a:t>
              </a:r>
              <a:r>
                <a:rPr lang="en-US" sz="1600" dirty="0" err="1">
                  <a:latin typeface="Comic Sans MS" charset="0"/>
                  <a:ea typeface="ヒラギノ角ゴ Pro W3" charset="-128"/>
                  <a:cs typeface="ヒラギノ角ゴ Pro W3" charset="-128"/>
                </a:rPr>
                <a:t>superclass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methods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Fixed offsets &amp; indirect calls</a:t>
              </a:r>
            </a:p>
            <a:p>
              <a:pPr marL="177800" indent="-177800" eaLnBrk="0" hangingPunct="0">
                <a:spcAft>
                  <a:spcPts val="600"/>
                </a:spcAft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Less flexible &amp; expressive</a:t>
              </a:r>
            </a:p>
          </p:txBody>
        </p:sp>
        <p:sp>
          <p:nvSpPr>
            <p:cNvPr id="56329" name="Text Box 6">
              <a:extLst>
                <a:ext uri="{FF2B5EF4-FFF2-40B4-BE49-F238E27FC236}">
                  <a16:creationId xmlns:a16="http://schemas.microsoft.com/office/drawing/2014/main" id="{0475F623-F665-4BF8-9EB0-8764193F0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888" y="1600200"/>
              <a:ext cx="3211512" cy="1815882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 u="sng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Open Class Structure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  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(ST80)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Cannot map name to code at compile time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Multiple jump vectors </a:t>
              </a: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</a:t>
              </a:r>
              <a:r>
                <a:rPr lang="en-US" sz="1200" b="1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1</a:t>
              </a: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/class)</a:t>
              </a:r>
              <a:endParaRPr lang="en-US" sz="1600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Must search for method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Run-time lookup caching</a:t>
              </a:r>
            </a:p>
            <a:p>
              <a:pPr marL="177800" indent="-177800" eaLnBrk="0" hangingPunct="0">
                <a:spcAft>
                  <a:spcPts val="600"/>
                </a:spcAft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Much </a:t>
              </a:r>
              <a:r>
                <a:rPr lang="en-US" sz="1600" dirty="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more expensive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to run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0F7C295B-1C23-432B-89D2-044EAA2347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7E0592E7-D75A-477F-8DD5-B8F22D6AE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8A23A06-6FD0-450E-A58B-DD1A6444F1B2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D8357E7-7418-4099-8C0F-A5B62F1AD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Single Inheritance Hierarchy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B1B4B870-7D0B-4FAE-83AF-B3077D699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153400" cy="5105400"/>
          </a:xfrm>
        </p:spPr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Two distinct philosophies </a:t>
            </a:r>
          </a:p>
          <a:p>
            <a:pPr eaLnBrk="1" hangingPunct="1">
              <a:spcBef>
                <a:spcPct val="750000"/>
              </a:spcBef>
              <a:buFont typeface="Times" charset="0"/>
              <a:buNone/>
              <a:defRPr/>
            </a:pPr>
            <a:endParaRPr lang="en-US" dirty="0"/>
          </a:p>
          <a:p>
            <a:pPr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dirty="0"/>
              <a:t>Impact of OOL on Program’s Name Space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Method can see values in the code’s lexical hierarchy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Method can see members of self, class, &amp; </a:t>
            </a:r>
            <a:r>
              <a:rPr lang="en-US" dirty="0" err="1"/>
              <a:t>superclasses</a:t>
            </a:r>
            <a:endParaRPr lang="en-US" dirty="0"/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Many different levels where a value can reside</a:t>
            </a:r>
          </a:p>
          <a:p>
            <a:pPr marL="0" indent="0" eaLnBrk="1" hangingPunct="1">
              <a:buFont typeface="Times" charset="0"/>
              <a:buNone/>
              <a:defRPr/>
            </a:pPr>
            <a:r>
              <a:rPr lang="en-US" dirty="0"/>
              <a:t>OOL differs from ALL in the shape of its name space </a:t>
            </a:r>
            <a:r>
              <a:rPr lang="en-US" sz="1600" b="1" i="1" u="sng" dirty="0"/>
              <a:t>AND</a:t>
            </a:r>
            <a:r>
              <a:rPr lang="en-US" sz="1600" b="1" dirty="0"/>
              <a:t> </a:t>
            </a:r>
            <a:r>
              <a:rPr lang="en-US" dirty="0"/>
              <a:t>in the mechanism used to bind names to implementations</a:t>
            </a:r>
          </a:p>
        </p:txBody>
      </p:sp>
      <p:grpSp>
        <p:nvGrpSpPr>
          <p:cNvPr id="29701" name="Group 9">
            <a:extLst>
              <a:ext uri="{FF2B5EF4-FFF2-40B4-BE49-F238E27FC236}">
                <a16:creationId xmlns:a16="http://schemas.microsoft.com/office/drawing/2014/main" id="{608B3DE8-68CD-4B2E-B5C0-44394E51AEE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600200"/>
            <a:ext cx="7162800" cy="1816100"/>
            <a:chOff x="990600" y="1600200"/>
            <a:chExt cx="7162800" cy="1815882"/>
          </a:xfrm>
        </p:grpSpPr>
        <p:sp>
          <p:nvSpPr>
            <p:cNvPr id="56328" name="Text Box 5">
              <a:extLst>
                <a:ext uri="{FF2B5EF4-FFF2-40B4-BE49-F238E27FC236}">
                  <a16:creationId xmlns:a16="http://schemas.microsoft.com/office/drawing/2014/main" id="{4ACC2C95-A2BD-4B2B-B34F-FD8B25C05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1600200"/>
              <a:ext cx="3211513" cy="1815882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 u="sng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Closed Class Structure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    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(C++)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Can map name to code at  compile time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Leads to 1-level code vector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Copy </a:t>
              </a:r>
              <a:r>
                <a:rPr lang="en-US" sz="1600" dirty="0" err="1">
                  <a:latin typeface="Comic Sans MS" charset="0"/>
                  <a:ea typeface="ヒラギノ角ゴ Pro W3" charset="-128"/>
                  <a:cs typeface="ヒラギノ角ゴ Pro W3" charset="-128"/>
                </a:rPr>
                <a:t>superclass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methods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Fixed offsets &amp; indirect calls</a:t>
              </a:r>
            </a:p>
            <a:p>
              <a:pPr marL="177800" indent="-177800" eaLnBrk="0" hangingPunct="0">
                <a:spcAft>
                  <a:spcPts val="600"/>
                </a:spcAft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Less flexible &amp; expressive</a:t>
              </a:r>
            </a:p>
          </p:txBody>
        </p:sp>
        <p:sp>
          <p:nvSpPr>
            <p:cNvPr id="56329" name="Text Box 6">
              <a:extLst>
                <a:ext uri="{FF2B5EF4-FFF2-40B4-BE49-F238E27FC236}">
                  <a16:creationId xmlns:a16="http://schemas.microsoft.com/office/drawing/2014/main" id="{3409B05B-2A94-40FE-97A0-900E5DBC3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888" y="1600200"/>
              <a:ext cx="3211512" cy="1815882"/>
            </a:xfrm>
            <a:prstGeom prst="rect">
              <a:avLst/>
            </a:prstGeom>
            <a:noFill/>
            <a:ln w="19050">
              <a:solidFill>
                <a:srgbClr val="003C75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 u="sng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Open Class Structure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  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(ST80)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Cannot map name to code at compile time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Multiple jump vectors </a:t>
              </a: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(</a:t>
              </a:r>
              <a:r>
                <a:rPr lang="en-US" sz="1200" b="1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1</a:t>
              </a: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/class)</a:t>
              </a:r>
              <a:endParaRPr lang="en-US" sz="1600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Must search for method</a:t>
              </a:r>
            </a:p>
            <a:p>
              <a:pPr marL="177800" indent="-177800" eaLnBrk="0" hangingPunct="0"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Run-time lookup caching</a:t>
              </a:r>
            </a:p>
            <a:p>
              <a:pPr marL="177800" indent="-177800" eaLnBrk="0" hangingPunct="0">
                <a:spcAft>
                  <a:spcPts val="600"/>
                </a:spcAft>
                <a:buClr>
                  <a:srgbClr val="003C75"/>
                </a:buClr>
                <a:buSzPct val="120000"/>
                <a:buFontTx/>
                <a:buChar char="•"/>
                <a:defRPr/>
              </a:pP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Much </a:t>
              </a:r>
              <a:r>
                <a:rPr lang="en-US" sz="1600" dirty="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more expensive </a:t>
              </a:r>
              <a:r>
                <a:rPr lang="en-US" sz="16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to run</a:t>
              </a:r>
            </a:p>
          </p:txBody>
        </p:sp>
      </p:grpSp>
      <p:sp>
        <p:nvSpPr>
          <p:cNvPr id="44039" name="Text Box 7">
            <a:extLst>
              <a:ext uri="{FF2B5EF4-FFF2-40B4-BE49-F238E27FC236}">
                <a16:creationId xmlns:a16="http://schemas.microsoft.com/office/drawing/2014/main" id="{02C058B9-A7C6-4C80-84E8-3480FF14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93900"/>
            <a:ext cx="3962400" cy="18161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C75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Runtime changes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   		      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(Java)</a:t>
            </a:r>
          </a:p>
          <a:p>
            <a:pPr marL="177800" indent="-177800" eaLnBrk="0" hangingPunct="0"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Layout OR by prefixing</a:t>
            </a:r>
          </a:p>
          <a:p>
            <a:pPr marL="177800" indent="-177800" eaLnBrk="0" hangingPunct="0"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Limit changes in instantiated  classes </a:t>
            </a:r>
          </a:p>
          <a:p>
            <a:pPr marL="177800" indent="-177800" eaLnBrk="0" hangingPunct="0"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Use 1-level code vectors and rebuild on hierarchy change</a:t>
            </a:r>
          </a:p>
          <a:p>
            <a:pPr marL="177800" indent="-177800" eaLnBrk="0" hangingPunct="0">
              <a:buClr>
                <a:srgbClr val="003C75"/>
              </a:buClr>
              <a:buSzPct val="120000"/>
              <a:buFontTx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Fixed offsets &amp; 1-level of indirection on calls</a:t>
            </a: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D52026EF-CC25-4079-B13F-404ABF85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Multiple Inheritance?</a:t>
            </a:r>
          </a:p>
        </p:txBody>
      </p:sp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AB67D693-42B8-4691-9678-6868C113D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Idea</a:t>
            </a:r>
          </a:p>
          <a:p>
            <a:r>
              <a:rPr lang="en-US" altLang="it-IT"/>
              <a:t>Let </a:t>
            </a:r>
            <a:r>
              <a:rPr lang="en-US" altLang="it-IT" i="1"/>
              <a:t>C</a:t>
            </a:r>
            <a:r>
              <a:rPr lang="en-US" altLang="it-IT"/>
              <a:t> </a:t>
            </a:r>
            <a:r>
              <a:rPr lang="en-US" altLang="it-IT" sz="1000"/>
              <a:t> </a:t>
            </a:r>
            <a:r>
              <a:rPr lang="en-US" altLang="it-IT"/>
              <a:t>be a subclass of both </a:t>
            </a:r>
            <a:r>
              <a:rPr lang="en-US" altLang="it-IT" i="1"/>
              <a:t>A</a:t>
            </a:r>
            <a:r>
              <a:rPr lang="en-US" altLang="it-IT"/>
              <a:t> and </a:t>
            </a:r>
            <a:r>
              <a:rPr lang="en-US" altLang="it-IT" i="1"/>
              <a:t>B</a:t>
            </a:r>
            <a:endParaRPr lang="en-US" altLang="it-IT"/>
          </a:p>
          <a:p>
            <a:r>
              <a:rPr lang="en-US" altLang="it-IT" i="1"/>
              <a:t>C</a:t>
            </a:r>
            <a:r>
              <a:rPr lang="en-US" altLang="it-IT"/>
              <a:t> draws some, but not all, methods from </a:t>
            </a:r>
            <a:r>
              <a:rPr lang="en-US" altLang="it-IT" i="1"/>
              <a:t>A</a:t>
            </a:r>
            <a:endParaRPr lang="en-US" altLang="it-IT"/>
          </a:p>
          <a:p>
            <a:r>
              <a:rPr lang="en-US" altLang="it-IT" i="1"/>
              <a:t>C</a:t>
            </a:r>
            <a:r>
              <a:rPr lang="en-US" altLang="it-IT"/>
              <a:t> draws some, but not all, methods from </a:t>
            </a:r>
            <a:r>
              <a:rPr lang="en-US" altLang="it-IT" i="1"/>
              <a:t>B</a:t>
            </a:r>
            <a:endParaRPr lang="en-US" altLang="it-IT"/>
          </a:p>
          <a:p>
            <a:pPr>
              <a:buFont typeface="Times" panose="02020603050405020304" pitchFamily="18" charset="0"/>
              <a:buNone/>
            </a:pPr>
            <a:r>
              <a:rPr lang="en-US" altLang="it-IT"/>
              <a:t>Need a linguistic mechanism to specify partial inheritance</a:t>
            </a:r>
          </a:p>
          <a:p>
            <a:pPr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Problems arise when </a:t>
            </a:r>
            <a:r>
              <a:rPr lang="en-US" altLang="it-IT" i="1">
                <a:solidFill>
                  <a:srgbClr val="003C75"/>
                </a:solidFill>
              </a:rPr>
              <a:t>C</a:t>
            </a:r>
            <a:r>
              <a:rPr lang="en-US" altLang="it-IT">
                <a:solidFill>
                  <a:srgbClr val="003C75"/>
                </a:solidFill>
              </a:rPr>
              <a:t> inherits from both </a:t>
            </a:r>
            <a:r>
              <a:rPr lang="en-US" altLang="it-IT" i="1">
                <a:solidFill>
                  <a:srgbClr val="003C75"/>
                </a:solidFill>
              </a:rPr>
              <a:t>A</a:t>
            </a:r>
            <a:r>
              <a:rPr lang="en-US" altLang="it-IT">
                <a:solidFill>
                  <a:srgbClr val="003C75"/>
                </a:solidFill>
              </a:rPr>
              <a:t> &amp; </a:t>
            </a:r>
            <a:r>
              <a:rPr lang="en-US" altLang="it-IT" i="1">
                <a:solidFill>
                  <a:srgbClr val="003C75"/>
                </a:solidFill>
              </a:rPr>
              <a:t>B</a:t>
            </a:r>
          </a:p>
          <a:p>
            <a:r>
              <a:rPr lang="en-US" altLang="it-IT" i="1"/>
              <a:t>C </a:t>
            </a:r>
            <a:r>
              <a:rPr lang="en-US" altLang="it-IT"/>
              <a:t>‘s OR can extend </a:t>
            </a:r>
            <a:r>
              <a:rPr lang="en-US" altLang="it-IT" i="1"/>
              <a:t>A</a:t>
            </a:r>
            <a:r>
              <a:rPr lang="en-US" altLang="it-IT"/>
              <a:t> or </a:t>
            </a:r>
            <a:r>
              <a:rPr lang="en-US" altLang="it-IT" i="1"/>
              <a:t>B</a:t>
            </a:r>
            <a:r>
              <a:rPr lang="en-US" altLang="it-IT"/>
              <a:t>, but not both</a:t>
            </a:r>
          </a:p>
          <a:p>
            <a:r>
              <a:rPr lang="en-US" altLang="it-IT" i="1"/>
              <a:t>C</a:t>
            </a:r>
            <a:r>
              <a:rPr lang="en-US" altLang="it-IT"/>
              <a:t> ‘s code vector can extend </a:t>
            </a:r>
            <a:r>
              <a:rPr lang="en-US" altLang="it-IT" i="1"/>
              <a:t>A</a:t>
            </a:r>
            <a:r>
              <a:rPr lang="en-US" altLang="it-IT"/>
              <a:t> or </a:t>
            </a:r>
            <a:r>
              <a:rPr lang="en-US" altLang="it-IT" i="1"/>
              <a:t>B</a:t>
            </a:r>
            <a:r>
              <a:rPr lang="en-US" altLang="it-IT"/>
              <a:t>, but not both</a:t>
            </a:r>
          </a:p>
          <a:p>
            <a:r>
              <a:rPr lang="en-US" altLang="it-IT"/>
              <a:t>Some class </a:t>
            </a:r>
            <a:r>
              <a:rPr lang="en-US" altLang="it-IT" i="1"/>
              <a:t>D</a:t>
            </a:r>
            <a:r>
              <a:rPr lang="en-US" altLang="it-IT"/>
              <a:t> might inherit from either </a:t>
            </a:r>
            <a:r>
              <a:rPr lang="en-US" altLang="it-IT" i="1"/>
              <a:t>A</a:t>
            </a:r>
            <a:r>
              <a:rPr lang="en-US" altLang="it-IT"/>
              <a:t> or </a:t>
            </a:r>
            <a:r>
              <a:rPr lang="en-US" altLang="it-IT" i="1"/>
              <a:t>B</a:t>
            </a:r>
            <a:r>
              <a:rPr lang="en-US" altLang="it-IT"/>
              <a:t> or both</a:t>
            </a:r>
          </a:p>
          <a:p>
            <a:pPr lvl="1"/>
            <a:r>
              <a:rPr lang="en-US" altLang="it-IT"/>
              <a:t>Need consistency in OR layout &amp; code vector layout</a:t>
            </a:r>
          </a:p>
          <a:p>
            <a:r>
              <a:rPr lang="en-US" altLang="it-IT"/>
              <a:t>Both </a:t>
            </a:r>
            <a:r>
              <a:rPr lang="en-US" altLang="it-IT" i="1"/>
              <a:t>A</a:t>
            </a:r>
            <a:r>
              <a:rPr lang="en-US" altLang="it-IT"/>
              <a:t> &amp; </a:t>
            </a:r>
            <a:r>
              <a:rPr lang="en-US" altLang="it-IT" i="1"/>
              <a:t>B</a:t>
            </a:r>
            <a:r>
              <a:rPr lang="en-US" altLang="it-IT"/>
              <a:t> might provide fum() — which is seen in </a:t>
            </a:r>
            <a:r>
              <a:rPr lang="en-US" altLang="it-IT" i="1"/>
              <a:t>C</a:t>
            </a:r>
            <a:r>
              <a:rPr lang="en-US" altLang="it-IT"/>
              <a:t> ?</a:t>
            </a:r>
          </a:p>
          <a:p>
            <a:pPr lvl="1"/>
            <a:r>
              <a:rPr lang="en-US" altLang="it-IT"/>
              <a:t>C++ produces a “syntax error” when fum() is used</a:t>
            </a:r>
          </a:p>
          <a:p>
            <a:endParaRPr lang="en-US" altLang="it-IT"/>
          </a:p>
        </p:txBody>
      </p:sp>
      <p:sp>
        <p:nvSpPr>
          <p:cNvPr id="31747" name="Footer Placeholder 3">
            <a:extLst>
              <a:ext uri="{FF2B5EF4-FFF2-40B4-BE49-F238E27FC236}">
                <a16:creationId xmlns:a16="http://schemas.microsoft.com/office/drawing/2014/main" id="{31BFED07-6A52-4A69-91F7-89748F8133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D6B9D3F1-5A99-416C-9E88-49E25C11E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7354553-850B-4CF8-8A0D-16D7B3C3B8F7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61C17-BBB6-4361-8B54-CD248C013255}"/>
              </a:ext>
            </a:extLst>
          </p:cNvPr>
          <p:cNvSpPr txBox="1"/>
          <p:nvPr/>
        </p:nvSpPr>
        <p:spPr>
          <a:xfrm>
            <a:off x="7162800" y="5648325"/>
            <a:ext cx="17526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Need a better way to say “inherit”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E2268038-6723-4205-A5A6-47DDF820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OR Layout with Multiple Inheritance</a:t>
            </a:r>
          </a:p>
        </p:txBody>
      </p:sp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B71ED1F4-D4AE-4CBF-B7A6-60C477E1DB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48A10AA3-1611-40FB-8174-F96B0717D9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E130E0B-9F03-444C-A96B-EC31563CFDCE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C712EB3F-EA47-4E4F-BE01-F8187366C2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4419600" cy="4908550"/>
          </a:xfrm>
        </p:spPr>
        <p:txBody>
          <a:bodyPr>
            <a:spAutoFit/>
          </a:bodyPr>
          <a:lstStyle/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We can try to use prefixing again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Point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int x, y;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Point add();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CThing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Color c;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void colorize();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42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CPoint extends 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Point  and CThing {	 			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</p:txBody>
      </p:sp>
      <p:grpSp>
        <p:nvGrpSpPr>
          <p:cNvPr id="32773" name="Group 33">
            <a:extLst>
              <a:ext uri="{FF2B5EF4-FFF2-40B4-BE49-F238E27FC236}">
                <a16:creationId xmlns:a16="http://schemas.microsoft.com/office/drawing/2014/main" id="{34E39A98-9C71-4D7B-8612-7A279D2D5E03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846263"/>
            <a:ext cx="1828800" cy="896937"/>
            <a:chOff x="6324600" y="2933700"/>
            <a:chExt cx="1828800" cy="897354"/>
          </a:xfrm>
        </p:grpSpPr>
        <p:sp>
          <p:nvSpPr>
            <p:cNvPr id="32787" name="TextBox 9">
              <a:extLst>
                <a:ext uri="{FF2B5EF4-FFF2-40B4-BE49-F238E27FC236}">
                  <a16:creationId xmlns:a16="http://schemas.microsoft.com/office/drawing/2014/main" id="{49354DE8-3CB1-46CB-838C-0582DE7F6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33700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2788" name="Straight Arrow Connector 10">
              <a:extLst>
                <a:ext uri="{FF2B5EF4-FFF2-40B4-BE49-F238E27FC236}">
                  <a16:creationId xmlns:a16="http://schemas.microsoft.com/office/drawing/2014/main" id="{AB7AA657-3AEF-401D-908A-89D0F67ABA7C}"/>
                </a:ext>
              </a:extLst>
            </p:cNvPr>
            <p:cNvCxnSpPr>
              <a:cxnSpLocks noChangeShapeType="1"/>
              <a:stCxn id="32787" idx="3"/>
            </p:cNvCxnSpPr>
            <p:nvPr/>
          </p:nvCxnSpPr>
          <p:spPr bwMode="auto">
            <a:xfrm>
              <a:off x="6934200" y="31029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2" name="Group 31">
              <a:extLst>
                <a:ext uri="{FF2B5EF4-FFF2-40B4-BE49-F238E27FC236}">
                  <a16:creationId xmlns:a16="http://schemas.microsoft.com/office/drawing/2014/main" id="{5E72BEF2-E631-44A2-AB13-A56D4A451F85}"/>
                </a:ext>
              </a:extLst>
            </p:cNvPr>
            <p:cNvGrpSpPr/>
            <p:nvPr/>
          </p:nvGrpSpPr>
          <p:grpSpPr>
            <a:xfrm>
              <a:off x="7467600" y="2946400"/>
              <a:ext cx="685800" cy="884654"/>
              <a:chOff x="7467600" y="2946400"/>
              <a:chExt cx="685800" cy="8846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13" name="Rectangle 6">
                <a:extLst>
                  <a:ext uri="{FF2B5EF4-FFF2-40B4-BE49-F238E27FC236}">
                    <a16:creationId xmlns:a16="http://schemas.microsoft.com/office/drawing/2014/main" id="{309269E6-10AA-4B96-81B6-EB1272073376}"/>
                  </a:ext>
                </a:extLst>
              </p:cNvPr>
              <p:cNvSpPr/>
              <p:nvPr/>
            </p:nvSpPr>
            <p:spPr bwMode="auto">
              <a:xfrm>
                <a:off x="7467600" y="3221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116B68-974C-498D-8F2D-F2A5A4516A03}"/>
                  </a:ext>
                </a:extLst>
              </p:cNvPr>
              <p:cNvSpPr/>
              <p:nvPr/>
            </p:nvSpPr>
            <p:spPr bwMode="auto">
              <a:xfrm>
                <a:off x="7467600" y="3526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656576-9AD2-484D-9C86-2AE0BDE55AFF}"/>
                  </a:ext>
                </a:extLst>
              </p:cNvPr>
              <p:cNvSpPr/>
              <p:nvPr/>
            </p:nvSpPr>
            <p:spPr bwMode="auto">
              <a:xfrm>
                <a:off x="7467600" y="2946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grpSp>
        <p:nvGrpSpPr>
          <p:cNvPr id="32774" name="Group 35">
            <a:extLst>
              <a:ext uri="{FF2B5EF4-FFF2-40B4-BE49-F238E27FC236}">
                <a16:creationId xmlns:a16="http://schemas.microsoft.com/office/drawing/2014/main" id="{B71E4E12-54A0-4E2C-A010-B4EAE3496833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598863"/>
            <a:ext cx="1828800" cy="592137"/>
            <a:chOff x="5715000" y="3293646"/>
            <a:chExt cx="1828800" cy="592554"/>
          </a:xfrm>
        </p:grpSpPr>
        <p:sp>
          <p:nvSpPr>
            <p:cNvPr id="32784" name="TextBox 26">
              <a:extLst>
                <a:ext uri="{FF2B5EF4-FFF2-40B4-BE49-F238E27FC236}">
                  <a16:creationId xmlns:a16="http://schemas.microsoft.com/office/drawing/2014/main" id="{1D02AE6A-5A1B-4901-A8D4-BA25525B9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293646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2785" name="Straight Arrow Connector 27">
              <a:extLst>
                <a:ext uri="{FF2B5EF4-FFF2-40B4-BE49-F238E27FC236}">
                  <a16:creationId xmlns:a16="http://schemas.microsoft.com/office/drawing/2014/main" id="{5A991ED3-928F-4BA6-BCFC-C67B088FDC4E}"/>
                </a:ext>
              </a:extLst>
            </p:cNvPr>
            <p:cNvCxnSpPr>
              <a:cxnSpLocks noChangeShapeType="1"/>
              <a:stCxn id="32784" idx="3"/>
            </p:cNvCxnSpPr>
            <p:nvPr/>
          </p:nvCxnSpPr>
          <p:spPr bwMode="auto">
            <a:xfrm>
              <a:off x="6324600" y="3462923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3C296F5-96A2-488D-A3DB-0BC43A6F54AF}"/>
                </a:ext>
              </a:extLst>
            </p:cNvPr>
            <p:cNvGrpSpPr/>
            <p:nvPr/>
          </p:nvGrpSpPr>
          <p:grpSpPr>
            <a:xfrm>
              <a:off x="6858000" y="3306346"/>
              <a:ext cx="685800" cy="579854"/>
              <a:chOff x="6858000" y="3306346"/>
              <a:chExt cx="685800" cy="5798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5C66DAF1-8327-4D83-9058-165AA4AB288B}"/>
                  </a:ext>
                </a:extLst>
              </p:cNvPr>
              <p:cNvSpPr/>
              <p:nvPr/>
            </p:nvSpPr>
            <p:spPr bwMode="auto">
              <a:xfrm>
                <a:off x="6858000" y="3581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0F266B5-F8C5-40FD-AA86-471B43B418A8}"/>
                  </a:ext>
                </a:extLst>
              </p:cNvPr>
              <p:cNvSpPr/>
              <p:nvPr/>
            </p:nvSpPr>
            <p:spPr bwMode="auto">
              <a:xfrm>
                <a:off x="6858000" y="3306346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DE583AF-BE1F-49DF-85B4-85BB77B3D9BF}"/>
              </a:ext>
            </a:extLst>
          </p:cNvPr>
          <p:cNvSpPr txBox="1"/>
          <p:nvPr/>
        </p:nvSpPr>
        <p:spPr>
          <a:xfrm>
            <a:off x="685800" y="152400"/>
            <a:ext cx="19050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Modified example</a:t>
            </a:r>
          </a:p>
        </p:txBody>
      </p:sp>
      <p:grpSp>
        <p:nvGrpSpPr>
          <p:cNvPr id="32776" name="Group 50">
            <a:extLst>
              <a:ext uri="{FF2B5EF4-FFF2-40B4-BE49-F238E27FC236}">
                <a16:creationId xmlns:a16="http://schemas.microsoft.com/office/drawing/2014/main" id="{FEFCD487-E037-4BE9-82FE-C98F77C95126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876800"/>
            <a:ext cx="1828800" cy="1511300"/>
            <a:chOff x="3657600" y="4953000"/>
            <a:chExt cx="1828800" cy="1511300"/>
          </a:xfrm>
        </p:grpSpPr>
        <p:sp>
          <p:nvSpPr>
            <p:cNvPr id="32781" name="TextBox 30">
              <a:extLst>
                <a:ext uri="{FF2B5EF4-FFF2-40B4-BE49-F238E27FC236}">
                  <a16:creationId xmlns:a16="http://schemas.microsoft.com/office/drawing/2014/main" id="{B08FC146-22AC-4CBE-B4E7-38CA450AD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953000"/>
              <a:ext cx="609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2782" name="Straight Arrow Connector 32">
              <a:extLst>
                <a:ext uri="{FF2B5EF4-FFF2-40B4-BE49-F238E27FC236}">
                  <a16:creationId xmlns:a16="http://schemas.microsoft.com/office/drawing/2014/main" id="{F7932FB7-3002-4B75-BBA6-2D6FB838DE40}"/>
                </a:ext>
              </a:extLst>
            </p:cNvPr>
            <p:cNvCxnSpPr>
              <a:cxnSpLocks noChangeShapeType="1"/>
              <a:stCxn id="32781" idx="3"/>
            </p:cNvCxnSpPr>
            <p:nvPr/>
          </p:nvCxnSpPr>
          <p:spPr bwMode="auto">
            <a:xfrm>
              <a:off x="4267200" y="51222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34" name="Group 82">
              <a:extLst>
                <a:ext uri="{FF2B5EF4-FFF2-40B4-BE49-F238E27FC236}">
                  <a16:creationId xmlns:a16="http://schemas.microsoft.com/office/drawing/2014/main" id="{C0F6A1CA-BEB1-474D-B625-BE60148B7183}"/>
                </a:ext>
              </a:extLst>
            </p:cNvPr>
            <p:cNvGrpSpPr/>
            <p:nvPr/>
          </p:nvGrpSpPr>
          <p:grpSpPr>
            <a:xfrm>
              <a:off x="4800600" y="4965700"/>
              <a:ext cx="685800" cy="1498600"/>
              <a:chOff x="4800600" y="4965700"/>
              <a:chExt cx="685800" cy="1498600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DBAE442-1A77-4A6E-B3D9-A60CB7B31029}"/>
                  </a:ext>
                </a:extLst>
              </p:cNvPr>
              <p:cNvSpPr/>
              <p:nvPr/>
            </p:nvSpPr>
            <p:spPr bwMode="auto">
              <a:xfrm>
                <a:off x="4800600" y="5253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FB6CDD2-08B2-4C1C-AC7B-1CA662BFB584}"/>
                  </a:ext>
                </a:extLst>
              </p:cNvPr>
              <p:cNvSpPr/>
              <p:nvPr/>
            </p:nvSpPr>
            <p:spPr bwMode="auto">
              <a:xfrm>
                <a:off x="4800600" y="5558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9A97144-4A95-484D-BB49-A00D39D91F4F}"/>
                  </a:ext>
                </a:extLst>
              </p:cNvPr>
              <p:cNvSpPr/>
              <p:nvPr/>
            </p:nvSpPr>
            <p:spPr bwMode="auto">
              <a:xfrm>
                <a:off x="4800600" y="5867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D71C9C9-DFBA-40E0-9CF2-3F4C623AACCB}"/>
                  </a:ext>
                </a:extLst>
              </p:cNvPr>
              <p:cNvSpPr/>
              <p:nvPr/>
            </p:nvSpPr>
            <p:spPr bwMode="auto">
              <a:xfrm>
                <a:off x="4800600" y="49657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D651349-45D5-471F-8B1E-D227BC6B788B}"/>
                  </a:ext>
                </a:extLst>
              </p:cNvPr>
              <p:cNvSpPr/>
              <p:nvPr/>
            </p:nvSpPr>
            <p:spPr bwMode="auto">
              <a:xfrm>
                <a:off x="4800600" y="61595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E2918E-9451-4F02-98B2-D19D39C5729D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314450"/>
            <a:ext cx="3429000" cy="5351463"/>
            <a:chOff x="5562600" y="1313795"/>
            <a:chExt cx="3429000" cy="5352336"/>
          </a:xfrm>
        </p:grpSpPr>
        <p:sp>
          <p:nvSpPr>
            <p:cNvPr id="44" name="Text Box 3">
              <a:extLst>
                <a:ext uri="{FF2B5EF4-FFF2-40B4-BE49-F238E27FC236}">
                  <a16:creationId xmlns:a16="http://schemas.microsoft.com/office/drawing/2014/main" id="{AD21B23C-7C8A-4576-9CD2-9A1E616B1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1313795"/>
              <a:ext cx="2971800" cy="440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 defTabSz="174625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indent="-228600" defTabSz="174625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defTabSz="174625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defTabSz="174625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defTabSz="174625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defTabSz="1746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defTabSz="1746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defTabSz="1746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defTabSz="1746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buClr>
                  <a:srgbClr val="003C75"/>
                </a:buClr>
                <a:buSzPct val="120000"/>
                <a:buFont typeface="Times" panose="02020603050405020304" pitchFamily="18" charset="0"/>
                <a:buNone/>
              </a:pPr>
              <a:r>
                <a:rPr lang="en-US" altLang="it-IT" sz="2000">
                  <a:solidFill>
                    <a:srgbClr val="003C75"/>
                  </a:solidFill>
                </a:rPr>
                <a:t>How do casts work?</a:t>
              </a:r>
            </a:p>
            <a:p>
              <a:pPr>
                <a:spcBef>
                  <a:spcPts val="600"/>
                </a:spcBef>
                <a:buClr>
                  <a:srgbClr val="003C75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altLang="it-IT" sz="2000"/>
                <a:t>If we cast a CPoint as a Point, x &amp; y are at the desired offsets</a:t>
              </a:r>
            </a:p>
            <a:p>
              <a:pPr>
                <a:spcBef>
                  <a:spcPts val="600"/>
                </a:spcBef>
                <a:buClr>
                  <a:srgbClr val="003C75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altLang="it-IT" sz="2000"/>
                <a:t>If we cast a CPoint as a Cthing, c is at the wrong offset</a:t>
              </a:r>
            </a:p>
            <a:p>
              <a:pPr lvl="1">
                <a:spcBef>
                  <a:spcPts val="600"/>
                </a:spcBef>
                <a:buClr>
                  <a:srgbClr val="003C75"/>
                </a:buClr>
                <a:buSzPct val="100000"/>
                <a:buFont typeface="Lucida Grande"/>
                <a:buChar char="-"/>
              </a:pPr>
              <a:r>
                <a:rPr lang="en-US" altLang="it-IT" sz="2000"/>
                <a:t>Extra class field is the key</a:t>
              </a:r>
            </a:p>
            <a:p>
              <a:pPr lvl="1">
                <a:spcBef>
                  <a:spcPts val="600"/>
                </a:spcBef>
                <a:buClr>
                  <a:srgbClr val="003C75"/>
                </a:buClr>
                <a:buSzPct val="100000"/>
                <a:buFont typeface="Lucida Grande"/>
                <a:buChar char="-"/>
              </a:pPr>
              <a:r>
                <a:rPr lang="en-US" altLang="it-IT" sz="2000"/>
                <a:t>Cast bumps “self” to point at 2</a:t>
              </a:r>
              <a:r>
                <a:rPr lang="en-US" altLang="it-IT" sz="2000" baseline="30000"/>
                <a:t>nd</a:t>
              </a:r>
              <a:r>
                <a:rPr lang="en-US" altLang="it-IT" sz="2000"/>
                <a:t> class field</a:t>
              </a: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16A3D3F-7DB6-426C-8FB8-E14A67E2E343}"/>
                </a:ext>
              </a:extLst>
            </p:cNvPr>
            <p:cNvSpPr/>
            <p:nvPr/>
          </p:nvSpPr>
          <p:spPr bwMode="auto">
            <a:xfrm>
              <a:off x="5562600" y="5499128"/>
              <a:ext cx="1852613" cy="469977"/>
            </a:xfrm>
            <a:custGeom>
              <a:avLst/>
              <a:gdLst>
                <a:gd name="connsiteX0" fmla="*/ 1587500 w 1813983"/>
                <a:gd name="connsiteY0" fmla="*/ 0 h 533400"/>
                <a:gd name="connsiteX1" fmla="*/ 1765300 w 1813983"/>
                <a:gd name="connsiteY1" fmla="*/ 50800 h 533400"/>
                <a:gd name="connsiteX2" fmla="*/ 1739900 w 1813983"/>
                <a:gd name="connsiteY2" fmla="*/ 279400 h 533400"/>
                <a:gd name="connsiteX3" fmla="*/ 1320800 w 1813983"/>
                <a:gd name="connsiteY3" fmla="*/ 368300 h 533400"/>
                <a:gd name="connsiteX4" fmla="*/ 0 w 1813983"/>
                <a:gd name="connsiteY4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3983" h="533400">
                  <a:moveTo>
                    <a:pt x="1587500" y="0"/>
                  </a:moveTo>
                  <a:cubicBezTo>
                    <a:pt x="1663700" y="2116"/>
                    <a:pt x="1739900" y="4233"/>
                    <a:pt x="1765300" y="50800"/>
                  </a:cubicBezTo>
                  <a:cubicBezTo>
                    <a:pt x="1790700" y="97367"/>
                    <a:pt x="1813983" y="226483"/>
                    <a:pt x="1739900" y="279400"/>
                  </a:cubicBezTo>
                  <a:cubicBezTo>
                    <a:pt x="1665817" y="332317"/>
                    <a:pt x="1610783" y="325967"/>
                    <a:pt x="1320800" y="368300"/>
                  </a:cubicBezTo>
                  <a:cubicBezTo>
                    <a:pt x="1030817" y="410633"/>
                    <a:pt x="0" y="533400"/>
                    <a:pt x="0" y="53340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94678E5-A1A4-47CA-84DD-B80CCFA38A6D}"/>
                </a:ext>
              </a:extLst>
            </p:cNvPr>
            <p:cNvSpPr txBox="1"/>
            <p:nvPr/>
          </p:nvSpPr>
          <p:spPr>
            <a:xfrm>
              <a:off x="6096000" y="6019913"/>
              <a:ext cx="2819400" cy="6462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Class that occurs out of “single inheritance prefix order” needs additional information – class field.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F3F7BBD9-F34F-4863-8187-6F28D698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OR Layout with Multiple Inheritance</a:t>
            </a:r>
          </a:p>
        </p:txBody>
      </p:sp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4B0B1D5B-0385-475E-909D-4D368FF85D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5" name="Slide Number Placeholder 4">
            <a:extLst>
              <a:ext uri="{FF2B5EF4-FFF2-40B4-BE49-F238E27FC236}">
                <a16:creationId xmlns:a16="http://schemas.microsoft.com/office/drawing/2014/main" id="{350C0F9E-259D-4BFE-BB18-94A0FB696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EBEFC59-C976-4C92-8B1A-066EE66B6A25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3796" name="Text Box 3">
            <a:extLst>
              <a:ext uri="{FF2B5EF4-FFF2-40B4-BE49-F238E27FC236}">
                <a16:creationId xmlns:a16="http://schemas.microsoft.com/office/drawing/2014/main" id="{2682CA18-0A1A-41EA-8BE7-4FE6767BD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772400" cy="4908550"/>
          </a:xfrm>
        </p:spPr>
        <p:txBody>
          <a:bodyPr>
            <a:spAutoFit/>
          </a:bodyPr>
          <a:lstStyle/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Need to prefix both OR &amp; code vector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Point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int x, y;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Point add();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CThing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Color c;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void colorize();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42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CPoint extends 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Point  and CThing {	 			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</p:txBody>
      </p:sp>
      <p:grpSp>
        <p:nvGrpSpPr>
          <p:cNvPr id="33797" name="Group 33">
            <a:extLst>
              <a:ext uri="{FF2B5EF4-FFF2-40B4-BE49-F238E27FC236}">
                <a16:creationId xmlns:a16="http://schemas.microsoft.com/office/drawing/2014/main" id="{B4D8228B-E1F1-468A-BC27-493ED4F7AA2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846263"/>
            <a:ext cx="1828800" cy="896937"/>
            <a:chOff x="6324600" y="2933700"/>
            <a:chExt cx="1828800" cy="897354"/>
          </a:xfrm>
        </p:grpSpPr>
        <p:sp>
          <p:nvSpPr>
            <p:cNvPr id="33830" name="TextBox 30">
              <a:extLst>
                <a:ext uri="{FF2B5EF4-FFF2-40B4-BE49-F238E27FC236}">
                  <a16:creationId xmlns:a16="http://schemas.microsoft.com/office/drawing/2014/main" id="{B5DF5DFD-F1CC-4D36-9A27-F84396052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33700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3831" name="Straight Arrow Connector 32">
              <a:extLst>
                <a:ext uri="{FF2B5EF4-FFF2-40B4-BE49-F238E27FC236}">
                  <a16:creationId xmlns:a16="http://schemas.microsoft.com/office/drawing/2014/main" id="{551BA168-65D0-4509-98F1-5A8F4A0B915C}"/>
                </a:ext>
              </a:extLst>
            </p:cNvPr>
            <p:cNvCxnSpPr>
              <a:cxnSpLocks noChangeShapeType="1"/>
              <a:stCxn id="33830" idx="3"/>
            </p:cNvCxnSpPr>
            <p:nvPr/>
          </p:nvCxnSpPr>
          <p:spPr bwMode="auto">
            <a:xfrm>
              <a:off x="6934200" y="31029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7" name="Group 31">
              <a:extLst>
                <a:ext uri="{FF2B5EF4-FFF2-40B4-BE49-F238E27FC236}">
                  <a16:creationId xmlns:a16="http://schemas.microsoft.com/office/drawing/2014/main" id="{FD081CB5-6D4B-47E8-814B-2D5386757D4A}"/>
                </a:ext>
              </a:extLst>
            </p:cNvPr>
            <p:cNvGrpSpPr/>
            <p:nvPr/>
          </p:nvGrpSpPr>
          <p:grpSpPr>
            <a:xfrm>
              <a:off x="7467600" y="2946400"/>
              <a:ext cx="685800" cy="884654"/>
              <a:chOff x="7467600" y="2946400"/>
              <a:chExt cx="685800" cy="8846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4F7F40C4-21E9-4C5E-8539-676AF20CD27C}"/>
                  </a:ext>
                </a:extLst>
              </p:cNvPr>
              <p:cNvSpPr/>
              <p:nvPr/>
            </p:nvSpPr>
            <p:spPr bwMode="auto">
              <a:xfrm>
                <a:off x="7467600" y="3221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028E69F-92DF-4D6E-8CD6-B9D57B21B07E}"/>
                  </a:ext>
                </a:extLst>
              </p:cNvPr>
              <p:cNvSpPr/>
              <p:nvPr/>
            </p:nvSpPr>
            <p:spPr bwMode="auto">
              <a:xfrm>
                <a:off x="7467600" y="3526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094A642-B5DE-4F67-8282-D6241DBF4CDB}"/>
                  </a:ext>
                </a:extLst>
              </p:cNvPr>
              <p:cNvSpPr/>
              <p:nvPr/>
            </p:nvSpPr>
            <p:spPr bwMode="auto">
              <a:xfrm>
                <a:off x="7467600" y="2946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grpSp>
        <p:nvGrpSpPr>
          <p:cNvPr id="33798" name="Group 46">
            <a:extLst>
              <a:ext uri="{FF2B5EF4-FFF2-40B4-BE49-F238E27FC236}">
                <a16:creationId xmlns:a16="http://schemas.microsoft.com/office/drawing/2014/main" id="{6FE0E004-7424-49CF-921C-9E537EA84DEE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598863"/>
            <a:ext cx="1828800" cy="592137"/>
            <a:chOff x="5715000" y="3293646"/>
            <a:chExt cx="1828800" cy="592554"/>
          </a:xfrm>
        </p:grpSpPr>
        <p:sp>
          <p:nvSpPr>
            <p:cNvPr id="33827" name="TextBox 47">
              <a:extLst>
                <a:ext uri="{FF2B5EF4-FFF2-40B4-BE49-F238E27FC236}">
                  <a16:creationId xmlns:a16="http://schemas.microsoft.com/office/drawing/2014/main" id="{28AFAAF7-1622-4E41-80EB-6748068AE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293646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3828" name="Straight Arrow Connector 48">
              <a:extLst>
                <a:ext uri="{FF2B5EF4-FFF2-40B4-BE49-F238E27FC236}">
                  <a16:creationId xmlns:a16="http://schemas.microsoft.com/office/drawing/2014/main" id="{CB310684-6CF5-494C-934B-B778776D41AC}"/>
                </a:ext>
              </a:extLst>
            </p:cNvPr>
            <p:cNvCxnSpPr>
              <a:cxnSpLocks noChangeShapeType="1"/>
              <a:stCxn id="33827" idx="3"/>
            </p:cNvCxnSpPr>
            <p:nvPr/>
          </p:nvCxnSpPr>
          <p:spPr bwMode="auto">
            <a:xfrm>
              <a:off x="6324600" y="3462923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1" name="Group 34">
              <a:extLst>
                <a:ext uri="{FF2B5EF4-FFF2-40B4-BE49-F238E27FC236}">
                  <a16:creationId xmlns:a16="http://schemas.microsoft.com/office/drawing/2014/main" id="{0517300F-06EC-41B2-A5CE-7DF267FCAF74}"/>
                </a:ext>
              </a:extLst>
            </p:cNvPr>
            <p:cNvGrpSpPr/>
            <p:nvPr/>
          </p:nvGrpSpPr>
          <p:grpSpPr>
            <a:xfrm>
              <a:off x="6858000" y="3306346"/>
              <a:ext cx="685800" cy="579854"/>
              <a:chOff x="6858000" y="3306346"/>
              <a:chExt cx="685800" cy="5798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51" name="Rectangle 6">
                <a:extLst>
                  <a:ext uri="{FF2B5EF4-FFF2-40B4-BE49-F238E27FC236}">
                    <a16:creationId xmlns:a16="http://schemas.microsoft.com/office/drawing/2014/main" id="{07D48F2B-D603-4AD7-BC56-D0F9BED5ED1C}"/>
                  </a:ext>
                </a:extLst>
              </p:cNvPr>
              <p:cNvSpPr/>
              <p:nvPr/>
            </p:nvSpPr>
            <p:spPr bwMode="auto">
              <a:xfrm>
                <a:off x="6858000" y="3581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08BD1D2-4827-462F-A5ED-8410A35CD430}"/>
                  </a:ext>
                </a:extLst>
              </p:cNvPr>
              <p:cNvSpPr/>
              <p:nvPr/>
            </p:nvSpPr>
            <p:spPr bwMode="auto">
              <a:xfrm>
                <a:off x="6858000" y="3306346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sp>
        <p:nvSpPr>
          <p:cNvPr id="33799" name="TextBox 38">
            <a:extLst>
              <a:ext uri="{FF2B5EF4-FFF2-40B4-BE49-F238E27FC236}">
                <a16:creationId xmlns:a16="http://schemas.microsoft.com/office/drawing/2014/main" id="{867F368F-1160-4793-B41F-B94818693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27200"/>
            <a:ext cx="304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3800" name="Straight Arrow Connector 46">
            <a:extLst>
              <a:ext uri="{FF2B5EF4-FFF2-40B4-BE49-F238E27FC236}">
                <a16:creationId xmlns:a16="http://schemas.microsoft.com/office/drawing/2014/main" id="{B4A9FB01-18EC-4A46-90F7-D7F64880854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11800" y="2003425"/>
            <a:ext cx="203200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801" name="TextBox 63">
            <a:extLst>
              <a:ext uri="{FF2B5EF4-FFF2-40B4-BE49-F238E27FC236}">
                <a16:creationId xmlns:a16="http://schemas.microsoft.com/office/drawing/2014/main" id="{7A128E2D-8FFF-4BCD-BC15-FC4C5953F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4845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3802" name="Straight Arrow Connector 64">
            <a:extLst>
              <a:ext uri="{FF2B5EF4-FFF2-40B4-BE49-F238E27FC236}">
                <a16:creationId xmlns:a16="http://schemas.microsoft.com/office/drawing/2014/main" id="{4E3C9DCD-5D4D-435A-8B0C-B986CDD68B05}"/>
              </a:ext>
            </a:extLst>
          </p:cNvPr>
          <p:cNvCxnSpPr>
            <a:cxnSpLocks noChangeShapeType="1"/>
            <a:endCxn id="33801" idx="1"/>
          </p:cNvCxnSpPr>
          <p:nvPr/>
        </p:nvCxnSpPr>
        <p:spPr bwMode="auto">
          <a:xfrm flipV="1">
            <a:off x="5511800" y="3762375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03" name="Straight Arrow Connector 65">
            <a:extLst>
              <a:ext uri="{FF2B5EF4-FFF2-40B4-BE49-F238E27FC236}">
                <a16:creationId xmlns:a16="http://schemas.microsoft.com/office/drawing/2014/main" id="{622D084F-4894-41D0-BA87-6D91A479DFFD}"/>
              </a:ext>
            </a:extLst>
          </p:cNvPr>
          <p:cNvCxnSpPr>
            <a:cxnSpLocks noChangeShapeType="1"/>
            <a:stCxn id="33801" idx="3"/>
          </p:cNvCxnSpPr>
          <p:nvPr/>
        </p:nvCxnSpPr>
        <p:spPr bwMode="auto">
          <a:xfrm>
            <a:off x="6019800" y="3762375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FEE1FAD-FCB8-42AF-B304-9340285F20C6}"/>
              </a:ext>
            </a:extLst>
          </p:cNvPr>
          <p:cNvGrpSpPr/>
          <p:nvPr/>
        </p:nvGrpSpPr>
        <p:grpSpPr>
          <a:xfrm>
            <a:off x="6324600" y="3611602"/>
            <a:ext cx="838200" cy="307777"/>
            <a:chOff x="6705600" y="1828800"/>
            <a:chExt cx="838200" cy="3077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1FEF26C-CECD-4768-B472-869489DFCAAA}"/>
                </a:ext>
              </a:extLst>
            </p:cNvPr>
            <p:cNvSpPr/>
            <p:nvPr/>
          </p:nvSpPr>
          <p:spPr bwMode="auto">
            <a:xfrm>
              <a:off x="6705600" y="18683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B323F25-B156-4EB6-87E7-F65631EF74C0}"/>
                </a:ext>
              </a:extLst>
            </p:cNvPr>
            <p:cNvSpPr txBox="1"/>
            <p:nvPr/>
          </p:nvSpPr>
          <p:spPr>
            <a:xfrm>
              <a:off x="6705600" y="18288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cxnSp>
        <p:nvCxnSpPr>
          <p:cNvPr id="33805" name="Straight Arrow Connector 69">
            <a:extLst>
              <a:ext uri="{FF2B5EF4-FFF2-40B4-BE49-F238E27FC236}">
                <a16:creationId xmlns:a16="http://schemas.microsoft.com/office/drawing/2014/main" id="{99DF47EF-78A5-40E4-85BA-2E8B57B930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6400" y="5113338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06" name="Straight Arrow Connector 70">
            <a:extLst>
              <a:ext uri="{FF2B5EF4-FFF2-40B4-BE49-F238E27FC236}">
                <a16:creationId xmlns:a16="http://schemas.microsoft.com/office/drawing/2014/main" id="{AC1B090C-A6F7-4C25-A1AB-8822A88D92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4400" y="5113338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23E43F3-99E6-4EB3-9EE8-2FF4140CA247}"/>
              </a:ext>
            </a:extLst>
          </p:cNvPr>
          <p:cNvGrpSpPr/>
          <p:nvPr/>
        </p:nvGrpSpPr>
        <p:grpSpPr>
          <a:xfrm>
            <a:off x="6324600" y="4962723"/>
            <a:ext cx="838200" cy="745531"/>
            <a:chOff x="6629400" y="4962723"/>
            <a:chExt cx="838200" cy="745531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A2C7972-FF2E-4E22-994F-29021C6BFAAD}"/>
                </a:ext>
              </a:extLst>
            </p:cNvPr>
            <p:cNvSpPr/>
            <p:nvPr/>
          </p:nvSpPr>
          <p:spPr bwMode="auto">
            <a:xfrm>
              <a:off x="6629400" y="5002311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3CFC84-B470-49FF-8E94-C470055BF7D6}"/>
                </a:ext>
              </a:extLst>
            </p:cNvPr>
            <p:cNvSpPr txBox="1"/>
            <p:nvPr/>
          </p:nvSpPr>
          <p:spPr>
            <a:xfrm>
              <a:off x="6629400" y="4962723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387ADA6-0526-4BE7-A90D-214F6E7CC210}"/>
                </a:ext>
              </a:extLst>
            </p:cNvPr>
            <p:cNvSpPr/>
            <p:nvPr/>
          </p:nvSpPr>
          <p:spPr bwMode="auto">
            <a:xfrm>
              <a:off x="6629400" y="52211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70A8565-E73A-44DE-8218-F2C5D595A5DB}"/>
                </a:ext>
              </a:extLst>
            </p:cNvPr>
            <p:cNvSpPr txBox="1"/>
            <p:nvPr/>
          </p:nvSpPr>
          <p:spPr>
            <a:xfrm>
              <a:off x="6629400" y="51816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28D8468-83C2-486B-A77E-092E9D59C8B9}"/>
                </a:ext>
              </a:extLst>
            </p:cNvPr>
            <p:cNvSpPr/>
            <p:nvPr/>
          </p:nvSpPr>
          <p:spPr bwMode="auto">
            <a:xfrm>
              <a:off x="6629400" y="5440065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176EA02-B0CC-4766-A025-D3B8F13A7EC5}"/>
                </a:ext>
              </a:extLst>
            </p:cNvPr>
            <p:cNvSpPr txBox="1"/>
            <p:nvPr/>
          </p:nvSpPr>
          <p:spPr>
            <a:xfrm>
              <a:off x="6629400" y="5400477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7289B7A-FB1C-419E-8E2F-5B61E72F25EE}"/>
              </a:ext>
            </a:extLst>
          </p:cNvPr>
          <p:cNvGrpSpPr/>
          <p:nvPr/>
        </p:nvGrpSpPr>
        <p:grpSpPr>
          <a:xfrm>
            <a:off x="5943600" y="1854200"/>
            <a:ext cx="1219200" cy="523677"/>
            <a:chOff x="6248400" y="1854200"/>
            <a:chExt cx="1219200" cy="5236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152313C-51C3-4F1B-9022-CC95B0A3B671}"/>
                </a:ext>
              </a:extLst>
            </p:cNvPr>
            <p:cNvCxnSpPr>
              <a:stCxn id="39" idx="3"/>
              <a:endCxn id="58" idx="1"/>
            </p:cNvCxnSpPr>
            <p:nvPr/>
          </p:nvCxnSpPr>
          <p:spPr bwMode="auto">
            <a:xfrm>
              <a:off x="6248400" y="2004199"/>
              <a:ext cx="381000" cy="38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59DE3D7-51CA-4807-BF77-936BB6C4AAED}"/>
                </a:ext>
              </a:extLst>
            </p:cNvPr>
            <p:cNvSpPr/>
            <p:nvPr/>
          </p:nvSpPr>
          <p:spPr bwMode="auto">
            <a:xfrm>
              <a:off x="6629400" y="18937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5437649-576B-4049-86C4-A00A8F84244A}"/>
                </a:ext>
              </a:extLst>
            </p:cNvPr>
            <p:cNvSpPr txBox="1"/>
            <p:nvPr/>
          </p:nvSpPr>
          <p:spPr>
            <a:xfrm>
              <a:off x="6667500" y="1854200"/>
              <a:ext cx="7620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2E13BD4-1199-4FB1-BC7A-B5C9CD5AF931}"/>
                </a:ext>
              </a:extLst>
            </p:cNvPr>
            <p:cNvSpPr/>
            <p:nvPr/>
          </p:nvSpPr>
          <p:spPr bwMode="auto">
            <a:xfrm>
              <a:off x="6629400" y="21096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361ABE6-A7F6-4E90-A14C-B7485EFACDC7}"/>
                </a:ext>
              </a:extLst>
            </p:cNvPr>
            <p:cNvSpPr txBox="1"/>
            <p:nvPr/>
          </p:nvSpPr>
          <p:spPr>
            <a:xfrm>
              <a:off x="6629400" y="20701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</p:grpSp>
      <p:sp>
        <p:nvSpPr>
          <p:cNvPr id="33809" name="TextBox 83">
            <a:extLst>
              <a:ext uri="{FF2B5EF4-FFF2-40B4-BE49-F238E27FC236}">
                <a16:creationId xmlns:a16="http://schemas.microsoft.com/office/drawing/2014/main" id="{FFE8A81A-807E-405A-800E-14D706D8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48434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sp>
        <p:nvSpPr>
          <p:cNvPr id="33810" name="TextBox 86">
            <a:extLst>
              <a:ext uri="{FF2B5EF4-FFF2-40B4-BE49-F238E27FC236}">
                <a16:creationId xmlns:a16="http://schemas.microsoft.com/office/drawing/2014/main" id="{38C57C36-D7BD-4676-BDCE-2383F4D44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8510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draw</a:t>
            </a:r>
          </a:p>
        </p:txBody>
      </p:sp>
      <p:sp>
        <p:nvSpPr>
          <p:cNvPr id="33811" name="TextBox 88">
            <a:extLst>
              <a:ext uri="{FF2B5EF4-FFF2-40B4-BE49-F238E27FC236}">
                <a16:creationId xmlns:a16="http://schemas.microsoft.com/office/drawing/2014/main" id="{585B1E72-5DCB-45F9-B6F4-B71651DDB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0669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add</a:t>
            </a:r>
          </a:p>
        </p:txBody>
      </p:sp>
      <p:sp>
        <p:nvSpPr>
          <p:cNvPr id="33812" name="TextBox 89">
            <a:extLst>
              <a:ext uri="{FF2B5EF4-FFF2-40B4-BE49-F238E27FC236}">
                <a16:creationId xmlns:a16="http://schemas.microsoft.com/office/drawing/2014/main" id="{8B8DF725-E00E-4F7A-97C2-85E11D88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6163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CThing: add</a:t>
            </a:r>
          </a:p>
        </p:txBody>
      </p:sp>
      <p:sp>
        <p:nvSpPr>
          <p:cNvPr id="33813" name="TextBox 90">
            <a:extLst>
              <a:ext uri="{FF2B5EF4-FFF2-40B4-BE49-F238E27FC236}">
                <a16:creationId xmlns:a16="http://schemas.microsoft.com/office/drawing/2014/main" id="{1DBDE044-74DA-48B7-A126-049E51C8F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953000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CPoint: draw</a:t>
            </a:r>
          </a:p>
        </p:txBody>
      </p:sp>
      <p:cxnSp>
        <p:nvCxnSpPr>
          <p:cNvPr id="33814" name="Straight Arrow Connector 92">
            <a:extLst>
              <a:ext uri="{FF2B5EF4-FFF2-40B4-BE49-F238E27FC236}">
                <a16:creationId xmlns:a16="http://schemas.microsoft.com/office/drawing/2014/main" id="{E4AE8013-255C-4603-A593-467450D32BD2}"/>
              </a:ext>
            </a:extLst>
          </p:cNvPr>
          <p:cNvCxnSpPr>
            <a:cxnSpLocks noChangeShapeType="1"/>
            <a:endCxn id="33813" idx="1"/>
          </p:cNvCxnSpPr>
          <p:nvPr/>
        </p:nvCxnSpPr>
        <p:spPr bwMode="auto">
          <a:xfrm flipV="1">
            <a:off x="7162800" y="5106988"/>
            <a:ext cx="685800" cy="9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15" name="Straight Arrow Connector 96">
            <a:extLst>
              <a:ext uri="{FF2B5EF4-FFF2-40B4-BE49-F238E27FC236}">
                <a16:creationId xmlns:a16="http://schemas.microsoft.com/office/drawing/2014/main" id="{849C6448-D7A9-4106-8A75-4C878929ED9B}"/>
              </a:ext>
            </a:extLst>
          </p:cNvPr>
          <p:cNvCxnSpPr>
            <a:cxnSpLocks noChangeShapeType="1"/>
            <a:endCxn id="33812" idx="1"/>
          </p:cNvCxnSpPr>
          <p:nvPr/>
        </p:nvCxnSpPr>
        <p:spPr bwMode="auto">
          <a:xfrm>
            <a:off x="7162800" y="3765550"/>
            <a:ext cx="685800" cy="47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16" name="Straight Arrow Connector 101">
            <a:extLst>
              <a:ext uri="{FF2B5EF4-FFF2-40B4-BE49-F238E27FC236}">
                <a16:creationId xmlns:a16="http://schemas.microsoft.com/office/drawing/2014/main" id="{47DC5DC1-CDDD-4053-A561-7EFC984C4D02}"/>
              </a:ext>
            </a:extLst>
          </p:cNvPr>
          <p:cNvCxnSpPr>
            <a:cxnSpLocks noChangeShapeType="1"/>
            <a:endCxn id="33811" idx="1"/>
          </p:cNvCxnSpPr>
          <p:nvPr/>
        </p:nvCxnSpPr>
        <p:spPr bwMode="auto">
          <a:xfrm flipV="1">
            <a:off x="7162800" y="22209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17" name="Straight Arrow Connector 103">
            <a:extLst>
              <a:ext uri="{FF2B5EF4-FFF2-40B4-BE49-F238E27FC236}">
                <a16:creationId xmlns:a16="http://schemas.microsoft.com/office/drawing/2014/main" id="{39E6E854-6A85-42AD-B3E5-151348B0198A}"/>
              </a:ext>
            </a:extLst>
          </p:cNvPr>
          <p:cNvCxnSpPr>
            <a:cxnSpLocks noChangeShapeType="1"/>
            <a:endCxn id="33810" idx="1"/>
          </p:cNvCxnSpPr>
          <p:nvPr/>
        </p:nvCxnSpPr>
        <p:spPr bwMode="auto">
          <a:xfrm flipV="1">
            <a:off x="7162800" y="20050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818" name="Elbow Connector 105">
            <a:extLst>
              <a:ext uri="{FF2B5EF4-FFF2-40B4-BE49-F238E27FC236}">
                <a16:creationId xmlns:a16="http://schemas.microsoft.com/office/drawing/2014/main" id="{25DA80D4-D4AC-4B37-988B-0F3ACEEB5FEA}"/>
              </a:ext>
            </a:extLst>
          </p:cNvPr>
          <p:cNvCxnSpPr>
            <a:cxnSpLocks noChangeShapeType="1"/>
            <a:endCxn id="33811" idx="1"/>
          </p:cNvCxnSpPr>
          <p:nvPr/>
        </p:nvCxnSpPr>
        <p:spPr bwMode="auto">
          <a:xfrm flipV="1">
            <a:off x="7162800" y="2220913"/>
            <a:ext cx="685800" cy="311467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33819" name="Shape 107">
            <a:extLst>
              <a:ext uri="{FF2B5EF4-FFF2-40B4-BE49-F238E27FC236}">
                <a16:creationId xmlns:a16="http://schemas.microsoft.com/office/drawing/2014/main" id="{09CE4EEE-BA2F-4A05-A403-E98BF18079DD}"/>
              </a:ext>
            </a:extLst>
          </p:cNvPr>
          <p:cNvCxnSpPr>
            <a:cxnSpLocks noChangeShapeType="1"/>
            <a:endCxn id="33812" idx="1"/>
          </p:cNvCxnSpPr>
          <p:nvPr/>
        </p:nvCxnSpPr>
        <p:spPr bwMode="auto">
          <a:xfrm flipV="1">
            <a:off x="7162800" y="3770313"/>
            <a:ext cx="685800" cy="1784350"/>
          </a:xfrm>
          <a:prstGeom prst="bentConnector3">
            <a:avLst>
              <a:gd name="adj1" fmla="val 6296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BD53C0B-E870-461F-BA6B-23824B0C472C}"/>
              </a:ext>
            </a:extLst>
          </p:cNvPr>
          <p:cNvSpPr txBox="1"/>
          <p:nvPr/>
        </p:nvSpPr>
        <p:spPr>
          <a:xfrm>
            <a:off x="6553200" y="6105525"/>
            <a:ext cx="2209800" cy="5238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But, where does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CPoint’s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colorize find “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”?</a:t>
            </a:r>
          </a:p>
        </p:txBody>
      </p:sp>
      <p:sp>
        <p:nvSpPr>
          <p:cNvPr id="33821" name="TextBox 113">
            <a:extLst>
              <a:ext uri="{FF2B5EF4-FFF2-40B4-BE49-F238E27FC236}">
                <a16:creationId xmlns:a16="http://schemas.microsoft.com/office/drawing/2014/main" id="{091B7451-A660-40B9-907F-FB476821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3733800" cy="369888"/>
          </a:xfrm>
          <a:prstGeom prst="rect">
            <a:avLst/>
          </a:prstGeom>
          <a:solidFill>
            <a:srgbClr val="BFBFBF"/>
          </a:solidFill>
          <a:ln w="19050" algn="ctr">
            <a:solidFill>
              <a:srgbClr val="7F7F7F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</a:rPr>
              <a:t>Assume 64 bit slots in the ORs</a:t>
            </a:r>
          </a:p>
        </p:txBody>
      </p:sp>
      <p:grpSp>
        <p:nvGrpSpPr>
          <p:cNvPr id="33822" name="Group 112">
            <a:extLst>
              <a:ext uri="{FF2B5EF4-FFF2-40B4-BE49-F238E27FC236}">
                <a16:creationId xmlns:a16="http://schemas.microsoft.com/office/drawing/2014/main" id="{5728B556-CCCD-4068-837B-987D1A96EF5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876800"/>
            <a:ext cx="1828800" cy="1511300"/>
            <a:chOff x="3657600" y="4953000"/>
            <a:chExt cx="1828800" cy="1511300"/>
          </a:xfrm>
        </p:grpSpPr>
        <p:sp>
          <p:nvSpPr>
            <p:cNvPr id="33824" name="TextBox 114">
              <a:extLst>
                <a:ext uri="{FF2B5EF4-FFF2-40B4-BE49-F238E27FC236}">
                  <a16:creationId xmlns:a16="http://schemas.microsoft.com/office/drawing/2014/main" id="{29A4B827-9069-48E8-BC1B-744EF3467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953000"/>
              <a:ext cx="609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3825" name="Straight Arrow Connector 115">
              <a:extLst>
                <a:ext uri="{FF2B5EF4-FFF2-40B4-BE49-F238E27FC236}">
                  <a16:creationId xmlns:a16="http://schemas.microsoft.com/office/drawing/2014/main" id="{5ED1C304-6D3F-4D9D-A941-C6A18D501FF2}"/>
                </a:ext>
              </a:extLst>
            </p:cNvPr>
            <p:cNvCxnSpPr>
              <a:cxnSpLocks noChangeShapeType="1"/>
              <a:stCxn id="33824" idx="3"/>
            </p:cNvCxnSpPr>
            <p:nvPr/>
          </p:nvCxnSpPr>
          <p:spPr bwMode="auto">
            <a:xfrm>
              <a:off x="4267200" y="51222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17" name="Group 82">
              <a:extLst>
                <a:ext uri="{FF2B5EF4-FFF2-40B4-BE49-F238E27FC236}">
                  <a16:creationId xmlns:a16="http://schemas.microsoft.com/office/drawing/2014/main" id="{C07D2AE1-5627-47D9-848B-760D925070C8}"/>
                </a:ext>
              </a:extLst>
            </p:cNvPr>
            <p:cNvGrpSpPr/>
            <p:nvPr/>
          </p:nvGrpSpPr>
          <p:grpSpPr>
            <a:xfrm>
              <a:off x="4800600" y="4965700"/>
              <a:ext cx="685800" cy="1498600"/>
              <a:chOff x="4800600" y="4965700"/>
              <a:chExt cx="685800" cy="1498600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0759617-A65A-4329-AD53-1621175CC14D}"/>
                  </a:ext>
                </a:extLst>
              </p:cNvPr>
              <p:cNvSpPr/>
              <p:nvPr/>
            </p:nvSpPr>
            <p:spPr bwMode="auto">
              <a:xfrm>
                <a:off x="4800600" y="5253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3EC61CF8-7B19-41B7-8774-624D459F4E29}"/>
                  </a:ext>
                </a:extLst>
              </p:cNvPr>
              <p:cNvSpPr/>
              <p:nvPr/>
            </p:nvSpPr>
            <p:spPr bwMode="auto">
              <a:xfrm>
                <a:off x="4800600" y="5558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E0BF8E3A-4321-4029-B37B-3B03D41639FC}"/>
                  </a:ext>
                </a:extLst>
              </p:cNvPr>
              <p:cNvSpPr/>
              <p:nvPr/>
            </p:nvSpPr>
            <p:spPr bwMode="auto">
              <a:xfrm>
                <a:off x="4800600" y="5867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DD8AC082-CE6D-4CAB-A148-11E9A8693051}"/>
                  </a:ext>
                </a:extLst>
              </p:cNvPr>
              <p:cNvSpPr/>
              <p:nvPr/>
            </p:nvSpPr>
            <p:spPr bwMode="auto">
              <a:xfrm>
                <a:off x="4800600" y="49657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41FE2B8D-70D8-4A0E-8F09-AFA70BD08574}"/>
                  </a:ext>
                </a:extLst>
              </p:cNvPr>
              <p:cNvSpPr/>
              <p:nvPr/>
            </p:nvSpPr>
            <p:spPr bwMode="auto">
              <a:xfrm>
                <a:off x="4800600" y="61595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</p:grpSp>
      </p:grpSp>
      <p:cxnSp>
        <p:nvCxnSpPr>
          <p:cNvPr id="33823" name="Elbow Connector 123">
            <a:extLst>
              <a:ext uri="{FF2B5EF4-FFF2-40B4-BE49-F238E27FC236}">
                <a16:creationId xmlns:a16="http://schemas.microsoft.com/office/drawing/2014/main" id="{77543124-BA9E-4B73-857D-EDE18284BBC1}"/>
              </a:ext>
            </a:extLst>
          </p:cNvPr>
          <p:cNvCxnSpPr>
            <a:cxnSpLocks noChangeShapeType="1"/>
            <a:endCxn id="33801" idx="1"/>
          </p:cNvCxnSpPr>
          <p:nvPr/>
        </p:nvCxnSpPr>
        <p:spPr bwMode="auto">
          <a:xfrm flipV="1">
            <a:off x="5486400" y="3762375"/>
            <a:ext cx="228600" cy="218122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1ADB2D5F-6ACB-4AB0-81E8-E408FDA6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OR Layout with Multiple Inheritance</a:t>
            </a:r>
          </a:p>
        </p:txBody>
      </p:sp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425C05DA-2366-4564-8334-42D73580F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2978EDF9-2A61-4DF4-96EA-F4512C1BAB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27ACCDA-E539-4AF3-9EDC-7AFCF05AA868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2D91A643-0AE2-40CC-8DE8-4C954F508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772400" cy="4986338"/>
          </a:xfrm>
        </p:spPr>
        <p:txBody>
          <a:bodyPr>
            <a:spAutoFit/>
          </a:bodyPr>
          <a:lstStyle/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Solution: Prefix both code storage &amp; code vector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Point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int x, y;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Point add();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CThing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Color c;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void colorize();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42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CPoint extends 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Point  and CThing {	 			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</p:txBody>
      </p:sp>
      <p:grpSp>
        <p:nvGrpSpPr>
          <p:cNvPr id="34821" name="Group 33">
            <a:extLst>
              <a:ext uri="{FF2B5EF4-FFF2-40B4-BE49-F238E27FC236}">
                <a16:creationId xmlns:a16="http://schemas.microsoft.com/office/drawing/2014/main" id="{9BCEFDEC-57BD-45FB-BB12-32C75D18D1FE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846263"/>
            <a:ext cx="1828800" cy="896937"/>
            <a:chOff x="6324600" y="2933700"/>
            <a:chExt cx="1828800" cy="897354"/>
          </a:xfrm>
        </p:grpSpPr>
        <p:sp>
          <p:nvSpPr>
            <p:cNvPr id="34854" name="TextBox 30">
              <a:extLst>
                <a:ext uri="{FF2B5EF4-FFF2-40B4-BE49-F238E27FC236}">
                  <a16:creationId xmlns:a16="http://schemas.microsoft.com/office/drawing/2014/main" id="{DBE1FF44-0F88-4EBF-B6EA-7E50B6C41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33700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4855" name="Straight Arrow Connector 32">
              <a:extLst>
                <a:ext uri="{FF2B5EF4-FFF2-40B4-BE49-F238E27FC236}">
                  <a16:creationId xmlns:a16="http://schemas.microsoft.com/office/drawing/2014/main" id="{238DBDCF-A0C5-4729-8797-5AD7A30A3690}"/>
                </a:ext>
              </a:extLst>
            </p:cNvPr>
            <p:cNvCxnSpPr>
              <a:cxnSpLocks noChangeShapeType="1"/>
              <a:stCxn id="34854" idx="3"/>
            </p:cNvCxnSpPr>
            <p:nvPr/>
          </p:nvCxnSpPr>
          <p:spPr bwMode="auto">
            <a:xfrm>
              <a:off x="6934200" y="31029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8" name="Group 31">
              <a:extLst>
                <a:ext uri="{FF2B5EF4-FFF2-40B4-BE49-F238E27FC236}">
                  <a16:creationId xmlns:a16="http://schemas.microsoft.com/office/drawing/2014/main" id="{1F5D72E0-15FE-4565-9A4E-9BF5E4F60514}"/>
                </a:ext>
              </a:extLst>
            </p:cNvPr>
            <p:cNvGrpSpPr/>
            <p:nvPr/>
          </p:nvGrpSpPr>
          <p:grpSpPr>
            <a:xfrm>
              <a:off x="7467600" y="2946400"/>
              <a:ext cx="685800" cy="884654"/>
              <a:chOff x="7467600" y="2946400"/>
              <a:chExt cx="685800" cy="8846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F3A991F8-0071-49FB-A37B-E2DB0985E76B}"/>
                  </a:ext>
                </a:extLst>
              </p:cNvPr>
              <p:cNvSpPr/>
              <p:nvPr/>
            </p:nvSpPr>
            <p:spPr bwMode="auto">
              <a:xfrm>
                <a:off x="7467600" y="3221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71DA714-8BB3-4297-BDFE-E13442967000}"/>
                  </a:ext>
                </a:extLst>
              </p:cNvPr>
              <p:cNvSpPr/>
              <p:nvPr/>
            </p:nvSpPr>
            <p:spPr bwMode="auto">
              <a:xfrm>
                <a:off x="7467600" y="3526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F9D35C6-51A1-4559-BE50-4DCDB966A69D}"/>
                  </a:ext>
                </a:extLst>
              </p:cNvPr>
              <p:cNvSpPr/>
              <p:nvPr/>
            </p:nvSpPr>
            <p:spPr bwMode="auto">
              <a:xfrm>
                <a:off x="7467600" y="2946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grpSp>
        <p:nvGrpSpPr>
          <p:cNvPr id="34822" name="Group 46">
            <a:extLst>
              <a:ext uri="{FF2B5EF4-FFF2-40B4-BE49-F238E27FC236}">
                <a16:creationId xmlns:a16="http://schemas.microsoft.com/office/drawing/2014/main" id="{46F30CE1-D3F0-449D-BAF2-C8513939B2D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598863"/>
            <a:ext cx="1828800" cy="592137"/>
            <a:chOff x="5715000" y="3293646"/>
            <a:chExt cx="1828800" cy="592554"/>
          </a:xfrm>
        </p:grpSpPr>
        <p:sp>
          <p:nvSpPr>
            <p:cNvPr id="34851" name="TextBox 47">
              <a:extLst>
                <a:ext uri="{FF2B5EF4-FFF2-40B4-BE49-F238E27FC236}">
                  <a16:creationId xmlns:a16="http://schemas.microsoft.com/office/drawing/2014/main" id="{FF0CE8C3-F0C4-42F9-881C-E5692FB24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293646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4852" name="Straight Arrow Connector 48">
              <a:extLst>
                <a:ext uri="{FF2B5EF4-FFF2-40B4-BE49-F238E27FC236}">
                  <a16:creationId xmlns:a16="http://schemas.microsoft.com/office/drawing/2014/main" id="{2995FC66-1B83-4010-8C0D-DE2DD781A701}"/>
                </a:ext>
              </a:extLst>
            </p:cNvPr>
            <p:cNvCxnSpPr>
              <a:cxnSpLocks noChangeShapeType="1"/>
              <a:stCxn id="34851" idx="3"/>
            </p:cNvCxnSpPr>
            <p:nvPr/>
          </p:nvCxnSpPr>
          <p:spPr bwMode="auto">
            <a:xfrm>
              <a:off x="6324600" y="3462923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2" name="Group 34">
              <a:extLst>
                <a:ext uri="{FF2B5EF4-FFF2-40B4-BE49-F238E27FC236}">
                  <a16:creationId xmlns:a16="http://schemas.microsoft.com/office/drawing/2014/main" id="{F4B7A94F-4D42-424C-A3B5-4E1D840A5F18}"/>
                </a:ext>
              </a:extLst>
            </p:cNvPr>
            <p:cNvGrpSpPr/>
            <p:nvPr/>
          </p:nvGrpSpPr>
          <p:grpSpPr>
            <a:xfrm>
              <a:off x="6858000" y="3306346"/>
              <a:ext cx="685800" cy="579854"/>
              <a:chOff x="6858000" y="3306346"/>
              <a:chExt cx="685800" cy="5798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51" name="Rectangle 6">
                <a:extLst>
                  <a:ext uri="{FF2B5EF4-FFF2-40B4-BE49-F238E27FC236}">
                    <a16:creationId xmlns:a16="http://schemas.microsoft.com/office/drawing/2014/main" id="{5605320C-8F26-4063-8713-6C57AA3F467E}"/>
                  </a:ext>
                </a:extLst>
              </p:cNvPr>
              <p:cNvSpPr/>
              <p:nvPr/>
            </p:nvSpPr>
            <p:spPr bwMode="auto">
              <a:xfrm>
                <a:off x="6858000" y="3581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943AFF2-A99E-40E9-8BE1-6B2DAEA843CE}"/>
                  </a:ext>
                </a:extLst>
              </p:cNvPr>
              <p:cNvSpPr/>
              <p:nvPr/>
            </p:nvSpPr>
            <p:spPr bwMode="auto">
              <a:xfrm>
                <a:off x="6858000" y="3306346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sp>
        <p:nvSpPr>
          <p:cNvPr id="34823" name="TextBox 38">
            <a:extLst>
              <a:ext uri="{FF2B5EF4-FFF2-40B4-BE49-F238E27FC236}">
                <a16:creationId xmlns:a16="http://schemas.microsoft.com/office/drawing/2014/main" id="{A0E0F72B-91C7-4E7C-AE7F-D43E05F7C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27200"/>
            <a:ext cx="304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4824" name="Straight Arrow Connector 46">
            <a:extLst>
              <a:ext uri="{FF2B5EF4-FFF2-40B4-BE49-F238E27FC236}">
                <a16:creationId xmlns:a16="http://schemas.microsoft.com/office/drawing/2014/main" id="{2D6EA770-52B6-492A-91B2-BB943523D11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11800" y="2003425"/>
            <a:ext cx="203200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4825" name="TextBox 63">
            <a:extLst>
              <a:ext uri="{FF2B5EF4-FFF2-40B4-BE49-F238E27FC236}">
                <a16:creationId xmlns:a16="http://schemas.microsoft.com/office/drawing/2014/main" id="{151AADD5-16D4-4031-BE58-AAF3862D1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4845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4826" name="Straight Arrow Connector 64">
            <a:extLst>
              <a:ext uri="{FF2B5EF4-FFF2-40B4-BE49-F238E27FC236}">
                <a16:creationId xmlns:a16="http://schemas.microsoft.com/office/drawing/2014/main" id="{AA227327-638B-4C3A-A5CC-D58A22CFF88C}"/>
              </a:ext>
            </a:extLst>
          </p:cNvPr>
          <p:cNvCxnSpPr>
            <a:cxnSpLocks noChangeShapeType="1"/>
            <a:endCxn id="34825" idx="1"/>
          </p:cNvCxnSpPr>
          <p:nvPr/>
        </p:nvCxnSpPr>
        <p:spPr bwMode="auto">
          <a:xfrm flipV="1">
            <a:off x="5511800" y="3762375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27" name="Straight Arrow Connector 65">
            <a:extLst>
              <a:ext uri="{FF2B5EF4-FFF2-40B4-BE49-F238E27FC236}">
                <a16:creationId xmlns:a16="http://schemas.microsoft.com/office/drawing/2014/main" id="{C2DFE786-3216-424A-99C7-D06C42EE6CE3}"/>
              </a:ext>
            </a:extLst>
          </p:cNvPr>
          <p:cNvCxnSpPr>
            <a:cxnSpLocks noChangeShapeType="1"/>
            <a:stCxn id="34825" idx="3"/>
          </p:cNvCxnSpPr>
          <p:nvPr/>
        </p:nvCxnSpPr>
        <p:spPr bwMode="auto">
          <a:xfrm>
            <a:off x="6019800" y="3762375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" name="Group 66">
            <a:extLst>
              <a:ext uri="{FF2B5EF4-FFF2-40B4-BE49-F238E27FC236}">
                <a16:creationId xmlns:a16="http://schemas.microsoft.com/office/drawing/2014/main" id="{5E0554A4-7D80-4DA1-A146-0181206F652F}"/>
              </a:ext>
            </a:extLst>
          </p:cNvPr>
          <p:cNvGrpSpPr/>
          <p:nvPr/>
        </p:nvGrpSpPr>
        <p:grpSpPr>
          <a:xfrm>
            <a:off x="6324600" y="3611602"/>
            <a:ext cx="838200" cy="307777"/>
            <a:chOff x="6705600" y="1828800"/>
            <a:chExt cx="838200" cy="3077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7B9FD80-2F66-4373-A98C-04B871B1A5BF}"/>
                </a:ext>
              </a:extLst>
            </p:cNvPr>
            <p:cNvSpPr/>
            <p:nvPr/>
          </p:nvSpPr>
          <p:spPr bwMode="auto">
            <a:xfrm>
              <a:off x="6705600" y="18683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D8EDC1A-C827-4D94-9430-E4973DED832B}"/>
                </a:ext>
              </a:extLst>
            </p:cNvPr>
            <p:cNvSpPr txBox="1"/>
            <p:nvPr/>
          </p:nvSpPr>
          <p:spPr>
            <a:xfrm>
              <a:off x="6705600" y="18288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cxnSp>
        <p:nvCxnSpPr>
          <p:cNvPr id="34829" name="Straight Arrow Connector 69">
            <a:extLst>
              <a:ext uri="{FF2B5EF4-FFF2-40B4-BE49-F238E27FC236}">
                <a16:creationId xmlns:a16="http://schemas.microsoft.com/office/drawing/2014/main" id="{108C249D-8B10-46EF-8F66-16218B0ABA7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6400" y="5113338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30" name="Straight Arrow Connector 70">
            <a:extLst>
              <a:ext uri="{FF2B5EF4-FFF2-40B4-BE49-F238E27FC236}">
                <a16:creationId xmlns:a16="http://schemas.microsoft.com/office/drawing/2014/main" id="{64FEBC6D-D851-45E4-B4E5-5B47AB8CCE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4400" y="5113338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4" name="Group 82">
            <a:extLst>
              <a:ext uri="{FF2B5EF4-FFF2-40B4-BE49-F238E27FC236}">
                <a16:creationId xmlns:a16="http://schemas.microsoft.com/office/drawing/2014/main" id="{6CE984C1-58CD-4ECC-AA7C-A50C0D33FDFB}"/>
              </a:ext>
            </a:extLst>
          </p:cNvPr>
          <p:cNvGrpSpPr/>
          <p:nvPr/>
        </p:nvGrpSpPr>
        <p:grpSpPr>
          <a:xfrm>
            <a:off x="6324600" y="4962723"/>
            <a:ext cx="838200" cy="745531"/>
            <a:chOff x="6629400" y="4962723"/>
            <a:chExt cx="838200" cy="745531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470D2D2-16DA-4A9B-9170-DB38F455ACA3}"/>
                </a:ext>
              </a:extLst>
            </p:cNvPr>
            <p:cNvSpPr/>
            <p:nvPr/>
          </p:nvSpPr>
          <p:spPr bwMode="auto">
            <a:xfrm>
              <a:off x="6629400" y="5002311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DB9CF00-96EB-45FC-8641-CF8E0C44677C}"/>
                </a:ext>
              </a:extLst>
            </p:cNvPr>
            <p:cNvSpPr txBox="1"/>
            <p:nvPr/>
          </p:nvSpPr>
          <p:spPr>
            <a:xfrm>
              <a:off x="6629400" y="4962723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B96E4BD-270A-4689-9AF4-F450EB5E2765}"/>
                </a:ext>
              </a:extLst>
            </p:cNvPr>
            <p:cNvSpPr/>
            <p:nvPr/>
          </p:nvSpPr>
          <p:spPr bwMode="auto">
            <a:xfrm>
              <a:off x="6629400" y="52211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430B422-03C8-4B5F-A2E7-F0FE8BDFBF5F}"/>
                </a:ext>
              </a:extLst>
            </p:cNvPr>
            <p:cNvSpPr txBox="1"/>
            <p:nvPr/>
          </p:nvSpPr>
          <p:spPr>
            <a:xfrm>
              <a:off x="6629400" y="51816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620D71A-5951-410B-8152-EB5DCD89072B}"/>
                </a:ext>
              </a:extLst>
            </p:cNvPr>
            <p:cNvSpPr/>
            <p:nvPr/>
          </p:nvSpPr>
          <p:spPr bwMode="auto">
            <a:xfrm>
              <a:off x="6629400" y="5440065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EE7F54F-0497-459B-9D42-7D6EE28A5CF5}"/>
                </a:ext>
              </a:extLst>
            </p:cNvPr>
            <p:cNvSpPr txBox="1"/>
            <p:nvPr/>
          </p:nvSpPr>
          <p:spPr>
            <a:xfrm>
              <a:off x="6629400" y="5400477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grpSp>
        <p:nvGrpSpPr>
          <p:cNvPr id="15" name="Group 81">
            <a:extLst>
              <a:ext uri="{FF2B5EF4-FFF2-40B4-BE49-F238E27FC236}">
                <a16:creationId xmlns:a16="http://schemas.microsoft.com/office/drawing/2014/main" id="{23D77F4B-9280-4A43-A7C1-4D2AD2174D2A}"/>
              </a:ext>
            </a:extLst>
          </p:cNvPr>
          <p:cNvGrpSpPr/>
          <p:nvPr/>
        </p:nvGrpSpPr>
        <p:grpSpPr>
          <a:xfrm>
            <a:off x="5943600" y="1854200"/>
            <a:ext cx="1219200" cy="523677"/>
            <a:chOff x="6248400" y="1854200"/>
            <a:chExt cx="1219200" cy="5236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AFFC8F8-4126-4402-90D4-AA70292EF0B0}"/>
                </a:ext>
              </a:extLst>
            </p:cNvPr>
            <p:cNvCxnSpPr>
              <a:stCxn id="39" idx="3"/>
              <a:endCxn id="58" idx="1"/>
            </p:cNvCxnSpPr>
            <p:nvPr/>
          </p:nvCxnSpPr>
          <p:spPr bwMode="auto">
            <a:xfrm>
              <a:off x="6248400" y="2004199"/>
              <a:ext cx="381000" cy="38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E05271B-35B2-4241-A7AC-06B5320B6EC1}"/>
                </a:ext>
              </a:extLst>
            </p:cNvPr>
            <p:cNvSpPr/>
            <p:nvPr/>
          </p:nvSpPr>
          <p:spPr bwMode="auto">
            <a:xfrm>
              <a:off x="6629400" y="18937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E0F4FE3-9674-4933-A09A-910197DF1BC4}"/>
                </a:ext>
              </a:extLst>
            </p:cNvPr>
            <p:cNvSpPr txBox="1"/>
            <p:nvPr/>
          </p:nvSpPr>
          <p:spPr>
            <a:xfrm>
              <a:off x="6667500" y="1854200"/>
              <a:ext cx="7620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D17CDDD-6D91-48EF-885E-86991B8FDFD4}"/>
                </a:ext>
              </a:extLst>
            </p:cNvPr>
            <p:cNvSpPr/>
            <p:nvPr/>
          </p:nvSpPr>
          <p:spPr bwMode="auto">
            <a:xfrm>
              <a:off x="6629400" y="21096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AB4522E-A9BA-491A-875D-B6375C01471D}"/>
                </a:ext>
              </a:extLst>
            </p:cNvPr>
            <p:cNvSpPr txBox="1"/>
            <p:nvPr/>
          </p:nvSpPr>
          <p:spPr>
            <a:xfrm>
              <a:off x="6629400" y="20701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</p:grpSp>
      <p:sp>
        <p:nvSpPr>
          <p:cNvPr id="34833" name="TextBox 83">
            <a:extLst>
              <a:ext uri="{FF2B5EF4-FFF2-40B4-BE49-F238E27FC236}">
                <a16:creationId xmlns:a16="http://schemas.microsoft.com/office/drawing/2014/main" id="{1BC80BD6-C3DE-45EB-A788-8692AB1C4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48434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sp>
        <p:nvSpPr>
          <p:cNvPr id="34834" name="TextBox 86">
            <a:extLst>
              <a:ext uri="{FF2B5EF4-FFF2-40B4-BE49-F238E27FC236}">
                <a16:creationId xmlns:a16="http://schemas.microsoft.com/office/drawing/2014/main" id="{B0A8EDA7-92AA-4E1A-A307-860F203D8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8510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draw</a:t>
            </a:r>
          </a:p>
        </p:txBody>
      </p:sp>
      <p:sp>
        <p:nvSpPr>
          <p:cNvPr id="34835" name="TextBox 88">
            <a:extLst>
              <a:ext uri="{FF2B5EF4-FFF2-40B4-BE49-F238E27FC236}">
                <a16:creationId xmlns:a16="http://schemas.microsoft.com/office/drawing/2014/main" id="{26B21C0C-CF25-4E02-9B03-F894E7076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0669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add</a:t>
            </a:r>
          </a:p>
        </p:txBody>
      </p:sp>
      <p:sp>
        <p:nvSpPr>
          <p:cNvPr id="34836" name="TextBox 89">
            <a:extLst>
              <a:ext uri="{FF2B5EF4-FFF2-40B4-BE49-F238E27FC236}">
                <a16:creationId xmlns:a16="http://schemas.microsoft.com/office/drawing/2014/main" id="{386F366A-E699-4265-8EB0-4D975DA87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6163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CThing: add</a:t>
            </a:r>
          </a:p>
        </p:txBody>
      </p:sp>
      <p:sp>
        <p:nvSpPr>
          <p:cNvPr id="34837" name="TextBox 90">
            <a:extLst>
              <a:ext uri="{FF2B5EF4-FFF2-40B4-BE49-F238E27FC236}">
                <a16:creationId xmlns:a16="http://schemas.microsoft.com/office/drawing/2014/main" id="{311C4E6E-0BAC-4AEE-80F2-7A0209027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953000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CPoint: draw</a:t>
            </a:r>
          </a:p>
        </p:txBody>
      </p:sp>
      <p:cxnSp>
        <p:nvCxnSpPr>
          <p:cNvPr id="34838" name="Straight Arrow Connector 92">
            <a:extLst>
              <a:ext uri="{FF2B5EF4-FFF2-40B4-BE49-F238E27FC236}">
                <a16:creationId xmlns:a16="http://schemas.microsoft.com/office/drawing/2014/main" id="{B8302AB0-E987-458A-B952-CBC88D873A31}"/>
              </a:ext>
            </a:extLst>
          </p:cNvPr>
          <p:cNvCxnSpPr>
            <a:cxnSpLocks noChangeShapeType="1"/>
            <a:endCxn id="34837" idx="1"/>
          </p:cNvCxnSpPr>
          <p:nvPr/>
        </p:nvCxnSpPr>
        <p:spPr bwMode="auto">
          <a:xfrm flipV="1">
            <a:off x="7162800" y="5106988"/>
            <a:ext cx="685800" cy="9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39" name="Straight Arrow Connector 96">
            <a:extLst>
              <a:ext uri="{FF2B5EF4-FFF2-40B4-BE49-F238E27FC236}">
                <a16:creationId xmlns:a16="http://schemas.microsoft.com/office/drawing/2014/main" id="{A16AF7E8-E5EB-4890-8E20-E6F56ACA1043}"/>
              </a:ext>
            </a:extLst>
          </p:cNvPr>
          <p:cNvCxnSpPr>
            <a:cxnSpLocks noChangeShapeType="1"/>
            <a:endCxn id="34836" idx="1"/>
          </p:cNvCxnSpPr>
          <p:nvPr/>
        </p:nvCxnSpPr>
        <p:spPr bwMode="auto">
          <a:xfrm>
            <a:off x="7162800" y="3765550"/>
            <a:ext cx="685800" cy="47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40" name="Straight Arrow Connector 101">
            <a:extLst>
              <a:ext uri="{FF2B5EF4-FFF2-40B4-BE49-F238E27FC236}">
                <a16:creationId xmlns:a16="http://schemas.microsoft.com/office/drawing/2014/main" id="{477715AA-435E-4EC8-9073-70C82EDA397B}"/>
              </a:ext>
            </a:extLst>
          </p:cNvPr>
          <p:cNvCxnSpPr>
            <a:cxnSpLocks noChangeShapeType="1"/>
            <a:endCxn id="34835" idx="1"/>
          </p:cNvCxnSpPr>
          <p:nvPr/>
        </p:nvCxnSpPr>
        <p:spPr bwMode="auto">
          <a:xfrm flipV="1">
            <a:off x="7162800" y="22209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41" name="Straight Arrow Connector 103">
            <a:extLst>
              <a:ext uri="{FF2B5EF4-FFF2-40B4-BE49-F238E27FC236}">
                <a16:creationId xmlns:a16="http://schemas.microsoft.com/office/drawing/2014/main" id="{1A133D42-4A1F-417F-B81F-EA593D0CEDFD}"/>
              </a:ext>
            </a:extLst>
          </p:cNvPr>
          <p:cNvCxnSpPr>
            <a:cxnSpLocks noChangeShapeType="1"/>
            <a:endCxn id="34834" idx="1"/>
          </p:cNvCxnSpPr>
          <p:nvPr/>
        </p:nvCxnSpPr>
        <p:spPr bwMode="auto">
          <a:xfrm flipV="1">
            <a:off x="7162800" y="20050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42" name="Elbow Connector 105">
            <a:extLst>
              <a:ext uri="{FF2B5EF4-FFF2-40B4-BE49-F238E27FC236}">
                <a16:creationId xmlns:a16="http://schemas.microsoft.com/office/drawing/2014/main" id="{10C2CA76-4671-4FE7-BE82-7DE40896AE81}"/>
              </a:ext>
            </a:extLst>
          </p:cNvPr>
          <p:cNvCxnSpPr>
            <a:cxnSpLocks noChangeShapeType="1"/>
            <a:endCxn id="34835" idx="1"/>
          </p:cNvCxnSpPr>
          <p:nvPr/>
        </p:nvCxnSpPr>
        <p:spPr bwMode="auto">
          <a:xfrm flipV="1">
            <a:off x="7162800" y="2220913"/>
            <a:ext cx="685800" cy="311467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34843" name="Shape 107">
            <a:extLst>
              <a:ext uri="{FF2B5EF4-FFF2-40B4-BE49-F238E27FC236}">
                <a16:creationId xmlns:a16="http://schemas.microsoft.com/office/drawing/2014/main" id="{5AB9B855-10DF-40E5-8036-6DB735CFE83C}"/>
              </a:ext>
            </a:extLst>
          </p:cNvPr>
          <p:cNvCxnSpPr>
            <a:cxnSpLocks noChangeShapeType="1"/>
            <a:endCxn id="34836" idx="1"/>
          </p:cNvCxnSpPr>
          <p:nvPr/>
        </p:nvCxnSpPr>
        <p:spPr bwMode="auto">
          <a:xfrm flipV="1">
            <a:off x="7162800" y="3770313"/>
            <a:ext cx="685800" cy="1784350"/>
          </a:xfrm>
          <a:prstGeom prst="bentConnector3">
            <a:avLst>
              <a:gd name="adj1" fmla="val 6296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34844" name="TextBox 66">
            <a:extLst>
              <a:ext uri="{FF2B5EF4-FFF2-40B4-BE49-F238E27FC236}">
                <a16:creationId xmlns:a16="http://schemas.microsoft.com/office/drawing/2014/main" id="{D63AFE17-3393-4491-8164-14BF3C06B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267200"/>
            <a:ext cx="2667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“c” is at offset 8 in a CThing</a:t>
            </a:r>
          </a:p>
        </p:txBody>
      </p:sp>
      <p:sp>
        <p:nvSpPr>
          <p:cNvPr id="34845" name="TextBox 71">
            <a:extLst>
              <a:ext uri="{FF2B5EF4-FFF2-40B4-BE49-F238E27FC236}">
                <a16:creationId xmlns:a16="http://schemas.microsoft.com/office/drawing/2014/main" id="{ACB07363-A21B-48E1-B78E-7DE0542C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502400"/>
            <a:ext cx="2667000" cy="307975"/>
          </a:xfrm>
          <a:prstGeom prst="rect">
            <a:avLst/>
          </a:prstGeom>
          <a:noFill/>
          <a:ln w="19050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</a:rPr>
              <a:t>“c” is at offset 32 in a CPoint</a:t>
            </a:r>
          </a:p>
        </p:txBody>
      </p:sp>
      <p:grpSp>
        <p:nvGrpSpPr>
          <p:cNvPr id="34846" name="Group 109">
            <a:extLst>
              <a:ext uri="{FF2B5EF4-FFF2-40B4-BE49-F238E27FC236}">
                <a16:creationId xmlns:a16="http://schemas.microsoft.com/office/drawing/2014/main" id="{C08B5823-4A8B-4ACD-8DA1-94863712910D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876800"/>
            <a:ext cx="1828800" cy="1511300"/>
            <a:chOff x="3657600" y="4953000"/>
            <a:chExt cx="1828800" cy="1511300"/>
          </a:xfrm>
        </p:grpSpPr>
        <p:sp>
          <p:nvSpPr>
            <p:cNvPr id="34848" name="TextBox 110">
              <a:extLst>
                <a:ext uri="{FF2B5EF4-FFF2-40B4-BE49-F238E27FC236}">
                  <a16:creationId xmlns:a16="http://schemas.microsoft.com/office/drawing/2014/main" id="{F7A39FB2-F8B6-421D-935C-61C5D8211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953000"/>
              <a:ext cx="609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4849" name="Straight Arrow Connector 111">
              <a:extLst>
                <a:ext uri="{FF2B5EF4-FFF2-40B4-BE49-F238E27FC236}">
                  <a16:creationId xmlns:a16="http://schemas.microsoft.com/office/drawing/2014/main" id="{6DBEBDBA-D8E2-4DCC-BCD1-A66AEC4C09C8}"/>
                </a:ext>
              </a:extLst>
            </p:cNvPr>
            <p:cNvCxnSpPr>
              <a:cxnSpLocks noChangeShapeType="1"/>
              <a:stCxn id="34848" idx="3"/>
            </p:cNvCxnSpPr>
            <p:nvPr/>
          </p:nvCxnSpPr>
          <p:spPr bwMode="auto">
            <a:xfrm>
              <a:off x="4267200" y="51222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13" name="Group 82">
              <a:extLst>
                <a:ext uri="{FF2B5EF4-FFF2-40B4-BE49-F238E27FC236}">
                  <a16:creationId xmlns:a16="http://schemas.microsoft.com/office/drawing/2014/main" id="{3DADBAE1-2A18-4BF4-9221-CFBEF02BB028}"/>
                </a:ext>
              </a:extLst>
            </p:cNvPr>
            <p:cNvGrpSpPr/>
            <p:nvPr/>
          </p:nvGrpSpPr>
          <p:grpSpPr>
            <a:xfrm>
              <a:off x="4800600" y="4965700"/>
              <a:ext cx="685800" cy="1498600"/>
              <a:chOff x="4800600" y="4965700"/>
              <a:chExt cx="685800" cy="1498600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22BBB45-1B45-487C-AAA4-FF4CF6BDDE18}"/>
                  </a:ext>
                </a:extLst>
              </p:cNvPr>
              <p:cNvSpPr/>
              <p:nvPr/>
            </p:nvSpPr>
            <p:spPr bwMode="auto">
              <a:xfrm>
                <a:off x="4800600" y="5253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380D3C3D-C4C4-499D-880B-92B85158B096}"/>
                  </a:ext>
                </a:extLst>
              </p:cNvPr>
              <p:cNvSpPr/>
              <p:nvPr/>
            </p:nvSpPr>
            <p:spPr bwMode="auto">
              <a:xfrm>
                <a:off x="4800600" y="5558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2D0121B2-2C65-4EB1-B8FF-CA7E90172000}"/>
                  </a:ext>
                </a:extLst>
              </p:cNvPr>
              <p:cNvSpPr/>
              <p:nvPr/>
            </p:nvSpPr>
            <p:spPr bwMode="auto">
              <a:xfrm>
                <a:off x="4800600" y="5867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7CC4BDF0-DAD6-4C6F-B821-4C5BF588C57D}"/>
                  </a:ext>
                </a:extLst>
              </p:cNvPr>
              <p:cNvSpPr/>
              <p:nvPr/>
            </p:nvSpPr>
            <p:spPr bwMode="auto">
              <a:xfrm>
                <a:off x="4800600" y="49657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C4F6796-427D-4F36-B4F9-9E03C1A6965C}"/>
                  </a:ext>
                </a:extLst>
              </p:cNvPr>
              <p:cNvSpPr/>
              <p:nvPr/>
            </p:nvSpPr>
            <p:spPr bwMode="auto">
              <a:xfrm>
                <a:off x="4800600" y="61595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</p:grpSp>
      </p:grpSp>
      <p:cxnSp>
        <p:nvCxnSpPr>
          <p:cNvPr id="34847" name="Elbow Connector 118">
            <a:extLst>
              <a:ext uri="{FF2B5EF4-FFF2-40B4-BE49-F238E27FC236}">
                <a16:creationId xmlns:a16="http://schemas.microsoft.com/office/drawing/2014/main" id="{7CABEF70-C125-491D-956E-842E21AE1BD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6400" y="3762375"/>
            <a:ext cx="228600" cy="218122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7F0539CF-A493-40F2-978C-C58E65EE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OR Layout with Multiple Inheritance</a:t>
            </a:r>
          </a:p>
        </p:txBody>
      </p:sp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459ADA64-90D2-4F2F-9D4D-3C4E41C250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5843" name="Slide Number Placeholder 4">
            <a:extLst>
              <a:ext uri="{FF2B5EF4-FFF2-40B4-BE49-F238E27FC236}">
                <a16:creationId xmlns:a16="http://schemas.microsoft.com/office/drawing/2014/main" id="{8B93A7B0-BE8B-414E-BC6E-79D5F8774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39CF4E2-4874-485A-8A39-57C7FC6F3BF9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44AEE211-0DAF-4EFE-9CB5-FE05D4F14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772400" cy="4986338"/>
          </a:xfrm>
        </p:spPr>
        <p:txBody>
          <a:bodyPr>
            <a:spAutoFit/>
          </a:bodyPr>
          <a:lstStyle/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fix CPoint’s offset for “c”, use a trampoline function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Point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int x, y;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	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Point add();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36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CThing {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	Color c;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  public void colorize();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  <a:p>
            <a:pPr defTabSz="174625">
              <a:spcBef>
                <a:spcPts val="4200"/>
              </a:spcBef>
              <a:buFont typeface="Times" panose="02020603050405020304" pitchFamily="18" charset="0"/>
              <a:buNone/>
            </a:pPr>
            <a:r>
              <a:rPr lang="en-US" altLang="it-IT" sz="1600"/>
              <a:t>Class CPoint extends 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Point  and CThing {	 			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    public void draw();</a:t>
            </a:r>
          </a:p>
          <a:p>
            <a:pPr defTabSz="174625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/>
              <a:t>}</a:t>
            </a:r>
          </a:p>
        </p:txBody>
      </p:sp>
      <p:grpSp>
        <p:nvGrpSpPr>
          <p:cNvPr id="35845" name="Group 33">
            <a:extLst>
              <a:ext uri="{FF2B5EF4-FFF2-40B4-BE49-F238E27FC236}">
                <a16:creationId xmlns:a16="http://schemas.microsoft.com/office/drawing/2014/main" id="{5F8F24AA-EFCB-47D7-B7E4-6BB44277C50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846263"/>
            <a:ext cx="1828800" cy="896937"/>
            <a:chOff x="6324600" y="2933700"/>
            <a:chExt cx="1828800" cy="897354"/>
          </a:xfrm>
        </p:grpSpPr>
        <p:sp>
          <p:nvSpPr>
            <p:cNvPr id="35877" name="TextBox 30">
              <a:extLst>
                <a:ext uri="{FF2B5EF4-FFF2-40B4-BE49-F238E27FC236}">
                  <a16:creationId xmlns:a16="http://schemas.microsoft.com/office/drawing/2014/main" id="{2B4FC638-598D-4D76-93F8-35EF0371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33700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5878" name="Straight Arrow Connector 32">
              <a:extLst>
                <a:ext uri="{FF2B5EF4-FFF2-40B4-BE49-F238E27FC236}">
                  <a16:creationId xmlns:a16="http://schemas.microsoft.com/office/drawing/2014/main" id="{2571D9F8-496F-4170-936C-D71259FF1694}"/>
                </a:ext>
              </a:extLst>
            </p:cNvPr>
            <p:cNvCxnSpPr>
              <a:cxnSpLocks noChangeShapeType="1"/>
              <a:stCxn id="35877" idx="3"/>
            </p:cNvCxnSpPr>
            <p:nvPr/>
          </p:nvCxnSpPr>
          <p:spPr bwMode="auto">
            <a:xfrm>
              <a:off x="6934200" y="31029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8" name="Group 31">
              <a:extLst>
                <a:ext uri="{FF2B5EF4-FFF2-40B4-BE49-F238E27FC236}">
                  <a16:creationId xmlns:a16="http://schemas.microsoft.com/office/drawing/2014/main" id="{BE465622-CDEA-466E-96EC-76026513363F}"/>
                </a:ext>
              </a:extLst>
            </p:cNvPr>
            <p:cNvGrpSpPr/>
            <p:nvPr/>
          </p:nvGrpSpPr>
          <p:grpSpPr>
            <a:xfrm>
              <a:off x="7467600" y="2946400"/>
              <a:ext cx="685800" cy="884654"/>
              <a:chOff x="7467600" y="2946400"/>
              <a:chExt cx="685800" cy="8846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1CFB74BB-C945-4F28-B851-C2AB15732DEE}"/>
                  </a:ext>
                </a:extLst>
              </p:cNvPr>
              <p:cNvSpPr/>
              <p:nvPr/>
            </p:nvSpPr>
            <p:spPr bwMode="auto">
              <a:xfrm>
                <a:off x="7467600" y="3221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E26454C-AB21-41D7-8D9E-AAA7B2C207E4}"/>
                  </a:ext>
                </a:extLst>
              </p:cNvPr>
              <p:cNvSpPr/>
              <p:nvPr/>
            </p:nvSpPr>
            <p:spPr bwMode="auto">
              <a:xfrm>
                <a:off x="7467600" y="3526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FCE8E64-7C6F-4909-9A21-8106637E1636}"/>
                  </a:ext>
                </a:extLst>
              </p:cNvPr>
              <p:cNvSpPr/>
              <p:nvPr/>
            </p:nvSpPr>
            <p:spPr bwMode="auto">
              <a:xfrm>
                <a:off x="7467600" y="2946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grpSp>
        <p:nvGrpSpPr>
          <p:cNvPr id="35846" name="Group 46">
            <a:extLst>
              <a:ext uri="{FF2B5EF4-FFF2-40B4-BE49-F238E27FC236}">
                <a16:creationId xmlns:a16="http://schemas.microsoft.com/office/drawing/2014/main" id="{D5F1A4D2-C8B8-42A1-BE06-620BDD6C1AE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598863"/>
            <a:ext cx="1828800" cy="592137"/>
            <a:chOff x="5715000" y="3293646"/>
            <a:chExt cx="1828800" cy="592554"/>
          </a:xfrm>
        </p:grpSpPr>
        <p:sp>
          <p:nvSpPr>
            <p:cNvPr id="35874" name="TextBox 47">
              <a:extLst>
                <a:ext uri="{FF2B5EF4-FFF2-40B4-BE49-F238E27FC236}">
                  <a16:creationId xmlns:a16="http://schemas.microsoft.com/office/drawing/2014/main" id="{3C790E15-6164-4061-B87E-48500427B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293646"/>
              <a:ext cx="6096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5875" name="Straight Arrow Connector 48">
              <a:extLst>
                <a:ext uri="{FF2B5EF4-FFF2-40B4-BE49-F238E27FC236}">
                  <a16:creationId xmlns:a16="http://schemas.microsoft.com/office/drawing/2014/main" id="{2E53F7FF-8976-482B-A6AD-5D498ADA1C32}"/>
                </a:ext>
              </a:extLst>
            </p:cNvPr>
            <p:cNvCxnSpPr>
              <a:cxnSpLocks noChangeShapeType="1"/>
              <a:stCxn id="35874" idx="3"/>
            </p:cNvCxnSpPr>
            <p:nvPr/>
          </p:nvCxnSpPr>
          <p:spPr bwMode="auto">
            <a:xfrm>
              <a:off x="6324600" y="3462923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12" name="Group 34">
              <a:extLst>
                <a:ext uri="{FF2B5EF4-FFF2-40B4-BE49-F238E27FC236}">
                  <a16:creationId xmlns:a16="http://schemas.microsoft.com/office/drawing/2014/main" id="{05D35869-276E-4666-9269-5CC2EADA70AE}"/>
                </a:ext>
              </a:extLst>
            </p:cNvPr>
            <p:cNvGrpSpPr/>
            <p:nvPr/>
          </p:nvGrpSpPr>
          <p:grpSpPr>
            <a:xfrm>
              <a:off x="6858000" y="3306346"/>
              <a:ext cx="685800" cy="579854"/>
              <a:chOff x="6858000" y="3306346"/>
              <a:chExt cx="685800" cy="579854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51" name="Rectangle 6">
                <a:extLst>
                  <a:ext uri="{FF2B5EF4-FFF2-40B4-BE49-F238E27FC236}">
                    <a16:creationId xmlns:a16="http://schemas.microsoft.com/office/drawing/2014/main" id="{23D0655D-1232-4C35-853D-572E932CA8F4}"/>
                  </a:ext>
                </a:extLst>
              </p:cNvPr>
              <p:cNvSpPr/>
              <p:nvPr/>
            </p:nvSpPr>
            <p:spPr bwMode="auto">
              <a:xfrm>
                <a:off x="6858000" y="3581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041A5F8-CBD5-4FF7-9AC0-C857731F56CC}"/>
                  </a:ext>
                </a:extLst>
              </p:cNvPr>
              <p:cNvSpPr/>
              <p:nvPr/>
            </p:nvSpPr>
            <p:spPr bwMode="auto">
              <a:xfrm>
                <a:off x="6858000" y="3306346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</p:grpSp>
      </p:grpSp>
      <p:sp>
        <p:nvSpPr>
          <p:cNvPr id="35847" name="TextBox 38">
            <a:extLst>
              <a:ext uri="{FF2B5EF4-FFF2-40B4-BE49-F238E27FC236}">
                <a16:creationId xmlns:a16="http://schemas.microsoft.com/office/drawing/2014/main" id="{D5F72EFB-3371-424D-BE1C-65AFA02BB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27200"/>
            <a:ext cx="304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5848" name="Straight Arrow Connector 46">
            <a:extLst>
              <a:ext uri="{FF2B5EF4-FFF2-40B4-BE49-F238E27FC236}">
                <a16:creationId xmlns:a16="http://schemas.microsoft.com/office/drawing/2014/main" id="{45F4E364-E909-40BA-B632-E8599E4C91F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11800" y="2003425"/>
            <a:ext cx="203200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849" name="TextBox 63">
            <a:extLst>
              <a:ext uri="{FF2B5EF4-FFF2-40B4-BE49-F238E27FC236}">
                <a16:creationId xmlns:a16="http://schemas.microsoft.com/office/drawing/2014/main" id="{0363735D-CB4D-4F57-AA1A-EB2F1F83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4845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cxnSp>
        <p:nvCxnSpPr>
          <p:cNvPr id="35850" name="Straight Arrow Connector 64">
            <a:extLst>
              <a:ext uri="{FF2B5EF4-FFF2-40B4-BE49-F238E27FC236}">
                <a16:creationId xmlns:a16="http://schemas.microsoft.com/office/drawing/2014/main" id="{A3250209-AD85-492B-968A-C748D31976AD}"/>
              </a:ext>
            </a:extLst>
          </p:cNvPr>
          <p:cNvCxnSpPr>
            <a:cxnSpLocks noChangeShapeType="1"/>
            <a:endCxn id="35849" idx="1"/>
          </p:cNvCxnSpPr>
          <p:nvPr/>
        </p:nvCxnSpPr>
        <p:spPr bwMode="auto">
          <a:xfrm flipV="1">
            <a:off x="5511800" y="3762375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51" name="Straight Arrow Connector 65">
            <a:extLst>
              <a:ext uri="{FF2B5EF4-FFF2-40B4-BE49-F238E27FC236}">
                <a16:creationId xmlns:a16="http://schemas.microsoft.com/office/drawing/2014/main" id="{81F00E86-B7D4-40D0-BFEC-C7A84736193B}"/>
              </a:ext>
            </a:extLst>
          </p:cNvPr>
          <p:cNvCxnSpPr>
            <a:cxnSpLocks noChangeShapeType="1"/>
            <a:stCxn id="35849" idx="3"/>
          </p:cNvCxnSpPr>
          <p:nvPr/>
        </p:nvCxnSpPr>
        <p:spPr bwMode="auto">
          <a:xfrm>
            <a:off x="6019800" y="3762375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" name="Group 66">
            <a:extLst>
              <a:ext uri="{FF2B5EF4-FFF2-40B4-BE49-F238E27FC236}">
                <a16:creationId xmlns:a16="http://schemas.microsoft.com/office/drawing/2014/main" id="{5FEE846D-58BF-4699-8E38-7408093997FC}"/>
              </a:ext>
            </a:extLst>
          </p:cNvPr>
          <p:cNvGrpSpPr/>
          <p:nvPr/>
        </p:nvGrpSpPr>
        <p:grpSpPr>
          <a:xfrm>
            <a:off x="6324600" y="3611602"/>
            <a:ext cx="838200" cy="307777"/>
            <a:chOff x="6705600" y="1828800"/>
            <a:chExt cx="838200" cy="3077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C98C39A-2B60-474F-BCB6-7A0FED0C6CA7}"/>
                </a:ext>
              </a:extLst>
            </p:cNvPr>
            <p:cNvSpPr/>
            <p:nvPr/>
          </p:nvSpPr>
          <p:spPr bwMode="auto">
            <a:xfrm>
              <a:off x="6705600" y="18683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C9F79D4-53D4-4628-943D-6B5556F7FD2F}"/>
                </a:ext>
              </a:extLst>
            </p:cNvPr>
            <p:cNvSpPr txBox="1"/>
            <p:nvPr/>
          </p:nvSpPr>
          <p:spPr>
            <a:xfrm>
              <a:off x="6705600" y="18288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cxnSp>
        <p:nvCxnSpPr>
          <p:cNvPr id="35853" name="Straight Arrow Connector 69">
            <a:extLst>
              <a:ext uri="{FF2B5EF4-FFF2-40B4-BE49-F238E27FC236}">
                <a16:creationId xmlns:a16="http://schemas.microsoft.com/office/drawing/2014/main" id="{DF691F47-7A5E-4FA5-A1AC-0712C52AD0C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6400" y="5113338"/>
            <a:ext cx="20320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54" name="Straight Arrow Connector 70">
            <a:extLst>
              <a:ext uri="{FF2B5EF4-FFF2-40B4-BE49-F238E27FC236}">
                <a16:creationId xmlns:a16="http://schemas.microsoft.com/office/drawing/2014/main" id="{C48E9127-A748-4299-A6F2-A9095E57A9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4400" y="5113338"/>
            <a:ext cx="330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4" name="Group 82">
            <a:extLst>
              <a:ext uri="{FF2B5EF4-FFF2-40B4-BE49-F238E27FC236}">
                <a16:creationId xmlns:a16="http://schemas.microsoft.com/office/drawing/2014/main" id="{3B84AF6A-4A88-4A64-A32F-CDC6CE8FE7EC}"/>
              </a:ext>
            </a:extLst>
          </p:cNvPr>
          <p:cNvGrpSpPr/>
          <p:nvPr/>
        </p:nvGrpSpPr>
        <p:grpSpPr>
          <a:xfrm>
            <a:off x="6248400" y="4962723"/>
            <a:ext cx="990600" cy="740153"/>
            <a:chOff x="6553200" y="4962723"/>
            <a:chExt cx="990600" cy="740153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B5C822E-FBED-4D2C-8988-E6095EDC90FE}"/>
                </a:ext>
              </a:extLst>
            </p:cNvPr>
            <p:cNvSpPr/>
            <p:nvPr/>
          </p:nvSpPr>
          <p:spPr bwMode="auto">
            <a:xfrm>
              <a:off x="6629400" y="5002311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C76641C-995D-40FD-86C3-9D3730AC202A}"/>
                </a:ext>
              </a:extLst>
            </p:cNvPr>
            <p:cNvSpPr txBox="1"/>
            <p:nvPr/>
          </p:nvSpPr>
          <p:spPr>
            <a:xfrm>
              <a:off x="6629400" y="4962723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D1CBB68-2D19-4EA3-BFEB-55A27AC607DC}"/>
                </a:ext>
              </a:extLst>
            </p:cNvPr>
            <p:cNvSpPr/>
            <p:nvPr/>
          </p:nvSpPr>
          <p:spPr bwMode="auto">
            <a:xfrm>
              <a:off x="6629400" y="52211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0BEB87C-65BE-4708-A653-B0D41453A0D1}"/>
                </a:ext>
              </a:extLst>
            </p:cNvPr>
            <p:cNvSpPr txBox="1"/>
            <p:nvPr/>
          </p:nvSpPr>
          <p:spPr>
            <a:xfrm>
              <a:off x="6629400" y="51816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601B725-48CE-4DBD-B5BD-1659AD1C12C1}"/>
                </a:ext>
              </a:extLst>
            </p:cNvPr>
            <p:cNvSpPr/>
            <p:nvPr/>
          </p:nvSpPr>
          <p:spPr bwMode="auto">
            <a:xfrm>
              <a:off x="6629400" y="5440065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5AF5D26-05E2-415A-AC01-FCE407D62DA6}"/>
                </a:ext>
              </a:extLst>
            </p:cNvPr>
            <p:cNvSpPr txBox="1"/>
            <p:nvPr/>
          </p:nvSpPr>
          <p:spPr>
            <a:xfrm>
              <a:off x="6553200" y="5425877"/>
              <a:ext cx="990600" cy="27699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2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self += 32</a:t>
              </a:r>
            </a:p>
          </p:txBody>
        </p:sp>
      </p:grpSp>
      <p:grpSp>
        <p:nvGrpSpPr>
          <p:cNvPr id="15" name="Group 81">
            <a:extLst>
              <a:ext uri="{FF2B5EF4-FFF2-40B4-BE49-F238E27FC236}">
                <a16:creationId xmlns:a16="http://schemas.microsoft.com/office/drawing/2014/main" id="{5A4CB83D-7FAB-407A-B6C9-51DD26388AF6}"/>
              </a:ext>
            </a:extLst>
          </p:cNvPr>
          <p:cNvGrpSpPr/>
          <p:nvPr/>
        </p:nvGrpSpPr>
        <p:grpSpPr>
          <a:xfrm>
            <a:off x="5943600" y="1854200"/>
            <a:ext cx="1219200" cy="523677"/>
            <a:chOff x="6248400" y="1854200"/>
            <a:chExt cx="1219200" cy="5236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074DC28-D391-4C8C-ACD4-1DB16DEC34A3}"/>
                </a:ext>
              </a:extLst>
            </p:cNvPr>
            <p:cNvCxnSpPr>
              <a:stCxn id="39" idx="3"/>
              <a:endCxn id="58" idx="1"/>
            </p:cNvCxnSpPr>
            <p:nvPr/>
          </p:nvCxnSpPr>
          <p:spPr bwMode="auto">
            <a:xfrm>
              <a:off x="6248400" y="2004199"/>
              <a:ext cx="381000" cy="38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B9023FC-A6A8-4494-A36C-8D684C0F0367}"/>
                </a:ext>
              </a:extLst>
            </p:cNvPr>
            <p:cNvSpPr/>
            <p:nvPr/>
          </p:nvSpPr>
          <p:spPr bwMode="auto">
            <a:xfrm>
              <a:off x="6629400" y="18937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20FD6DE-6379-418C-ABE4-991975D26748}"/>
                </a:ext>
              </a:extLst>
            </p:cNvPr>
            <p:cNvSpPr txBox="1"/>
            <p:nvPr/>
          </p:nvSpPr>
          <p:spPr>
            <a:xfrm>
              <a:off x="6667500" y="1854200"/>
              <a:ext cx="7620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draw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F5D9E21-304F-471A-88F9-B0C779AB29B8}"/>
                </a:ext>
              </a:extLst>
            </p:cNvPr>
            <p:cNvSpPr/>
            <p:nvPr/>
          </p:nvSpPr>
          <p:spPr bwMode="auto">
            <a:xfrm>
              <a:off x="6629400" y="21096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2DE7237-E41F-4DF2-94C2-C55EA9EC6112}"/>
                </a:ext>
              </a:extLst>
            </p:cNvPr>
            <p:cNvSpPr txBox="1"/>
            <p:nvPr/>
          </p:nvSpPr>
          <p:spPr>
            <a:xfrm>
              <a:off x="6629400" y="20701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add</a:t>
              </a:r>
            </a:p>
          </p:txBody>
        </p:sp>
      </p:grpSp>
      <p:sp>
        <p:nvSpPr>
          <p:cNvPr id="35857" name="TextBox 83">
            <a:extLst>
              <a:ext uri="{FF2B5EF4-FFF2-40B4-BE49-F238E27FC236}">
                <a16:creationId xmlns:a16="http://schemas.microsoft.com/office/drawing/2014/main" id="{951B5F5F-6C2B-424B-BAB3-ADFB1792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4843463"/>
            <a:ext cx="304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…</a:t>
            </a:r>
            <a:r>
              <a:rPr lang="en-US" altLang="it-IT" sz="1100"/>
              <a:t> </a:t>
            </a:r>
            <a:endParaRPr lang="en-US" altLang="it-IT"/>
          </a:p>
        </p:txBody>
      </p:sp>
      <p:sp>
        <p:nvSpPr>
          <p:cNvPr id="35858" name="TextBox 86">
            <a:extLst>
              <a:ext uri="{FF2B5EF4-FFF2-40B4-BE49-F238E27FC236}">
                <a16:creationId xmlns:a16="http://schemas.microsoft.com/office/drawing/2014/main" id="{C309B59C-DC85-4A25-83E2-7F6DCA2B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8510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draw</a:t>
            </a:r>
          </a:p>
        </p:txBody>
      </p:sp>
      <p:sp>
        <p:nvSpPr>
          <p:cNvPr id="35859" name="TextBox 88">
            <a:extLst>
              <a:ext uri="{FF2B5EF4-FFF2-40B4-BE49-F238E27FC236}">
                <a16:creationId xmlns:a16="http://schemas.microsoft.com/office/drawing/2014/main" id="{B25AE882-8030-4BFB-84D7-9A3588004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0669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Point: add</a:t>
            </a:r>
          </a:p>
        </p:txBody>
      </p:sp>
      <p:sp>
        <p:nvSpPr>
          <p:cNvPr id="35860" name="TextBox 89">
            <a:extLst>
              <a:ext uri="{FF2B5EF4-FFF2-40B4-BE49-F238E27FC236}">
                <a16:creationId xmlns:a16="http://schemas.microsoft.com/office/drawing/2014/main" id="{1D679384-9751-47AF-AE57-B25DF87AC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616325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CThing: add</a:t>
            </a:r>
          </a:p>
        </p:txBody>
      </p:sp>
      <p:sp>
        <p:nvSpPr>
          <p:cNvPr id="35861" name="TextBox 90">
            <a:extLst>
              <a:ext uri="{FF2B5EF4-FFF2-40B4-BE49-F238E27FC236}">
                <a16:creationId xmlns:a16="http://schemas.microsoft.com/office/drawing/2014/main" id="{58AF701D-E00C-4CDD-8C01-0CDE0BAE8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953000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CPoint: draw</a:t>
            </a:r>
          </a:p>
        </p:txBody>
      </p:sp>
      <p:cxnSp>
        <p:nvCxnSpPr>
          <p:cNvPr id="35862" name="Straight Arrow Connector 92">
            <a:extLst>
              <a:ext uri="{FF2B5EF4-FFF2-40B4-BE49-F238E27FC236}">
                <a16:creationId xmlns:a16="http://schemas.microsoft.com/office/drawing/2014/main" id="{A80C537E-2CC6-4A43-A341-BE6CFD4FC9FC}"/>
              </a:ext>
            </a:extLst>
          </p:cNvPr>
          <p:cNvCxnSpPr>
            <a:cxnSpLocks noChangeShapeType="1"/>
            <a:endCxn id="35861" idx="1"/>
          </p:cNvCxnSpPr>
          <p:nvPr/>
        </p:nvCxnSpPr>
        <p:spPr bwMode="auto">
          <a:xfrm flipV="1">
            <a:off x="7162800" y="5106988"/>
            <a:ext cx="685800" cy="9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63" name="Straight Arrow Connector 96">
            <a:extLst>
              <a:ext uri="{FF2B5EF4-FFF2-40B4-BE49-F238E27FC236}">
                <a16:creationId xmlns:a16="http://schemas.microsoft.com/office/drawing/2014/main" id="{466F676C-CC56-47EE-A475-A35C41415756}"/>
              </a:ext>
            </a:extLst>
          </p:cNvPr>
          <p:cNvCxnSpPr>
            <a:cxnSpLocks noChangeShapeType="1"/>
            <a:endCxn id="35860" idx="1"/>
          </p:cNvCxnSpPr>
          <p:nvPr/>
        </p:nvCxnSpPr>
        <p:spPr bwMode="auto">
          <a:xfrm>
            <a:off x="7162800" y="3765550"/>
            <a:ext cx="685800" cy="47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64" name="Straight Arrow Connector 101">
            <a:extLst>
              <a:ext uri="{FF2B5EF4-FFF2-40B4-BE49-F238E27FC236}">
                <a16:creationId xmlns:a16="http://schemas.microsoft.com/office/drawing/2014/main" id="{101C43FB-7746-494E-91CF-ACDC9A0B3F85}"/>
              </a:ext>
            </a:extLst>
          </p:cNvPr>
          <p:cNvCxnSpPr>
            <a:cxnSpLocks noChangeShapeType="1"/>
            <a:endCxn id="35859" idx="1"/>
          </p:cNvCxnSpPr>
          <p:nvPr/>
        </p:nvCxnSpPr>
        <p:spPr bwMode="auto">
          <a:xfrm flipV="1">
            <a:off x="7162800" y="22209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65" name="Straight Arrow Connector 103">
            <a:extLst>
              <a:ext uri="{FF2B5EF4-FFF2-40B4-BE49-F238E27FC236}">
                <a16:creationId xmlns:a16="http://schemas.microsoft.com/office/drawing/2014/main" id="{21B9B41D-8D78-4244-B5CE-02D74A544136}"/>
              </a:ext>
            </a:extLst>
          </p:cNvPr>
          <p:cNvCxnSpPr>
            <a:cxnSpLocks noChangeShapeType="1"/>
            <a:endCxn id="35858" idx="1"/>
          </p:cNvCxnSpPr>
          <p:nvPr/>
        </p:nvCxnSpPr>
        <p:spPr bwMode="auto">
          <a:xfrm flipV="1">
            <a:off x="7162800" y="2005013"/>
            <a:ext cx="685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866" name="Elbow Connector 105">
            <a:extLst>
              <a:ext uri="{FF2B5EF4-FFF2-40B4-BE49-F238E27FC236}">
                <a16:creationId xmlns:a16="http://schemas.microsoft.com/office/drawing/2014/main" id="{88874E2B-AC29-4D06-B02C-1EF121A5C779}"/>
              </a:ext>
            </a:extLst>
          </p:cNvPr>
          <p:cNvCxnSpPr>
            <a:cxnSpLocks noChangeShapeType="1"/>
            <a:endCxn id="35859" idx="1"/>
          </p:cNvCxnSpPr>
          <p:nvPr/>
        </p:nvCxnSpPr>
        <p:spPr bwMode="auto">
          <a:xfrm flipV="1">
            <a:off x="7162800" y="2220913"/>
            <a:ext cx="685800" cy="311467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35867" name="Shape 107">
            <a:extLst>
              <a:ext uri="{FF2B5EF4-FFF2-40B4-BE49-F238E27FC236}">
                <a16:creationId xmlns:a16="http://schemas.microsoft.com/office/drawing/2014/main" id="{42F46573-D633-4B03-A70D-F5C7EEE3FB02}"/>
              </a:ext>
            </a:extLst>
          </p:cNvPr>
          <p:cNvCxnSpPr>
            <a:cxnSpLocks noChangeShapeType="1"/>
            <a:endCxn id="35860" idx="1"/>
          </p:cNvCxnSpPr>
          <p:nvPr/>
        </p:nvCxnSpPr>
        <p:spPr bwMode="auto">
          <a:xfrm flipV="1">
            <a:off x="7239000" y="3770313"/>
            <a:ext cx="609600" cy="1793875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grpSp>
        <p:nvGrpSpPr>
          <p:cNvPr id="85" name="Group 66">
            <a:extLst>
              <a:ext uri="{FF2B5EF4-FFF2-40B4-BE49-F238E27FC236}">
                <a16:creationId xmlns:a16="http://schemas.microsoft.com/office/drawing/2014/main" id="{57154388-6B51-4575-B915-640CE2760194}"/>
              </a:ext>
            </a:extLst>
          </p:cNvPr>
          <p:cNvGrpSpPr/>
          <p:nvPr/>
        </p:nvGrpSpPr>
        <p:grpSpPr>
          <a:xfrm>
            <a:off x="7454900" y="4267200"/>
            <a:ext cx="838200" cy="307777"/>
            <a:chOff x="6705600" y="1828800"/>
            <a:chExt cx="838200" cy="307777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A6B4C01-AA05-47CF-A39E-1A79BE8B1D54}"/>
                </a:ext>
              </a:extLst>
            </p:cNvPr>
            <p:cNvSpPr/>
            <p:nvPr/>
          </p:nvSpPr>
          <p:spPr bwMode="auto">
            <a:xfrm>
              <a:off x="6705600" y="1868388"/>
              <a:ext cx="8382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78861C5-EFB8-4A20-B488-47EA9170D745}"/>
                </a:ext>
              </a:extLst>
            </p:cNvPr>
            <p:cNvSpPr txBox="1"/>
            <p:nvPr/>
          </p:nvSpPr>
          <p:spPr>
            <a:xfrm>
              <a:off x="6705600" y="1828800"/>
              <a:ext cx="838200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colorize</a:t>
              </a:r>
            </a:p>
          </p:txBody>
        </p:sp>
      </p:grpSp>
      <p:grpSp>
        <p:nvGrpSpPr>
          <p:cNvPr id="35869" name="Group 66">
            <a:extLst>
              <a:ext uri="{FF2B5EF4-FFF2-40B4-BE49-F238E27FC236}">
                <a16:creationId xmlns:a16="http://schemas.microsoft.com/office/drawing/2014/main" id="{7B1C28A4-85D8-445A-858E-F3FE5BF8443D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876800"/>
            <a:ext cx="1828800" cy="1511300"/>
            <a:chOff x="3657600" y="4953000"/>
            <a:chExt cx="1828800" cy="1511300"/>
          </a:xfrm>
        </p:grpSpPr>
        <p:sp>
          <p:nvSpPr>
            <p:cNvPr id="35871" name="TextBox 71">
              <a:extLst>
                <a:ext uri="{FF2B5EF4-FFF2-40B4-BE49-F238E27FC236}">
                  <a16:creationId xmlns:a16="http://schemas.microsoft.com/office/drawing/2014/main" id="{08FBFAEA-CE09-4EFD-A52E-2A3B7B32E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953000"/>
              <a:ext cx="609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/>
                <a:t>self</a:t>
              </a:r>
            </a:p>
          </p:txBody>
        </p:sp>
        <p:cxnSp>
          <p:nvCxnSpPr>
            <p:cNvPr id="35872" name="Straight Arrow Connector 81">
              <a:extLst>
                <a:ext uri="{FF2B5EF4-FFF2-40B4-BE49-F238E27FC236}">
                  <a16:creationId xmlns:a16="http://schemas.microsoft.com/office/drawing/2014/main" id="{A9D879FC-1CEC-4B4D-80C6-5E9CF7C3F341}"/>
                </a:ext>
              </a:extLst>
            </p:cNvPr>
            <p:cNvCxnSpPr>
              <a:cxnSpLocks noChangeShapeType="1"/>
              <a:stCxn id="35871" idx="3"/>
            </p:cNvCxnSpPr>
            <p:nvPr/>
          </p:nvCxnSpPr>
          <p:spPr bwMode="auto">
            <a:xfrm>
              <a:off x="4267200" y="5122277"/>
              <a:ext cx="533400" cy="417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0D786209-E53F-4457-A27D-C20019AEC9FB}"/>
                </a:ext>
              </a:extLst>
            </p:cNvPr>
            <p:cNvGrpSpPr/>
            <p:nvPr/>
          </p:nvGrpSpPr>
          <p:grpSpPr>
            <a:xfrm>
              <a:off x="4800600" y="4965700"/>
              <a:ext cx="685800" cy="1498600"/>
              <a:chOff x="4800600" y="4965700"/>
              <a:chExt cx="685800" cy="1498600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E2179E7-9B32-48DC-97B3-CC100C69DCAE}"/>
                  </a:ext>
                </a:extLst>
              </p:cNvPr>
              <p:cNvSpPr/>
              <p:nvPr/>
            </p:nvSpPr>
            <p:spPr bwMode="auto">
              <a:xfrm>
                <a:off x="4800600" y="52534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x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92ECEEB-27F2-4318-B591-DA1398A812E8}"/>
                  </a:ext>
                </a:extLst>
              </p:cNvPr>
              <p:cNvSpPr/>
              <p:nvPr/>
            </p:nvSpPr>
            <p:spPr bwMode="auto">
              <a:xfrm>
                <a:off x="4800600" y="5558254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y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0717D44-B852-42E7-B7EF-EB8D11F54F75}"/>
                  </a:ext>
                </a:extLst>
              </p:cNvPr>
              <p:cNvSpPr/>
              <p:nvPr/>
            </p:nvSpPr>
            <p:spPr bwMode="auto">
              <a:xfrm>
                <a:off x="4800600" y="58674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7C6E484-FA29-4E09-A16C-80490E05D2E7}"/>
                  </a:ext>
                </a:extLst>
              </p:cNvPr>
              <p:cNvSpPr/>
              <p:nvPr/>
            </p:nvSpPr>
            <p:spPr bwMode="auto">
              <a:xfrm>
                <a:off x="4800600" y="49657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class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5D68A37A-60A3-469B-88EB-A5E6DF6FC16E}"/>
                  </a:ext>
                </a:extLst>
              </p:cNvPr>
              <p:cNvSpPr/>
              <p:nvPr/>
            </p:nvSpPr>
            <p:spPr bwMode="auto">
              <a:xfrm>
                <a:off x="4800600" y="6159500"/>
                <a:ext cx="685800" cy="304800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/>
              <a:p>
                <a:pPr algn="ctr" eaLnBrk="0" hangingPunct="0">
                  <a:defRPr/>
                </a:pPr>
                <a:r>
                  <a:rPr lang="en-US" sz="1600" dirty="0" err="1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rPr>
                  <a:t>c</a:t>
                </a:r>
                <a:endParaRPr lang="en-US" sz="1600" dirty="0">
                  <a:latin typeface="Comic Sans MS" pitchFamily="-108" charset="0"/>
                  <a:ea typeface="ヒラギノ角ゴ Pro W3" pitchFamily="-108" charset="-128"/>
                  <a:cs typeface="ヒラギノ角ゴ Pro W3" pitchFamily="-108" charset="-128"/>
                </a:endParaRPr>
              </a:p>
            </p:txBody>
          </p:sp>
        </p:grpSp>
      </p:grpSp>
      <p:cxnSp>
        <p:nvCxnSpPr>
          <p:cNvPr id="35870" name="Elbow Connector 99">
            <a:extLst>
              <a:ext uri="{FF2B5EF4-FFF2-40B4-BE49-F238E27FC236}">
                <a16:creationId xmlns:a16="http://schemas.microsoft.com/office/drawing/2014/main" id="{3C04CCBD-876E-415B-B600-BA1C4BDE20B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6400" y="3762375"/>
            <a:ext cx="228600" cy="2181225"/>
          </a:xfrm>
          <a:prstGeom prst="bentConnector3">
            <a:avLst>
              <a:gd name="adj1" fmla="val 33333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07BC74CC-40B2-481C-A091-C7759ABB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Open World versus Closed World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8B614439-B9A3-47EB-A769-F1CB30F95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Closed Class Structure</a:t>
            </a:r>
          </a:p>
          <a:p>
            <a:r>
              <a:rPr lang="en-US" altLang="it-IT"/>
              <a:t>Compile time or link time layout (</a:t>
            </a:r>
            <a:r>
              <a:rPr lang="en-US" altLang="it-IT" sz="1800"/>
              <a:t>ORs, classes, code vectors</a:t>
            </a:r>
            <a:r>
              <a:rPr lang="en-US" altLang="it-IT"/>
              <a:t>)</a:t>
            </a:r>
          </a:p>
          <a:p>
            <a:r>
              <a:rPr lang="en-US" altLang="it-IT"/>
              <a:t>If known at compile time, can generate static code</a:t>
            </a:r>
          </a:p>
          <a:p>
            <a:pPr lvl="1"/>
            <a:r>
              <a:rPr lang="en-US" altLang="it-IT"/>
              <a:t>No code vector, no indirection, efficient implementation</a:t>
            </a:r>
          </a:p>
          <a:p>
            <a:r>
              <a:rPr lang="en-US" altLang="it-IT"/>
              <a:t>C++ virtual functions use runtime resolution, as if open world</a:t>
            </a:r>
          </a:p>
          <a:p>
            <a:pPr>
              <a:spcBef>
                <a:spcPts val="4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Open Class Structure</a:t>
            </a:r>
          </a:p>
          <a:p>
            <a:r>
              <a:rPr lang="en-US" altLang="it-IT"/>
              <a:t>Cannot lay out ORs until hierarchy is known</a:t>
            </a:r>
          </a:p>
          <a:p>
            <a:r>
              <a:rPr lang="en-US" altLang="it-IT"/>
              <a:t>With infrequent change, can perform layout at each change</a:t>
            </a:r>
          </a:p>
          <a:p>
            <a:pPr lvl="1"/>
            <a:r>
              <a:rPr lang="en-US" altLang="it-IT"/>
              <a:t>Single-level code vectors, fixed offsets, indirect calls </a:t>
            </a:r>
          </a:p>
          <a:p>
            <a:r>
              <a:rPr lang="en-US" altLang="it-IT"/>
              <a:t>With frequent change, may need runtime method resolution</a:t>
            </a:r>
          </a:p>
          <a:p>
            <a:pPr lvl="1"/>
            <a:r>
              <a:rPr lang="en-US" altLang="it-IT"/>
              <a:t>Search for method in class hierarchy (w/tag) &amp; cache result</a:t>
            </a:r>
          </a:p>
          <a:p>
            <a:pPr lvl="1"/>
            <a:r>
              <a:rPr lang="en-US" altLang="it-IT"/>
              <a:t>Much more expensive</a:t>
            </a:r>
          </a:p>
        </p:txBody>
      </p:sp>
      <p:sp>
        <p:nvSpPr>
          <p:cNvPr id="36867" name="Footer Placeholder 3">
            <a:extLst>
              <a:ext uri="{FF2B5EF4-FFF2-40B4-BE49-F238E27FC236}">
                <a16:creationId xmlns:a16="http://schemas.microsoft.com/office/drawing/2014/main" id="{51B968CD-1687-4212-A1BB-9B2E06F03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A0015AF5-69B2-46E5-BF22-47255A9898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CC61CDC-62D7-4F80-85A7-6493FEDDB3F4}" type="slidenum">
              <a:rPr lang="en-US" altLang="it-IT"/>
              <a:pPr/>
              <a:t>15</a:t>
            </a:fld>
            <a:endParaRPr lang="en-US" alt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D0FB5830-3E85-4411-A736-200B10C6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Method Calls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C6CD94BC-8816-4371-B466-28FBEE5F6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Given the runtime structure, how does a call work?</a:t>
            </a:r>
          </a:p>
          <a:p>
            <a:r>
              <a:rPr lang="en-US" altLang="it-IT"/>
              <a:t>Compiled code does not contain the callee’s address</a:t>
            </a:r>
          </a:p>
          <a:p>
            <a:r>
              <a:rPr lang="en-US" altLang="it-IT"/>
              <a:t>Reference is relative to receiver</a:t>
            </a:r>
          </a:p>
          <a:p>
            <a:pPr lvl="1"/>
            <a:r>
              <a:rPr lang="en-US" altLang="it-IT"/>
              <a:t>Through class to code vector</a:t>
            </a:r>
          </a:p>
          <a:p>
            <a:pPr>
              <a:spcBef>
                <a:spcPts val="5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 the general case, may need dynamic dispatch</a:t>
            </a:r>
          </a:p>
          <a:p>
            <a:r>
              <a:rPr lang="en-US" altLang="it-IT"/>
              <a:t>Map code member to a search key</a:t>
            </a:r>
          </a:p>
          <a:p>
            <a:r>
              <a:rPr lang="en-US" altLang="it-IT"/>
              <a:t>Perform runtime search through hieraarchy</a:t>
            </a:r>
          </a:p>
          <a:p>
            <a:pPr lvl="1"/>
            <a:r>
              <a:rPr lang="en-US" altLang="it-IT"/>
              <a:t>This process is expensive</a:t>
            </a:r>
          </a:p>
          <a:p>
            <a:r>
              <a:rPr lang="en-US" altLang="it-IT"/>
              <a:t>Use a “method cache” to speed the search</a:t>
            </a:r>
          </a:p>
          <a:p>
            <a:pPr lvl="1"/>
            <a:r>
              <a:rPr lang="en-US" altLang="it-IT"/>
              <a:t>Cache holds </a:t>
            </a:r>
            <a:r>
              <a:rPr lang="en-US" altLang="it-IT" sz="2800" baseline="-6000"/>
              <a:t>&lt;</a:t>
            </a:r>
            <a:r>
              <a:rPr lang="en-US" altLang="it-IT" sz="1600" i="1"/>
              <a:t>search key, class, method pointer</a:t>
            </a:r>
            <a:r>
              <a:rPr lang="en-US" altLang="it-IT" sz="1200" i="1"/>
              <a:t> </a:t>
            </a:r>
            <a:r>
              <a:rPr lang="en-US" altLang="it-IT" sz="2800" baseline="-6000"/>
              <a:t>&gt;</a:t>
            </a:r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E2DFDE75-A210-4680-ACA7-400F28E73E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48F558FF-A9D3-49A3-B2F2-C38D629F1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E25D32E-8CDB-478C-BF2B-ECBDE1D18DB3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E26A8-9844-4A6F-8D12-D6CA459C09E8}"/>
              </a:ext>
            </a:extLst>
          </p:cNvPr>
          <p:cNvSpPr txBox="1"/>
          <p:nvPr/>
        </p:nvSpPr>
        <p:spPr>
          <a:xfrm>
            <a:off x="7467600" y="3733800"/>
            <a:ext cx="1295400" cy="3048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Smalltalk-80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AD6DA5E3-B51C-4BE2-BE30-0B251837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Method Calls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3CCAD71B-9ADC-4FBE-ACA1-FA428CC8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Improvements are possible in special cases</a:t>
            </a:r>
          </a:p>
          <a:p>
            <a:r>
              <a:rPr lang="en-US" altLang="it-IT"/>
              <a:t>If class has no subclasses, can generate direct calls</a:t>
            </a:r>
          </a:p>
          <a:p>
            <a:pPr lvl="1"/>
            <a:r>
              <a:rPr lang="en-US" altLang="it-IT"/>
              <a:t>Class structure must be static or class must be FINAL</a:t>
            </a:r>
          </a:p>
          <a:p>
            <a:r>
              <a:rPr lang="en-US" altLang="it-IT"/>
              <a:t>If class structure is static</a:t>
            </a:r>
          </a:p>
          <a:p>
            <a:pPr lvl="1"/>
            <a:r>
              <a:rPr lang="en-US" altLang="it-IT"/>
              <a:t>Can generate complete method table for each class</a:t>
            </a:r>
          </a:p>
          <a:p>
            <a:pPr lvl="2">
              <a:spcBef>
                <a:spcPts val="300"/>
              </a:spcBef>
            </a:pPr>
            <a:r>
              <a:rPr lang="en-US" altLang="it-IT"/>
              <a:t>Use prefixed object records and complete code vectors</a:t>
            </a:r>
          </a:p>
          <a:p>
            <a:pPr lvl="1"/>
            <a:r>
              <a:rPr lang="en-US" altLang="it-IT"/>
              <a:t>Indirection through the class point</a:t>
            </a:r>
          </a:p>
          <a:p>
            <a:pPr lvl="1"/>
            <a:r>
              <a:rPr lang="en-US" altLang="it-IT"/>
              <a:t>Keeps overhead low</a:t>
            </a:r>
          </a:p>
          <a:p>
            <a:r>
              <a:rPr lang="en-US" altLang="it-IT"/>
              <a:t>If class structure changes infrequently</a:t>
            </a:r>
          </a:p>
          <a:p>
            <a:pPr lvl="1"/>
            <a:r>
              <a:rPr lang="en-US" altLang="it-IT"/>
              <a:t>Build complete method tables at initialization &amp; when class structure changes</a:t>
            </a:r>
          </a:p>
          <a:p>
            <a:r>
              <a:rPr lang="en-US" altLang="it-IT"/>
              <a:t>If running program can create new classes</a:t>
            </a:r>
          </a:p>
          <a:p>
            <a:pPr lvl="1"/>
            <a:r>
              <a:rPr lang="en-US" altLang="it-IT"/>
              <a:t>Well, not all things can be efficient</a:t>
            </a:r>
          </a:p>
          <a:p>
            <a:pPr lvl="1"/>
            <a:r>
              <a:rPr lang="en-US" altLang="it-IT"/>
              <a:t>See Deutsch &amp; Schiffman, POPL 1984</a:t>
            </a:r>
          </a:p>
        </p:txBody>
      </p:sp>
      <p:sp>
        <p:nvSpPr>
          <p:cNvPr id="38915" name="Footer Placeholder 3">
            <a:extLst>
              <a:ext uri="{FF2B5EF4-FFF2-40B4-BE49-F238E27FC236}">
                <a16:creationId xmlns:a16="http://schemas.microsoft.com/office/drawing/2014/main" id="{8152BE0C-76B5-494D-A6D7-1E66E7D124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8D25E5E9-71E5-402D-8068-6139072B41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6AE9A45-2D1E-4B55-B75B-1FB740ACD39F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617F0-80BF-41F6-AF5D-8DF6A8EA52DE}"/>
              </a:ext>
            </a:extLst>
          </p:cNvPr>
          <p:cNvSpPr txBox="1"/>
          <p:nvPr/>
        </p:nvSpPr>
        <p:spPr>
          <a:xfrm>
            <a:off x="6934200" y="2362200"/>
            <a:ext cx="1828800" cy="3381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Language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14857-2F46-434F-A6B4-4DCDF36C1C70}"/>
              </a:ext>
            </a:extLst>
          </p:cNvPr>
          <p:cNvSpPr txBox="1"/>
          <p:nvPr/>
        </p:nvSpPr>
        <p:spPr>
          <a:xfrm>
            <a:off x="7696200" y="4038600"/>
            <a:ext cx="1066800" cy="3381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Behavior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54AC9-645E-4AA5-9502-5C2C104F86C6}"/>
              </a:ext>
            </a:extLst>
          </p:cNvPr>
          <p:cNvSpPr txBox="1"/>
          <p:nvPr/>
        </p:nvSpPr>
        <p:spPr>
          <a:xfrm>
            <a:off x="6934200" y="4953000"/>
            <a:ext cx="1828800" cy="3381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Language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5920A6AF-116C-49B6-B310-38B3F4263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F29DF452-172F-4523-A145-984AB32C7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D1513AE-2662-40D4-AF3E-45CBD26966BE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CB3CCC5-B7C3-48AE-B861-BB120FED7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70000"/>
              </a:spcBef>
              <a:buFont typeface="Times" panose="02020603050405020304" pitchFamily="18" charset="0"/>
              <a:buNone/>
            </a:pPr>
            <a:r>
              <a:rPr lang="en-US" altLang="it-IT"/>
              <a:t>We looked at the three abstractions for ALLs and OOLs</a:t>
            </a:r>
          </a:p>
          <a:p>
            <a:pPr eaLnBrk="1" hangingPunct="1"/>
            <a:r>
              <a:rPr lang="en-US" altLang="it-IT"/>
              <a:t>OOLs have more complex naming environments than ALLs</a:t>
            </a:r>
          </a:p>
          <a:p>
            <a:pPr eaLnBrk="1" hangingPunct="1"/>
            <a:r>
              <a:rPr lang="en-US" altLang="it-IT"/>
              <a:t>Need both compile time and run time support for naming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0501490-9E5A-4CE7-BFBE-9F236A18B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D9A7B9A8-B01F-48D1-80C0-5E28A7858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23963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Naming Environment</a:t>
            </a:r>
          </a:p>
        </p:txBody>
      </p:sp>
      <p:sp>
        <p:nvSpPr>
          <p:cNvPr id="39942" name="AutoShape 5">
            <a:extLst>
              <a:ext uri="{FF2B5EF4-FFF2-40B4-BE49-F238E27FC236}">
                <a16:creationId xmlns:a16="http://schemas.microsoft.com/office/drawing/2014/main" id="{3D99A1C3-6874-4766-A259-2923CA50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63700"/>
            <a:ext cx="304800" cy="444500"/>
          </a:xfrm>
          <a:prstGeom prst="downArrow">
            <a:avLst>
              <a:gd name="adj1" fmla="val 50000"/>
              <a:gd name="adj2" fmla="val 3645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943" name="Text Box 6">
            <a:extLst>
              <a:ext uri="{FF2B5EF4-FFF2-40B4-BE49-F238E27FC236}">
                <a16:creationId xmlns:a16="http://schemas.microsoft.com/office/drawing/2014/main" id="{0FD748F4-C9AD-4B09-86BB-58C4E87DF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541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Control History</a:t>
            </a:r>
          </a:p>
        </p:txBody>
      </p:sp>
      <p:sp>
        <p:nvSpPr>
          <p:cNvPr id="39944" name="AutoShape 7">
            <a:extLst>
              <a:ext uri="{FF2B5EF4-FFF2-40B4-BE49-F238E27FC236}">
                <a16:creationId xmlns:a16="http://schemas.microsoft.com/office/drawing/2014/main" id="{8E099704-1C59-4542-99B5-3CDA35D5D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463675"/>
            <a:ext cx="304800" cy="520700"/>
          </a:xfrm>
          <a:prstGeom prst="downArrow">
            <a:avLst>
              <a:gd name="adj1" fmla="val 50000"/>
              <a:gd name="adj2" fmla="val 4270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945" name="Text Box 8">
            <a:extLst>
              <a:ext uri="{FF2B5EF4-FFF2-40B4-BE49-F238E27FC236}">
                <a16:creationId xmlns:a16="http://schemas.microsoft.com/office/drawing/2014/main" id="{17F09224-54F2-4710-9B72-A485ED855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78100"/>
            <a:ext cx="2590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System Services</a:t>
            </a:r>
          </a:p>
          <a:p>
            <a:pPr algn="ctr"/>
            <a:r>
              <a:rPr lang="en-US" altLang="it-IT" sz="1400">
                <a:solidFill>
                  <a:srgbClr val="FF0065"/>
                </a:solidFill>
              </a:rPr>
              <a:t>(allocation, communication, I/O, control, naming, …)</a:t>
            </a:r>
          </a:p>
        </p:txBody>
      </p:sp>
      <p:sp>
        <p:nvSpPr>
          <p:cNvPr id="39946" name="AutoShape 9">
            <a:extLst>
              <a:ext uri="{FF2B5EF4-FFF2-40B4-BE49-F238E27FC236}">
                <a16:creationId xmlns:a16="http://schemas.microsoft.com/office/drawing/2014/main" id="{CBFDD098-FB19-4123-8E96-B7E079F2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21000"/>
            <a:ext cx="1143000" cy="304800"/>
          </a:xfrm>
          <a:prstGeom prst="leftRightArrow">
            <a:avLst>
              <a:gd name="adj1" fmla="val 50000"/>
              <a:gd name="adj2" fmla="val 75000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947" name="Text Box 10">
            <a:extLst>
              <a:ext uri="{FF2B5EF4-FFF2-40B4-BE49-F238E27FC236}">
                <a16:creationId xmlns:a16="http://schemas.microsoft.com/office/drawing/2014/main" id="{C77EC509-F237-4795-AC1E-55FDABCDC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09086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APIs</a:t>
            </a:r>
            <a:endParaRPr lang="en-US" altLang="it-IT" sz="2000"/>
          </a:p>
        </p:txBody>
      </p:sp>
      <p:grpSp>
        <p:nvGrpSpPr>
          <p:cNvPr id="39948" name="Group 11">
            <a:extLst>
              <a:ext uri="{FF2B5EF4-FFF2-40B4-BE49-F238E27FC236}">
                <a16:creationId xmlns:a16="http://schemas.microsoft.com/office/drawing/2014/main" id="{AE12649B-E33A-4FD1-BE66-BD95A5EA32D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92300"/>
            <a:ext cx="4432300" cy="2984500"/>
            <a:chOff x="480" y="1152"/>
            <a:chExt cx="2792" cy="1880"/>
          </a:xfrm>
        </p:grpSpPr>
        <p:sp>
          <p:nvSpPr>
            <p:cNvPr id="39949" name="Freeform 12">
              <a:extLst>
                <a:ext uri="{FF2B5EF4-FFF2-40B4-BE49-F238E27FC236}">
                  <a16:creationId xmlns:a16="http://schemas.microsoft.com/office/drawing/2014/main" id="{AE4FED7D-3B3F-4DEF-B1F0-4367A48D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9950" name="Text Box 13">
              <a:extLst>
                <a:ext uri="{FF2B5EF4-FFF2-40B4-BE49-F238E27FC236}">
                  <a16:creationId xmlns:a16="http://schemas.microsoft.com/office/drawing/2014/main" id="{49DDCD93-2CFF-4055-8A27-D3B5683A9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39951" name="Text Box 14">
              <a:extLst>
                <a:ext uri="{FF2B5EF4-FFF2-40B4-BE49-F238E27FC236}">
                  <a16:creationId xmlns:a16="http://schemas.microsoft.com/office/drawing/2014/main" id="{DFD56E68-0A4F-4404-8A60-8C074A4E3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3">
            <a:extLst>
              <a:ext uri="{FF2B5EF4-FFF2-40B4-BE49-F238E27FC236}">
                <a16:creationId xmlns:a16="http://schemas.microsoft.com/office/drawing/2014/main" id="{C4077DEA-24BD-4CB4-8A7E-C57153B4DE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1986" name="Slide Number Placeholder 4">
            <a:extLst>
              <a:ext uri="{FF2B5EF4-FFF2-40B4-BE49-F238E27FC236}">
                <a16:creationId xmlns:a16="http://schemas.microsoft.com/office/drawing/2014/main" id="{F9A907E5-1E50-4A5E-A356-DDDB9AFB61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F4D7484-80EC-471F-B641-745B655C243D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97BB6B1-7533-44A9-A531-2C658F69E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/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70000"/>
              </a:spcBef>
              <a:buFont typeface="Times" panose="02020603050405020304" pitchFamily="18" charset="0"/>
              <a:buNone/>
            </a:pPr>
            <a:r>
              <a:rPr lang="en-US" altLang="it-IT"/>
              <a:t>Procedure invocation reflects these differences</a:t>
            </a:r>
          </a:p>
          <a:p>
            <a:pPr eaLnBrk="1" hangingPunct="1"/>
            <a:r>
              <a:rPr lang="en-US" altLang="it-IT"/>
              <a:t>OOLs use indirect calls through a code vector or jump table</a:t>
            </a:r>
          </a:p>
          <a:p>
            <a:pPr eaLnBrk="1" hangingPunct="1"/>
            <a:r>
              <a:rPr lang="en-US" altLang="it-IT"/>
              <a:t>Extra loads at each call to engineer name resolution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3C0FFE4-6CB1-4C34-959A-555C9E2F5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Procedure &amp; Its Three Abstractions</a:t>
            </a: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C4F8318B-E8AE-455F-9E4D-FED790AAB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23963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Naming Environment</a:t>
            </a:r>
          </a:p>
        </p:txBody>
      </p:sp>
      <p:sp>
        <p:nvSpPr>
          <p:cNvPr id="41990" name="AutoShape 5">
            <a:extLst>
              <a:ext uri="{FF2B5EF4-FFF2-40B4-BE49-F238E27FC236}">
                <a16:creationId xmlns:a16="http://schemas.microsoft.com/office/drawing/2014/main" id="{8131EA70-C30B-42E3-8699-6303CBC4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663700"/>
            <a:ext cx="304800" cy="444500"/>
          </a:xfrm>
          <a:prstGeom prst="downArrow">
            <a:avLst>
              <a:gd name="adj1" fmla="val 50000"/>
              <a:gd name="adj2" fmla="val 3645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1991" name="Text Box 6">
            <a:extLst>
              <a:ext uri="{FF2B5EF4-FFF2-40B4-BE49-F238E27FC236}">
                <a16:creationId xmlns:a16="http://schemas.microsoft.com/office/drawing/2014/main" id="{60F7D29B-872C-4963-9F04-CAC589CBC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0541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Control History</a:t>
            </a:r>
          </a:p>
        </p:txBody>
      </p:sp>
      <p:sp>
        <p:nvSpPr>
          <p:cNvPr id="41992" name="AutoShape 7">
            <a:extLst>
              <a:ext uri="{FF2B5EF4-FFF2-40B4-BE49-F238E27FC236}">
                <a16:creationId xmlns:a16="http://schemas.microsoft.com/office/drawing/2014/main" id="{DD8B77FA-492B-4A08-9B79-890CD6CB5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463675"/>
            <a:ext cx="304800" cy="520700"/>
          </a:xfrm>
          <a:prstGeom prst="downArrow">
            <a:avLst>
              <a:gd name="adj1" fmla="val 50000"/>
              <a:gd name="adj2" fmla="val 42708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1993" name="Text Box 8">
            <a:extLst>
              <a:ext uri="{FF2B5EF4-FFF2-40B4-BE49-F238E27FC236}">
                <a16:creationId xmlns:a16="http://schemas.microsoft.com/office/drawing/2014/main" id="{3F69B751-CB2C-4F5A-96AF-B0B8FEE4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78100"/>
            <a:ext cx="2590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2000">
                <a:solidFill>
                  <a:srgbClr val="FF0065"/>
                </a:solidFill>
              </a:rPr>
              <a:t>System Services</a:t>
            </a:r>
          </a:p>
          <a:p>
            <a:pPr algn="ctr"/>
            <a:r>
              <a:rPr lang="en-US" altLang="it-IT" sz="1400">
                <a:solidFill>
                  <a:srgbClr val="FF0065"/>
                </a:solidFill>
              </a:rPr>
              <a:t>(allocation, communication, I/O, control, naming, …)</a:t>
            </a:r>
          </a:p>
        </p:txBody>
      </p:sp>
      <p:sp>
        <p:nvSpPr>
          <p:cNvPr id="41994" name="AutoShape 9">
            <a:extLst>
              <a:ext uri="{FF2B5EF4-FFF2-40B4-BE49-F238E27FC236}">
                <a16:creationId xmlns:a16="http://schemas.microsoft.com/office/drawing/2014/main" id="{E034A27B-4135-4361-A554-720582CA1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921000"/>
            <a:ext cx="1143000" cy="304800"/>
          </a:xfrm>
          <a:prstGeom prst="leftRightArrow">
            <a:avLst>
              <a:gd name="adj1" fmla="val 50000"/>
              <a:gd name="adj2" fmla="val 75000"/>
            </a:avLst>
          </a:prstGeom>
          <a:solidFill>
            <a:srgbClr val="FF0065"/>
          </a:solidFill>
          <a:ln w="9525">
            <a:solidFill>
              <a:srgbClr val="FF0065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1995" name="Text Box 10">
            <a:extLst>
              <a:ext uri="{FF2B5EF4-FFF2-40B4-BE49-F238E27FC236}">
                <a16:creationId xmlns:a16="http://schemas.microsoft.com/office/drawing/2014/main" id="{45762675-F912-47FC-A064-A6B3F2E37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090863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APIs</a:t>
            </a:r>
            <a:endParaRPr lang="en-US" altLang="it-IT" sz="2000"/>
          </a:p>
        </p:txBody>
      </p:sp>
      <p:grpSp>
        <p:nvGrpSpPr>
          <p:cNvPr id="41996" name="Group 11">
            <a:extLst>
              <a:ext uri="{FF2B5EF4-FFF2-40B4-BE49-F238E27FC236}">
                <a16:creationId xmlns:a16="http://schemas.microsoft.com/office/drawing/2014/main" id="{169FCE06-339B-408C-84B2-AF6644751CC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92300"/>
            <a:ext cx="4432300" cy="2984500"/>
            <a:chOff x="480" y="1152"/>
            <a:chExt cx="2792" cy="1880"/>
          </a:xfrm>
        </p:grpSpPr>
        <p:sp>
          <p:nvSpPr>
            <p:cNvPr id="41997" name="Freeform 12">
              <a:extLst>
                <a:ext uri="{FF2B5EF4-FFF2-40B4-BE49-F238E27FC236}">
                  <a16:creationId xmlns:a16="http://schemas.microsoft.com/office/drawing/2014/main" id="{B6A47A2E-B2C5-4740-969B-840752F1C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152"/>
              <a:ext cx="2792" cy="1880"/>
            </a:xfrm>
            <a:custGeom>
              <a:avLst/>
              <a:gdLst>
                <a:gd name="T0" fmla="*/ 144 w 2792"/>
                <a:gd name="T1" fmla="*/ 784 h 1880"/>
                <a:gd name="T2" fmla="*/ 48 w 2792"/>
                <a:gd name="T3" fmla="*/ 496 h 1880"/>
                <a:gd name="T4" fmla="*/ 432 w 2792"/>
                <a:gd name="T5" fmla="*/ 448 h 1880"/>
                <a:gd name="T6" fmla="*/ 384 w 2792"/>
                <a:gd name="T7" fmla="*/ 64 h 1880"/>
                <a:gd name="T8" fmla="*/ 816 w 2792"/>
                <a:gd name="T9" fmla="*/ 64 h 1880"/>
                <a:gd name="T10" fmla="*/ 912 w 2792"/>
                <a:gd name="T11" fmla="*/ 256 h 1880"/>
                <a:gd name="T12" fmla="*/ 1296 w 2792"/>
                <a:gd name="T13" fmla="*/ 64 h 1880"/>
                <a:gd name="T14" fmla="*/ 1440 w 2792"/>
                <a:gd name="T15" fmla="*/ 64 h 1880"/>
                <a:gd name="T16" fmla="*/ 1536 w 2792"/>
                <a:gd name="T17" fmla="*/ 160 h 1880"/>
                <a:gd name="T18" fmla="*/ 1680 w 2792"/>
                <a:gd name="T19" fmla="*/ 352 h 1880"/>
                <a:gd name="T20" fmla="*/ 1920 w 2792"/>
                <a:gd name="T21" fmla="*/ 304 h 1880"/>
                <a:gd name="T22" fmla="*/ 2160 w 2792"/>
                <a:gd name="T23" fmla="*/ 160 h 1880"/>
                <a:gd name="T24" fmla="*/ 2496 w 2792"/>
                <a:gd name="T25" fmla="*/ 112 h 1880"/>
                <a:gd name="T26" fmla="*/ 2688 w 2792"/>
                <a:gd name="T27" fmla="*/ 304 h 1880"/>
                <a:gd name="T28" fmla="*/ 2640 w 2792"/>
                <a:gd name="T29" fmla="*/ 544 h 1880"/>
                <a:gd name="T30" fmla="*/ 2544 w 2792"/>
                <a:gd name="T31" fmla="*/ 736 h 1880"/>
                <a:gd name="T32" fmla="*/ 2640 w 2792"/>
                <a:gd name="T33" fmla="*/ 880 h 1880"/>
                <a:gd name="T34" fmla="*/ 2736 w 2792"/>
                <a:gd name="T35" fmla="*/ 1072 h 1880"/>
                <a:gd name="T36" fmla="*/ 2736 w 2792"/>
                <a:gd name="T37" fmla="*/ 1264 h 1880"/>
                <a:gd name="T38" fmla="*/ 2400 w 2792"/>
                <a:gd name="T39" fmla="*/ 1504 h 1880"/>
                <a:gd name="T40" fmla="*/ 1776 w 2792"/>
                <a:gd name="T41" fmla="*/ 1456 h 1880"/>
                <a:gd name="T42" fmla="*/ 1296 w 2792"/>
                <a:gd name="T43" fmla="*/ 1600 h 1880"/>
                <a:gd name="T44" fmla="*/ 672 w 2792"/>
                <a:gd name="T45" fmla="*/ 1840 h 1880"/>
                <a:gd name="T46" fmla="*/ 96 w 2792"/>
                <a:gd name="T47" fmla="*/ 1360 h 1880"/>
                <a:gd name="T48" fmla="*/ 336 w 2792"/>
                <a:gd name="T49" fmla="*/ 976 h 1880"/>
                <a:gd name="T50" fmla="*/ 144 w 2792"/>
                <a:gd name="T51" fmla="*/ 784 h 18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92"/>
                <a:gd name="T79" fmla="*/ 0 h 1880"/>
                <a:gd name="T80" fmla="*/ 2792 w 2792"/>
                <a:gd name="T81" fmla="*/ 1880 h 18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92" h="1880">
                  <a:moveTo>
                    <a:pt x="144" y="784"/>
                  </a:moveTo>
                  <a:cubicBezTo>
                    <a:pt x="96" y="704"/>
                    <a:pt x="0" y="552"/>
                    <a:pt x="48" y="496"/>
                  </a:cubicBezTo>
                  <a:cubicBezTo>
                    <a:pt x="96" y="440"/>
                    <a:pt x="376" y="520"/>
                    <a:pt x="432" y="448"/>
                  </a:cubicBezTo>
                  <a:cubicBezTo>
                    <a:pt x="488" y="376"/>
                    <a:pt x="320" y="128"/>
                    <a:pt x="384" y="64"/>
                  </a:cubicBezTo>
                  <a:cubicBezTo>
                    <a:pt x="448" y="0"/>
                    <a:pt x="728" y="32"/>
                    <a:pt x="816" y="64"/>
                  </a:cubicBezTo>
                  <a:cubicBezTo>
                    <a:pt x="904" y="96"/>
                    <a:pt x="832" y="256"/>
                    <a:pt x="912" y="256"/>
                  </a:cubicBezTo>
                  <a:cubicBezTo>
                    <a:pt x="992" y="256"/>
                    <a:pt x="1208" y="96"/>
                    <a:pt x="1296" y="64"/>
                  </a:cubicBezTo>
                  <a:cubicBezTo>
                    <a:pt x="1384" y="32"/>
                    <a:pt x="1400" y="48"/>
                    <a:pt x="1440" y="64"/>
                  </a:cubicBezTo>
                  <a:cubicBezTo>
                    <a:pt x="1480" y="80"/>
                    <a:pt x="1496" y="112"/>
                    <a:pt x="1536" y="160"/>
                  </a:cubicBezTo>
                  <a:cubicBezTo>
                    <a:pt x="1576" y="208"/>
                    <a:pt x="1616" y="328"/>
                    <a:pt x="1680" y="352"/>
                  </a:cubicBezTo>
                  <a:cubicBezTo>
                    <a:pt x="1744" y="376"/>
                    <a:pt x="1840" y="336"/>
                    <a:pt x="1920" y="304"/>
                  </a:cubicBezTo>
                  <a:cubicBezTo>
                    <a:pt x="2000" y="272"/>
                    <a:pt x="2064" y="192"/>
                    <a:pt x="2160" y="160"/>
                  </a:cubicBezTo>
                  <a:cubicBezTo>
                    <a:pt x="2256" y="128"/>
                    <a:pt x="2408" y="88"/>
                    <a:pt x="2496" y="112"/>
                  </a:cubicBezTo>
                  <a:cubicBezTo>
                    <a:pt x="2584" y="136"/>
                    <a:pt x="2664" y="232"/>
                    <a:pt x="2688" y="304"/>
                  </a:cubicBezTo>
                  <a:cubicBezTo>
                    <a:pt x="2712" y="376"/>
                    <a:pt x="2664" y="472"/>
                    <a:pt x="2640" y="544"/>
                  </a:cubicBezTo>
                  <a:cubicBezTo>
                    <a:pt x="2616" y="616"/>
                    <a:pt x="2544" y="680"/>
                    <a:pt x="2544" y="736"/>
                  </a:cubicBezTo>
                  <a:cubicBezTo>
                    <a:pt x="2544" y="792"/>
                    <a:pt x="2608" y="824"/>
                    <a:pt x="2640" y="880"/>
                  </a:cubicBezTo>
                  <a:cubicBezTo>
                    <a:pt x="2672" y="936"/>
                    <a:pt x="2720" y="1008"/>
                    <a:pt x="2736" y="1072"/>
                  </a:cubicBezTo>
                  <a:cubicBezTo>
                    <a:pt x="2752" y="1136"/>
                    <a:pt x="2792" y="1192"/>
                    <a:pt x="2736" y="1264"/>
                  </a:cubicBezTo>
                  <a:cubicBezTo>
                    <a:pt x="2680" y="1336"/>
                    <a:pt x="2560" y="1472"/>
                    <a:pt x="2400" y="1504"/>
                  </a:cubicBezTo>
                  <a:cubicBezTo>
                    <a:pt x="2240" y="1536"/>
                    <a:pt x="1960" y="1440"/>
                    <a:pt x="1776" y="1456"/>
                  </a:cubicBezTo>
                  <a:cubicBezTo>
                    <a:pt x="1592" y="1472"/>
                    <a:pt x="1480" y="1536"/>
                    <a:pt x="1296" y="1600"/>
                  </a:cubicBezTo>
                  <a:cubicBezTo>
                    <a:pt x="1112" y="1664"/>
                    <a:pt x="872" y="1880"/>
                    <a:pt x="672" y="1840"/>
                  </a:cubicBezTo>
                  <a:cubicBezTo>
                    <a:pt x="472" y="1800"/>
                    <a:pt x="152" y="1504"/>
                    <a:pt x="96" y="1360"/>
                  </a:cubicBezTo>
                  <a:cubicBezTo>
                    <a:pt x="40" y="1216"/>
                    <a:pt x="328" y="1072"/>
                    <a:pt x="336" y="976"/>
                  </a:cubicBezTo>
                  <a:cubicBezTo>
                    <a:pt x="344" y="880"/>
                    <a:pt x="192" y="864"/>
                    <a:pt x="144" y="784"/>
                  </a:cubicBezTo>
                  <a:close/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1998" name="Text Box 13">
              <a:extLst>
                <a:ext uri="{FF2B5EF4-FFF2-40B4-BE49-F238E27FC236}">
                  <a16:creationId xmlns:a16="http://schemas.microsoft.com/office/drawing/2014/main" id="{46600683-8D5F-4D21-8E6A-0492E6E87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2" y="1792"/>
              <a:ext cx="1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2000">
                  <a:solidFill>
                    <a:srgbClr val="003C75"/>
                  </a:solidFill>
                </a:rPr>
                <a:t>Compiled Code</a:t>
              </a:r>
              <a:endParaRPr lang="en-US" altLang="it-IT" sz="2400">
                <a:solidFill>
                  <a:srgbClr val="003C75"/>
                </a:solidFill>
              </a:endParaRPr>
            </a:p>
          </p:txBody>
        </p:sp>
        <p:sp>
          <p:nvSpPr>
            <p:cNvPr id="41999" name="Text Box 14">
              <a:extLst>
                <a:ext uri="{FF2B5EF4-FFF2-40B4-BE49-F238E27FC236}">
                  <a16:creationId xmlns:a16="http://schemas.microsoft.com/office/drawing/2014/main" id="{B5EDC883-8B9E-4490-BC44-F63FBA90C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9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/>
                <a:t>Procedure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pitchFamily="-108" charset="0"/>
            <a:ea typeface="ヒラギノ角ゴ Pro W3" pitchFamily="-108" charset="-128"/>
            <a:cs typeface="ヒラギノ角ゴ Pro W3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pitchFamily="-108" charset="0"/>
            <a:ea typeface="ヒラギノ角ゴ Pro W3" pitchFamily="-108" charset="-128"/>
            <a:cs typeface="ヒラギノ角ゴ Pro W3" pitchFamily="-10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1797</Words>
  <Application>Microsoft Office PowerPoint</Application>
  <PresentationFormat>Presentazione su schermo (4:3)</PresentationFormat>
  <Paragraphs>469</Paragraphs>
  <Slides>20</Slides>
  <Notes>8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Blank Presentation</vt:lpstr>
      <vt:lpstr>The Procedure Abstraction, Part VI: Inheritance in OOLs  Comp 412</vt:lpstr>
      <vt:lpstr>The Java Name Space</vt:lpstr>
      <vt:lpstr>What About Inheritance?</vt:lpstr>
      <vt:lpstr>Open World versus Closed World</vt:lpstr>
      <vt:lpstr>Open World versus Closed World</vt:lpstr>
      <vt:lpstr>What About Code Members?</vt:lpstr>
      <vt:lpstr>What About Code Members?</vt:lpstr>
      <vt:lpstr>What About Code Members?</vt:lpstr>
      <vt:lpstr>The Single Inheritance Hierarchy</vt:lpstr>
      <vt:lpstr>The Single Inheritance Hierarchy</vt:lpstr>
      <vt:lpstr>What About Multiple Inheritance?</vt:lpstr>
      <vt:lpstr>OR Layout with Multiple Inheritance</vt:lpstr>
      <vt:lpstr>OR Layout with Multiple Inheritance</vt:lpstr>
      <vt:lpstr>OR Layout with Multiple Inheritance</vt:lpstr>
      <vt:lpstr>OR Layout with Multiple Inheritance</vt:lpstr>
      <vt:lpstr>Open World versus Closed World</vt:lpstr>
      <vt:lpstr>Method Calls</vt:lpstr>
      <vt:lpstr>Method Calls</vt:lpstr>
      <vt:lpstr>The Procedure &amp; Its Three Abstractions</vt:lpstr>
      <vt:lpstr>The Procedure &amp; Its Three Abstractions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78</cp:revision>
  <cp:lastPrinted>2010-10-25T14:30:10Z</cp:lastPrinted>
  <dcterms:created xsi:type="dcterms:W3CDTF">2010-10-25T17:02:57Z</dcterms:created>
  <dcterms:modified xsi:type="dcterms:W3CDTF">2020-10-20T11:44:01Z</dcterms:modified>
</cp:coreProperties>
</file>