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96" r:id="rId3"/>
    <p:sldId id="297" r:id="rId4"/>
    <p:sldId id="268" r:id="rId5"/>
    <p:sldId id="269" r:id="rId6"/>
    <p:sldId id="293" r:id="rId7"/>
    <p:sldId id="294" r:id="rId8"/>
    <p:sldId id="301" r:id="rId9"/>
    <p:sldId id="270" r:id="rId10"/>
    <p:sldId id="295" r:id="rId11"/>
    <p:sldId id="271" r:id="rId12"/>
    <p:sldId id="298" r:id="rId13"/>
    <p:sldId id="272" r:id="rId14"/>
    <p:sldId id="273" r:id="rId15"/>
    <p:sldId id="274" r:id="rId16"/>
    <p:sldId id="300" r:id="rId17"/>
    <p:sldId id="299" r:id="rId18"/>
    <p:sldId id="302" r:id="rId19"/>
    <p:sldId id="303" r:id="rId20"/>
    <p:sldId id="304" r:id="rId21"/>
    <p:sldId id="305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9" autoAdjust="0"/>
    <p:restoredTop sz="90929"/>
  </p:normalViewPr>
  <p:slideViewPr>
    <p:cSldViewPr>
      <p:cViewPr varScale="1">
        <p:scale>
          <a:sx n="97" d="100"/>
          <a:sy n="97" d="100"/>
        </p:scale>
        <p:origin x="-9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D74566-0D73-4D00-8D9A-005CC6DB09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198CF-0AC9-47E8-A420-90F1B257C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05BCA084-7DE2-4A0E-92F2-7BE1EEC5F802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59361-87D2-48B0-BC74-F950B2CFDE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A48BE-CF02-49B2-BF70-514C570265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A313FB55-4C1C-4BCE-A511-74F480CD736D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35ED552-3CFE-4637-9AC5-12BD0B37FF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AC2E519-52CB-4D87-A92E-8A7D98BD3F9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FFD95EC-EC6E-44B9-9342-083E38AD043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4AC584D8-6B49-4CAD-B693-CD4D6E8C428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C2B72F1-6DC6-4051-8A60-528E091B4B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D46F099-C53E-4521-95D5-D05E93972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539F8EF1-656F-4EC2-A85D-72464625F70F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20FA026-9B55-4957-B04C-5436AA8792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87DF9F8-DC41-44AE-AF02-76732AF29BE0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4D4CDBE5-3F94-4025-8005-C4B4C7BB32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007284B-5991-4BEA-A930-257ED8ABD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3E854AF2-28DB-47FA-BE32-0F6D5B16C9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8447818-E5EC-4467-86D3-A970F9FD3693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00CCBF73-601E-4B48-ADCA-2D8A7C15491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D922EEA-8050-477A-BA87-D9B5ECB3F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0B04D809-0809-4176-8229-4B94A7F321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8B6E515-1E2B-4498-A3BB-62369C101BAC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902EFA51-1375-4B95-964D-C273A3ABDF5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97933D1-45CC-4B79-A606-29EF5DDF2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7C6F5D2B-0DE4-4BAD-8E3B-70720DE26E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53D7C0C-4E35-4324-875F-0DCC4E90CD9E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5ECABFE7-2154-4281-BC58-13421ED721C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8C118CA-4937-482D-9C4B-A1E45A3C8C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A78C47B9-9597-4D0F-A27B-0809EF9BAE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4B92F25-BB5E-4938-A575-BCEBA823C958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133FEE2-7953-4BF0-9D49-CF78674810C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5D04E70-2AAF-4D72-AB31-28338BDDF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73747969-5DD6-426A-A4C2-CFB88E52AB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0CD13C7-97EE-4534-B43A-4707E95E9E2B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DEABAB16-FCD3-4730-81A5-656CBB57D71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57C5B81-1F96-4DFC-8445-89E85A55E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E8B58C14-35D4-43C8-BE39-5D0933DB68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9EEEC1B-9415-40FE-BD59-59EAFE43259B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366CBF4D-049D-4FAB-A606-1F55614B4FD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8933AA9-6C21-40F4-BC8B-BBE6F6161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5845C712-9136-4C83-A9C9-60561CE7FC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A2ED82A-A2A6-4681-8BB2-F3BD22A126B0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621F72FA-9FA5-40C4-989C-E6EE6909843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178633D-D9FD-4B05-A704-D0815626E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BFD00483-9444-4E79-ADBD-46179B461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B8961EF-C6AA-4188-A397-9D33F214DE7A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5949277C-E4AB-4037-B7C6-3F3B20D069E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F4ACF29-FCBE-4CB0-B0EA-D57F4DD53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9DACACFE-49CC-44D3-AF4B-CA0F5DEED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5C224A1-E091-4F45-9EA2-48876090029A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FF1F6F2C-A05A-4125-BCED-E96115780BE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E5E84D9-1C5E-49A5-AFD7-0F8F2D60C3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68441957-ED22-414A-8163-4857B50B18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8B03FF5-9EC0-478D-84AC-D05E9FB4D8DA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2AC078B7-3A41-42D2-A6B5-7E20344785C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4F8548E-6E5E-4C5B-9EEC-9F8B9E678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99FC7A-3690-49F5-810B-0FCF1909EE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D40217B-2D18-49FB-B990-723A4416A81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F16AD-F726-4CF7-94F9-99D38D04255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64232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52D030-7957-4323-AE66-C94B745AE4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4A2BA8-125E-4A73-8A19-785EFD416B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89814E-1C2C-459F-A908-C626BB7D6F1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0772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D08D2E-BAA5-4416-AE03-D234D17E6A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D5F675-450A-44DF-A51D-67079E75E9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3415C2-F1BB-42AF-83BF-42C67BAAAF8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28357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EF391F3-93E4-4999-93A7-1E3E520364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2C64D9-A2B4-45F8-929C-2BD736EBC8D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EB4BA9-CA65-401B-A881-E096EF485EE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118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E72620E-1BAC-44BB-BD23-005B75944E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148CBC5-EFF8-4BB7-90B6-7EE8D9C5ED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B38916-F8CA-47F0-B980-0591DCD03CF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0872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B4D56E9-5125-46F4-8266-83F80D94B6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143F0DA-94BC-4084-B854-BCD9F4D4D2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CDC3BC-6593-47C6-9A26-FF70E074E3D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2608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9B1B2B3-6E23-4294-B9F8-E555D3F3084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F7F8E28-EF97-4067-9B11-D15B9BBDBE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3B373C-5F11-4EF4-8538-B2872E3CE95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6993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21511C-6691-4234-A1BC-64F11CC918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FE82E2-813F-44AD-8172-9D56B4BDEC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12CC6B-C60D-4C91-82E0-2E7F1B3014D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1335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53444E-E8B6-4B4F-A291-7947D62AF1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31D1BB-A68F-4AFD-85AE-ED00347679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D57CD3-ACB0-4B29-9E7A-69788FF6026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971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E6F0F1-6688-4AD1-BFE7-A63D86B136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B300B49-33F4-4141-A01E-7E249898D80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5CD031-41EE-4F93-B4D5-7E5F5AF15C9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9008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1BB109A-9796-4250-8BC0-229256D0F79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CBBA42-C5DC-433C-BE22-A376FD8738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53670-AA07-4FD0-8C90-37576AA5D47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7726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48ED9F9-E43A-4042-9FC2-7D93D59CA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1C0A30-DCCB-4F53-89EC-64AFCDC51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127DD06-A906-437E-AD3A-84C040B412F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17C487C-0B4F-49E9-B050-310EEAC971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3D6B8A6E-EF49-4C17-912E-C56855F44F7B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E56B5571-46DA-4F62-8AF2-955C16714C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4407C2A8-C2AB-4588-ADA7-D83E89602CF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ts val="3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ts val="3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930008E-99EA-4CAB-B389-1E01C3EEFB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Code Optimization, Part II</a:t>
            </a:r>
            <a:br>
              <a:rPr lang="en-US" altLang="it-IT" sz="3200" i="1"/>
            </a:br>
            <a:r>
              <a:rPr lang="en-US" altLang="it-IT" sz="3200" i="1"/>
              <a:t>Regional Techniques</a:t>
            </a:r>
            <a:br>
              <a:rPr lang="en-US" altLang="it-IT" sz="3200" i="1"/>
            </a:br>
            <a:br>
              <a:rPr lang="en-US" altLang="it-IT" sz="20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9FE87C5F-7382-46E3-9505-E4A03122F8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6CC3009D-7553-4471-B182-8C3020533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Text Box 8">
            <a:extLst>
              <a:ext uri="{FF2B5EF4-FFF2-40B4-BE49-F238E27FC236}">
                <a16:creationId xmlns:a16="http://schemas.microsoft.com/office/drawing/2014/main" id="{A2A4E2FA-885A-45DA-8D9F-29E4C2204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"/>
              </a:spcBef>
              <a:defRPr/>
            </a:pPr>
            <a:r>
              <a:rPr lang="en-US" sz="24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COMP 412</a:t>
            </a:r>
          </a:p>
          <a:p>
            <a:pPr algn="r" eaLnBrk="0" hangingPunct="0">
              <a:spcBef>
                <a:spcPct val="5000"/>
              </a:spcBef>
              <a:defRPr/>
            </a:pPr>
            <a:r>
              <a:rPr lang="en-US" sz="24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4CE482FC-0F2B-46EC-B0C8-C79C2B73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Last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9E90E-D611-4376-8B16-AC51DFCB7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Introduced concept of a redundant expression</a:t>
            </a:r>
          </a:p>
          <a:p>
            <a:pPr marL="1588" indent="-1588" algn="ctr" eaLnBrk="1" hangingPunct="1">
              <a:spcBef>
                <a:spcPts val="1800"/>
              </a:spcBef>
              <a:spcAft>
                <a:spcPts val="600"/>
              </a:spcAft>
              <a:buFont typeface="Times" charset="0"/>
              <a:buNone/>
              <a:defRPr/>
            </a:pPr>
            <a:r>
              <a:rPr lang="en-US" sz="1800" i="1" dirty="0"/>
              <a:t>An expression, </a:t>
            </a:r>
            <a:r>
              <a:rPr lang="en-US" sz="1800" i="1" dirty="0" err="1"/>
              <a:t>x+y</a:t>
            </a:r>
            <a:r>
              <a:rPr lang="en-US" sz="1800" i="1" dirty="0"/>
              <a:t>, is redundant at point </a:t>
            </a:r>
            <a:r>
              <a:rPr lang="en-US" sz="1800" i="1" dirty="0" err="1"/>
              <a:t>p</a:t>
            </a:r>
            <a:r>
              <a:rPr lang="en-US" sz="1800" i="1" dirty="0"/>
              <a:t> if, along each path from the procedure’s entry point to </a:t>
            </a:r>
            <a:r>
              <a:rPr lang="en-US" sz="1800" i="1" dirty="0" err="1"/>
              <a:t>p</a:t>
            </a:r>
            <a:r>
              <a:rPr lang="en-US" sz="1800" i="1" dirty="0"/>
              <a:t>, </a:t>
            </a:r>
            <a:r>
              <a:rPr lang="en-US" sz="1800" i="1" dirty="0" err="1"/>
              <a:t>x+y</a:t>
            </a:r>
            <a:r>
              <a:rPr lang="en-US" sz="1800" i="1" dirty="0"/>
              <a:t> has already been evaluated and neither </a:t>
            </a:r>
            <a:r>
              <a:rPr lang="en-US" sz="1800" i="1" dirty="0" err="1"/>
              <a:t>x</a:t>
            </a:r>
            <a:r>
              <a:rPr lang="en-US" sz="1800" i="1" dirty="0"/>
              <a:t> nor </a:t>
            </a:r>
            <a:r>
              <a:rPr lang="en-US" sz="1800" i="1" dirty="0" err="1"/>
              <a:t>y</a:t>
            </a:r>
            <a:r>
              <a:rPr lang="en-US" sz="1800" i="1" dirty="0"/>
              <a:t> has been redefined.</a:t>
            </a:r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If </a:t>
            </a:r>
            <a:r>
              <a:rPr lang="en-US" i="1" dirty="0" err="1"/>
              <a:t>x+y</a:t>
            </a:r>
            <a:r>
              <a:rPr lang="en-US" dirty="0"/>
              <a:t> is redundant at </a:t>
            </a:r>
            <a:r>
              <a:rPr lang="en-US" i="1" dirty="0" err="1"/>
              <a:t>p</a:t>
            </a:r>
            <a:r>
              <a:rPr lang="en-US" dirty="0"/>
              <a:t>, we can save the results of those earlier evaluations and reuse them at </a:t>
            </a:r>
            <a:r>
              <a:rPr lang="en-US" i="1" dirty="0" err="1"/>
              <a:t>p</a:t>
            </a:r>
            <a:r>
              <a:rPr lang="en-US" dirty="0"/>
              <a:t>, avoiding evaluation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In a single block, we need only consider one such path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We developed an algorithm for redundancy elimination in a single basic block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Two pieces to the problem</a:t>
            </a:r>
          </a:p>
          <a:p>
            <a:pPr lvl="1" eaLnBrk="1" hangingPunct="1">
              <a:defRPr/>
            </a:pPr>
            <a:r>
              <a:rPr lang="en-US" dirty="0"/>
              <a:t>Proving that </a:t>
            </a:r>
            <a:r>
              <a:rPr lang="en-US" i="1" dirty="0" err="1"/>
              <a:t>x+y</a:t>
            </a:r>
            <a:r>
              <a:rPr lang="en-US" dirty="0"/>
              <a:t> is redundant</a:t>
            </a:r>
          </a:p>
          <a:p>
            <a:pPr lvl="1" eaLnBrk="1" hangingPunct="1">
              <a:defRPr/>
            </a:pPr>
            <a:r>
              <a:rPr lang="en-US" dirty="0"/>
              <a:t>Rewriting the code to eliminate the redundant evaluation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Value numbering does both for </a:t>
            </a:r>
            <a:r>
              <a:rPr lang="en-US" dirty="0" err="1"/>
              <a:t>straightline</a:t>
            </a:r>
            <a:r>
              <a:rPr lang="en-US" dirty="0"/>
              <a:t> code</a:t>
            </a:r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C0EF487F-761B-4AB0-9D46-64C550903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17AACA5E-BF21-44C7-B567-0D67EB86DD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75AE0D5-DD07-4D8C-978B-6B1FFB14FBCC}" type="slidenum">
              <a:rPr lang="en-US" altLang="it-IT"/>
              <a:pPr/>
              <a:t>1</a:t>
            </a:fld>
            <a:endParaRPr lang="en-US" alt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B001770F-9356-4C15-8862-5C6EE720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Local Value Numbering 			(Recap)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76B34008-608E-4C6F-948B-C5B42090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6096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LVN Algorithm, with bells &amp; whistles</a:t>
            </a:r>
          </a:p>
        </p:txBody>
      </p:sp>
      <p:sp>
        <p:nvSpPr>
          <p:cNvPr id="18435" name="Footer Placeholder 3">
            <a:extLst>
              <a:ext uri="{FF2B5EF4-FFF2-40B4-BE49-F238E27FC236}">
                <a16:creationId xmlns:a16="http://schemas.microsoft.com/office/drawing/2014/main" id="{3BB2FAA2-9CF2-44BF-B063-62969CA12B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FA91597A-7BD5-4A0D-B9DC-F6EA7602C6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26CF2FA-F038-4751-B8ED-8CBD097E45A9}" type="slidenum">
              <a:rPr lang="en-US" altLang="it-IT"/>
              <a:pPr/>
              <a:t>2</a:t>
            </a:fld>
            <a:endParaRPr lang="en-US" altLang="it-IT"/>
          </a:p>
        </p:txBody>
      </p:sp>
      <p:grpSp>
        <p:nvGrpSpPr>
          <p:cNvPr id="18437" name="Group 11">
            <a:extLst>
              <a:ext uri="{FF2B5EF4-FFF2-40B4-BE49-F238E27FC236}">
                <a16:creationId xmlns:a16="http://schemas.microsoft.com/office/drawing/2014/main" id="{3676E122-1FFE-4C93-9F6D-D953B27F0CBA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447800"/>
            <a:ext cx="7543800" cy="4572000"/>
            <a:chOff x="914400" y="1447800"/>
            <a:chExt cx="7543800" cy="4572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6A30E1-2E4B-4FDB-B20E-5B13B9395A8A}"/>
                </a:ext>
              </a:extLst>
            </p:cNvPr>
            <p:cNvSpPr txBox="1"/>
            <p:nvPr/>
          </p:nvSpPr>
          <p:spPr>
            <a:xfrm>
              <a:off x="914400" y="1673225"/>
              <a:ext cx="7315200" cy="4346575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800100" indent="-3429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ts val="300"/>
                </a:spcBef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for i ← 0 to n-1</a:t>
              </a:r>
            </a:p>
            <a:p>
              <a:pPr>
                <a:spcBef>
                  <a:spcPts val="600"/>
                </a:spcBef>
                <a:buSzPct val="90000"/>
                <a:buFont typeface="Comic Sans MS" panose="030F0702030302020204" pitchFamily="66" charset="0"/>
                <a:buAutoNum type="arabicPeriod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 get the value numbers V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1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and V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2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for L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and R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endParaRPr lang="en-US" altLang="it-IT" sz="1600" i="1">
                <a:latin typeface="Geneva"/>
                <a:ea typeface="Geneva"/>
                <a:cs typeface="Geneva"/>
              </a:endParaRPr>
            </a:p>
            <a:p>
              <a:pPr>
                <a:spcBef>
                  <a:spcPts val="600"/>
                </a:spcBef>
                <a:buSzPct val="90000"/>
                <a:buFont typeface="Comic Sans MS" panose="030F0702030302020204" pitchFamily="66" charset="0"/>
                <a:buAutoNum type="arabicPeriod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 if L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and R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are both constant then </a:t>
              </a:r>
            </a:p>
            <a:p>
              <a:pPr lvl="1">
                <a:spcBef>
                  <a:spcPts val="300"/>
                </a:spcBef>
                <a:buSzPct val="90000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evaluate Li Op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R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, assign it to T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, and mark T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as a constant</a:t>
              </a:r>
            </a:p>
            <a:p>
              <a:pPr>
                <a:spcBef>
                  <a:spcPts val="600"/>
                </a:spcBef>
                <a:buSzPct val="90000"/>
                <a:buFont typeface="Comic Sans MS" panose="030F0702030302020204" pitchFamily="66" charset="0"/>
                <a:buAutoNum type="arabicPeriod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 if Li Op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R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 matches an identity then       </a:t>
              </a:r>
            </a:p>
            <a:p>
              <a:pPr lvl="1">
                <a:spcBef>
                  <a:spcPts val="300"/>
                </a:spcBef>
                <a:buSzPct val="90000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replace it with a copy operation or an assignment</a:t>
              </a:r>
            </a:p>
            <a:p>
              <a:pPr>
                <a:spcBef>
                  <a:spcPts val="600"/>
                </a:spcBef>
                <a:buSzPct val="90000"/>
                <a:buFont typeface="Comic Sans MS" panose="030F0702030302020204" pitchFamily="66" charset="0"/>
                <a:buAutoNum type="arabicPeriod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 if Op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commutes and V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1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&gt; V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2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then </a:t>
              </a:r>
            </a:p>
            <a:p>
              <a:pPr lvl="1">
                <a:spcBef>
                  <a:spcPts val="300"/>
                </a:spcBef>
                <a:buSzPct val="90000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swap V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1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and V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2</a:t>
              </a:r>
              <a:endParaRPr lang="en-US" altLang="it-IT" sz="1600" i="1">
                <a:latin typeface="Geneva"/>
                <a:ea typeface="Geneva"/>
                <a:cs typeface="Geneva"/>
              </a:endParaRPr>
            </a:p>
            <a:p>
              <a:pPr>
                <a:spcBef>
                  <a:spcPts val="600"/>
                </a:spcBef>
                <a:buSzPct val="90000"/>
                <a:buFont typeface="Comic Sans MS" panose="030F0702030302020204" pitchFamily="66" charset="0"/>
                <a:buAutoNum type="arabicPeriod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 construct a hash key &lt;V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1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,Op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,V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2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&gt;</a:t>
              </a:r>
            </a:p>
            <a:p>
              <a:pPr>
                <a:spcBef>
                  <a:spcPts val="600"/>
                </a:spcBef>
                <a:buSzPct val="90000"/>
                <a:buFont typeface="Comic Sans MS" panose="030F0702030302020204" pitchFamily="66" charset="0"/>
                <a:buAutoNum type="arabicPeriod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 if the hash key is already present in the table then</a:t>
              </a:r>
            </a:p>
            <a:p>
              <a:pPr lvl="1">
                <a:spcBef>
                  <a:spcPts val="300"/>
                </a:spcBef>
                <a:buSzPct val="90000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 replace operation I with a copy into T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 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and mark T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with the VN </a:t>
              </a:r>
            </a:p>
            <a:p>
              <a:pPr>
                <a:spcBef>
                  <a:spcPts val="600"/>
                </a:spcBef>
                <a:buSzPct val="90000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	else</a:t>
              </a:r>
            </a:p>
            <a:p>
              <a:pPr>
                <a:spcBef>
                  <a:spcPts val="300"/>
                </a:spcBef>
                <a:buSzPct val="90000"/>
              </a:pPr>
              <a:r>
                <a:rPr lang="en-US" altLang="it-IT" sz="1600" i="1">
                  <a:latin typeface="Geneva"/>
                  <a:ea typeface="Geneva"/>
                  <a:cs typeface="Geneva"/>
                </a:rPr>
                <a:t>  	   insert a new VN into table for hash key &amp; mark T</a:t>
              </a:r>
              <a:r>
                <a:rPr lang="en-US" altLang="it-IT" sz="1600" i="1" baseline="-25000"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600" i="1">
                  <a:latin typeface="Geneva"/>
                  <a:ea typeface="Geneva"/>
                  <a:cs typeface="Geneva"/>
                </a:rPr>
                <a:t> with the VN</a:t>
              </a:r>
            </a:p>
            <a:p>
              <a:pPr>
                <a:spcBef>
                  <a:spcPts val="300"/>
                </a:spcBef>
                <a:buSzPct val="90000"/>
              </a:pPr>
              <a:endParaRPr lang="en-US" altLang="it-IT" sz="1600" i="1">
                <a:latin typeface="Geneva"/>
                <a:ea typeface="Geneva"/>
                <a:cs typeface="Genev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3D2016-264E-45F0-BE04-1D4CF4099CE1}"/>
                </a:ext>
              </a:extLst>
            </p:cNvPr>
            <p:cNvSpPr txBox="1"/>
            <p:nvPr/>
          </p:nvSpPr>
          <p:spPr>
            <a:xfrm>
              <a:off x="6248400" y="1447800"/>
              <a:ext cx="2209800" cy="7778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003C75"/>
                  </a:solidFill>
                </a:rPr>
                <a:t>Block is a sequence of n operations of the form</a:t>
              </a:r>
            </a:p>
            <a:p>
              <a:pPr algn="ctr">
                <a:spcBef>
                  <a:spcPts val="300"/>
                </a:spcBef>
              </a:pPr>
              <a:r>
                <a:rPr lang="en-US" altLang="it-IT" sz="1400" i="1">
                  <a:solidFill>
                    <a:srgbClr val="003C75"/>
                  </a:solidFill>
                  <a:latin typeface="Geneva"/>
                  <a:ea typeface="Geneva"/>
                  <a:cs typeface="Geneva"/>
                </a:rPr>
                <a:t>T</a:t>
              </a:r>
              <a:r>
                <a:rPr lang="en-US" altLang="it-IT" sz="1400" i="1" baseline="-25000">
                  <a:solidFill>
                    <a:srgbClr val="003C75"/>
                  </a:solidFill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400" i="1">
                  <a:solidFill>
                    <a:srgbClr val="003C75"/>
                  </a:solidFill>
                  <a:latin typeface="Geneva"/>
                  <a:ea typeface="Geneva"/>
                  <a:cs typeface="Geneva"/>
                </a:rPr>
                <a:t> ← L</a:t>
              </a:r>
              <a:r>
                <a:rPr lang="en-US" altLang="it-IT" sz="1400" i="1" baseline="-25000">
                  <a:solidFill>
                    <a:srgbClr val="003C75"/>
                  </a:solidFill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400" i="1">
                  <a:solidFill>
                    <a:srgbClr val="003C75"/>
                  </a:solidFill>
                  <a:latin typeface="Geneva"/>
                  <a:ea typeface="Geneva"/>
                  <a:cs typeface="Geneva"/>
                </a:rPr>
                <a:t> Op</a:t>
              </a:r>
              <a:r>
                <a:rPr lang="en-US" altLang="it-IT" sz="1400" i="1" baseline="-25000">
                  <a:solidFill>
                    <a:srgbClr val="003C75"/>
                  </a:solidFill>
                  <a:latin typeface="Geneva"/>
                  <a:ea typeface="Geneva"/>
                  <a:cs typeface="Geneva"/>
                </a:rPr>
                <a:t>i</a:t>
              </a:r>
              <a:r>
                <a:rPr lang="en-US" altLang="it-IT" sz="1400" i="1">
                  <a:solidFill>
                    <a:srgbClr val="003C75"/>
                  </a:solidFill>
                  <a:latin typeface="Geneva"/>
                  <a:ea typeface="Geneva"/>
                  <a:cs typeface="Geneva"/>
                </a:rPr>
                <a:t> R</a:t>
              </a:r>
              <a:r>
                <a:rPr lang="en-US" altLang="it-IT" sz="1400" i="1" baseline="-25000">
                  <a:solidFill>
                    <a:srgbClr val="003C75"/>
                  </a:solidFill>
                  <a:latin typeface="Geneva"/>
                  <a:ea typeface="Geneva"/>
                  <a:cs typeface="Geneva"/>
                </a:rPr>
                <a:t>i</a:t>
              </a:r>
              <a:endParaRPr lang="en-US" altLang="it-IT" sz="1400" i="1">
                <a:solidFill>
                  <a:srgbClr val="003C75"/>
                </a:solidFill>
                <a:latin typeface="Geneva"/>
                <a:ea typeface="Geneva"/>
                <a:cs typeface="Genev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9DC4A5-0FE2-4463-B794-933AA39499A5}"/>
                </a:ext>
              </a:extLst>
            </p:cNvPr>
            <p:cNvSpPr txBox="1"/>
            <p:nvPr/>
          </p:nvSpPr>
          <p:spPr>
            <a:xfrm>
              <a:off x="6400800" y="2324100"/>
              <a:ext cx="1828800" cy="3048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Constant folding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C46CC8-D09D-43DD-AC56-ECA16D21E595}"/>
                </a:ext>
              </a:extLst>
            </p:cNvPr>
            <p:cNvSpPr txBox="1"/>
            <p:nvPr/>
          </p:nvSpPr>
          <p:spPr>
            <a:xfrm>
              <a:off x="6400800" y="2946400"/>
              <a:ext cx="1828800" cy="3048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Algebraic identities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B0AF00-D94A-480D-8FF7-E821E2B8BCDE}"/>
                </a:ext>
              </a:extLst>
            </p:cNvPr>
            <p:cNvSpPr txBox="1"/>
            <p:nvPr/>
          </p:nvSpPr>
          <p:spPr>
            <a:xfrm>
              <a:off x="6400800" y="3581400"/>
              <a:ext cx="1828800" cy="3048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Commutativity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3">
            <a:extLst>
              <a:ext uri="{FF2B5EF4-FFF2-40B4-BE49-F238E27FC236}">
                <a16:creationId xmlns:a16="http://schemas.microsoft.com/office/drawing/2014/main" id="{B493359C-250C-448E-A454-42C9540697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2C91B4E5-A93A-4C52-B743-55CB58066A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EA38A21-4AF3-42AD-A035-93FBDA1B6CAA}" type="slidenum">
              <a:rPr lang="en-US" altLang="it-IT"/>
              <a:pPr/>
              <a:t>3</a:t>
            </a:fld>
            <a:endParaRPr lang="en-US" altLang="it-IT"/>
          </a:p>
        </p:txBody>
      </p:sp>
      <p:grpSp>
        <p:nvGrpSpPr>
          <p:cNvPr id="25602" name="Group 2">
            <a:extLst>
              <a:ext uri="{FF2B5EF4-FFF2-40B4-BE49-F238E27FC236}">
                <a16:creationId xmlns:a16="http://schemas.microsoft.com/office/drawing/2014/main" id="{48EC2CD0-FE70-4054-A473-E1FF4D6690FA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447800"/>
            <a:ext cx="5638800" cy="3886200"/>
            <a:chOff x="1392" y="912"/>
            <a:chExt cx="3552" cy="2448"/>
          </a:xfrm>
        </p:grpSpPr>
        <p:sp>
          <p:nvSpPr>
            <p:cNvPr id="19492" name="Text Box 3">
              <a:extLst>
                <a:ext uri="{FF2B5EF4-FFF2-40B4-BE49-F238E27FC236}">
                  <a16:creationId xmlns:a16="http://schemas.microsoft.com/office/drawing/2014/main" id="{C9B7D6EA-95BD-4235-95D5-C10929FCD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912"/>
              <a:ext cx="1536" cy="392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/>
                <a:t>Missed opportunities</a:t>
              </a:r>
            </a:p>
            <a:p>
              <a:pPr algn="ctr">
                <a:spcBef>
                  <a:spcPct val="25000"/>
                </a:spcBef>
              </a:pPr>
              <a:r>
                <a:rPr lang="en-US" altLang="it-IT" sz="1400"/>
                <a:t>(need stronger methods)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grpSp>
          <p:nvGrpSpPr>
            <p:cNvPr id="19493" name="Group 4">
              <a:extLst>
                <a:ext uri="{FF2B5EF4-FFF2-40B4-BE49-F238E27FC236}">
                  <a16:creationId xmlns:a16="http://schemas.microsoft.com/office/drawing/2014/main" id="{8EA6C5A5-8D13-4A97-9BFA-B9E37D5D9A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44"/>
              <a:ext cx="2304" cy="2016"/>
              <a:chOff x="1392" y="1344"/>
              <a:chExt cx="2304" cy="2016"/>
            </a:xfrm>
          </p:grpSpPr>
          <p:sp>
            <p:nvSpPr>
              <p:cNvPr id="19494" name="Rectangle 5">
                <a:extLst>
                  <a:ext uri="{FF2B5EF4-FFF2-40B4-BE49-F238E27FC236}">
                    <a16:creationId xmlns:a16="http://schemas.microsoft.com/office/drawing/2014/main" id="{61497713-6AF9-405A-9F3B-A1DCA72DF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344"/>
                <a:ext cx="768" cy="192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19495" name="Rectangle 6">
                <a:extLst>
                  <a:ext uri="{FF2B5EF4-FFF2-40B4-BE49-F238E27FC236}">
                    <a16:creationId xmlns:a16="http://schemas.microsoft.com/office/drawing/2014/main" id="{99E670E2-3126-4C1E-BEDE-BF228A8FA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968"/>
                <a:ext cx="768" cy="192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19496" name="Rectangle 7">
                <a:extLst>
                  <a:ext uri="{FF2B5EF4-FFF2-40B4-BE49-F238E27FC236}">
                    <a16:creationId xmlns:a16="http://schemas.microsoft.com/office/drawing/2014/main" id="{0396E148-3458-44F2-A404-03D94A984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968"/>
                <a:ext cx="768" cy="192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19497" name="Rectangle 8">
                <a:extLst>
                  <a:ext uri="{FF2B5EF4-FFF2-40B4-BE49-F238E27FC236}">
                    <a16:creationId xmlns:a16="http://schemas.microsoft.com/office/drawing/2014/main" id="{06F7B4D8-418C-4999-A5CC-44C9909C3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400"/>
                <a:ext cx="768" cy="48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19498" name="Rectangle 9">
                <a:extLst>
                  <a:ext uri="{FF2B5EF4-FFF2-40B4-BE49-F238E27FC236}">
                    <a16:creationId xmlns:a16="http://schemas.microsoft.com/office/drawing/2014/main" id="{E1F3A941-954F-4718-A7E6-5689AB99E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024"/>
                <a:ext cx="768" cy="336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</p:grpSp>
      <p:grpSp>
        <p:nvGrpSpPr>
          <p:cNvPr id="19460" name="Group 10">
            <a:extLst>
              <a:ext uri="{FF2B5EF4-FFF2-40B4-BE49-F238E27FC236}">
                <a16:creationId xmlns:a16="http://schemas.microsoft.com/office/drawing/2014/main" id="{46032676-4862-4337-AA95-DF6678D07E0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5715000" cy="4117975"/>
            <a:chOff x="480" y="768"/>
            <a:chExt cx="3600" cy="2594"/>
          </a:xfrm>
        </p:grpSpPr>
        <p:sp>
          <p:nvSpPr>
            <p:cNvPr id="19464" name="Text Box 11">
              <a:extLst>
                <a:ext uri="{FF2B5EF4-FFF2-40B4-BE49-F238E27FC236}">
                  <a16:creationId xmlns:a16="http://schemas.microsoft.com/office/drawing/2014/main" id="{8CE96945-2CAB-4AE7-9201-C2769442D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16"/>
              <a:ext cx="864" cy="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Courier"/>
                </a:rPr>
                <a:t>m </a:t>
              </a:r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400" b="1">
                  <a:solidFill>
                    <a:srgbClr val="FF0065"/>
                  </a:solidFill>
                  <a:latin typeface="Courier"/>
                  <a:sym typeface="Symbol" panose="05050102010706020507" pitchFamily="18" charset="2"/>
                </a:rPr>
                <a:t>n  a + b</a:t>
              </a:r>
              <a:endParaRPr lang="en-US" altLang="it-IT" sz="16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19465" name="Text Box 12">
              <a:extLst>
                <a:ext uri="{FF2B5EF4-FFF2-40B4-BE49-F238E27FC236}">
                  <a16:creationId xmlns:a16="http://schemas.microsoft.com/office/drawing/2014/main" id="{DC0A010E-9BC2-4DB2-BCC4-9B3CF42F2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grpSp>
          <p:nvGrpSpPr>
            <p:cNvPr id="19466" name="Group 13">
              <a:extLst>
                <a:ext uri="{FF2B5EF4-FFF2-40B4-BE49-F238E27FC236}">
                  <a16:creationId xmlns:a16="http://schemas.microsoft.com/office/drawing/2014/main" id="{871264B8-4921-47DE-952D-93F2C4F3C2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96"/>
              <a:ext cx="1056" cy="386"/>
              <a:chOff x="480" y="1401"/>
              <a:chExt cx="1056" cy="386"/>
            </a:xfrm>
          </p:grpSpPr>
          <p:sp>
            <p:nvSpPr>
              <p:cNvPr id="19490" name="Text Box 14">
                <a:extLst>
                  <a:ext uri="{FF2B5EF4-FFF2-40B4-BE49-F238E27FC236}">
                    <a16:creationId xmlns:a16="http://schemas.microsoft.com/office/drawing/2014/main" id="{2567ED1F-60CC-4F7E-A2F3-31140556C2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449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p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c + d</a:t>
                </a:r>
              </a:p>
              <a:p>
                <a:pPr algn="ctr"/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19491" name="Text Box 15">
                <a:extLst>
                  <a:ext uri="{FF2B5EF4-FFF2-40B4-BE49-F238E27FC236}">
                    <a16:creationId xmlns:a16="http://schemas.microsoft.com/office/drawing/2014/main" id="{C5F54A2A-D6F2-4823-932A-B0E042EF4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40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B</a:t>
                </a:r>
              </a:p>
            </p:txBody>
          </p:sp>
        </p:grpSp>
        <p:grpSp>
          <p:nvGrpSpPr>
            <p:cNvPr id="19467" name="Group 16">
              <a:extLst>
                <a:ext uri="{FF2B5EF4-FFF2-40B4-BE49-F238E27FC236}">
                  <a16:creationId xmlns:a16="http://schemas.microsoft.com/office/drawing/2014/main" id="{DB25CFF2-B0BB-404E-8930-CD233C1119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76"/>
              <a:ext cx="1296" cy="386"/>
              <a:chOff x="1344" y="3312"/>
              <a:chExt cx="1296" cy="386"/>
            </a:xfrm>
          </p:grpSpPr>
          <p:sp>
            <p:nvSpPr>
              <p:cNvPr id="19488" name="Text Box 17">
                <a:extLst>
                  <a:ext uri="{FF2B5EF4-FFF2-40B4-BE49-F238E27FC236}">
                    <a16:creationId xmlns:a16="http://schemas.microsoft.com/office/drawing/2014/main" id="{470D0F2F-72C2-412B-9DDF-F2C8BBF8F3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60"/>
                <a:ext cx="110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y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z  c + d</a:t>
                </a:r>
              </a:p>
            </p:txBody>
          </p:sp>
          <p:sp>
            <p:nvSpPr>
              <p:cNvPr id="19489" name="Text Box 18">
                <a:extLst>
                  <a:ext uri="{FF2B5EF4-FFF2-40B4-BE49-F238E27FC236}">
                    <a16:creationId xmlns:a16="http://schemas.microsoft.com/office/drawing/2014/main" id="{F1FDADE2-9047-4200-A4B6-FA9A9E29FF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1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G</a:t>
                </a:r>
              </a:p>
            </p:txBody>
          </p:sp>
        </p:grpSp>
        <p:sp>
          <p:nvSpPr>
            <p:cNvPr id="19468" name="Line 19">
              <a:extLst>
                <a:ext uri="{FF2B5EF4-FFF2-40B4-BE49-F238E27FC236}">
                  <a16:creationId xmlns:a16="http://schemas.microsoft.com/office/drawing/2014/main" id="{12F2E239-E4A7-4CB0-A55E-D103E3B72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152"/>
              <a:ext cx="138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19469" name="Group 20">
              <a:extLst>
                <a:ext uri="{FF2B5EF4-FFF2-40B4-BE49-F238E27FC236}">
                  <a16:creationId xmlns:a16="http://schemas.microsoft.com/office/drawing/2014/main" id="{19943227-B677-453A-B73A-6FCA744994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296"/>
              <a:ext cx="1056" cy="386"/>
              <a:chOff x="1248" y="864"/>
              <a:chExt cx="1056" cy="386"/>
            </a:xfrm>
          </p:grpSpPr>
          <p:sp>
            <p:nvSpPr>
              <p:cNvPr id="19486" name="Text Box 21">
                <a:extLst>
                  <a:ext uri="{FF2B5EF4-FFF2-40B4-BE49-F238E27FC236}">
                    <a16:creationId xmlns:a16="http://schemas.microsoft.com/office/drawing/2014/main" id="{651A1B5F-6404-4EE7-B5E3-E3B946D22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912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q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19487" name="Text Box 22">
                <a:extLst>
                  <a:ext uri="{FF2B5EF4-FFF2-40B4-BE49-F238E27FC236}">
                    <a16:creationId xmlns:a16="http://schemas.microsoft.com/office/drawing/2014/main" id="{EC495EE4-1F14-43AB-B20E-245628822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86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C</a:t>
                </a:r>
              </a:p>
            </p:txBody>
          </p:sp>
        </p:grpSp>
        <p:grpSp>
          <p:nvGrpSpPr>
            <p:cNvPr id="19470" name="Group 23">
              <a:extLst>
                <a:ext uri="{FF2B5EF4-FFF2-40B4-BE49-F238E27FC236}">
                  <a16:creationId xmlns:a16="http://schemas.microsoft.com/office/drawing/2014/main" id="{7E19BDFF-47D7-4A9E-BF4E-449BB69B95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776"/>
              <a:ext cx="1104" cy="520"/>
              <a:chOff x="1680" y="1873"/>
              <a:chExt cx="1104" cy="520"/>
            </a:xfrm>
          </p:grpSpPr>
          <p:sp>
            <p:nvSpPr>
              <p:cNvPr id="19484" name="Text Box 24">
                <a:extLst>
                  <a:ext uri="{FF2B5EF4-FFF2-40B4-BE49-F238E27FC236}">
                    <a16:creationId xmlns:a16="http://schemas.microsoft.com/office/drawing/2014/main" id="{7D823A6D-F299-4A80-89FD-0CB62D3651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921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b + 18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s 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</a:p>
            </p:txBody>
          </p:sp>
          <p:sp>
            <p:nvSpPr>
              <p:cNvPr id="19485" name="Text Box 25">
                <a:extLst>
                  <a:ext uri="{FF2B5EF4-FFF2-40B4-BE49-F238E27FC236}">
                    <a16:creationId xmlns:a16="http://schemas.microsoft.com/office/drawing/2014/main" id="{048C51B6-BEC3-4F8B-8FF0-4D98FC690E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873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D</a:t>
                </a:r>
              </a:p>
            </p:txBody>
          </p:sp>
        </p:grpSp>
        <p:grpSp>
          <p:nvGrpSpPr>
            <p:cNvPr id="19471" name="Group 26">
              <a:extLst>
                <a:ext uri="{FF2B5EF4-FFF2-40B4-BE49-F238E27FC236}">
                  <a16:creationId xmlns:a16="http://schemas.microsoft.com/office/drawing/2014/main" id="{CC0B8BA1-EFBB-4B3E-8EFE-808982524A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1104" cy="520"/>
              <a:chOff x="1680" y="2024"/>
              <a:chExt cx="1104" cy="520"/>
            </a:xfrm>
          </p:grpSpPr>
          <p:sp>
            <p:nvSpPr>
              <p:cNvPr id="19482" name="Text Box 27">
                <a:extLst>
                  <a:ext uri="{FF2B5EF4-FFF2-40B4-BE49-F238E27FC236}">
                    <a16:creationId xmlns:a16="http://schemas.microsoft.com/office/drawing/2014/main" id="{2E1F4964-7B3D-489D-BA0D-F8EA3D41A4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72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+ 17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t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  <a:endParaRPr lang="en-US" altLang="it-IT" sz="1600">
                  <a:latin typeface="Courier"/>
                  <a:sym typeface="Symbol" panose="05050102010706020507" pitchFamily="18" charset="2"/>
                </a:endParaRPr>
              </a:p>
            </p:txBody>
          </p:sp>
          <p:sp>
            <p:nvSpPr>
              <p:cNvPr id="19483" name="Text Box 28">
                <a:extLst>
                  <a:ext uri="{FF2B5EF4-FFF2-40B4-BE49-F238E27FC236}">
                    <a16:creationId xmlns:a16="http://schemas.microsoft.com/office/drawing/2014/main" id="{6CF905B0-E5AE-40D6-AFB1-009EE282C2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</p:grpSp>
        <p:sp>
          <p:nvSpPr>
            <p:cNvPr id="19472" name="Line 29">
              <a:extLst>
                <a:ext uri="{FF2B5EF4-FFF2-40B4-BE49-F238E27FC236}">
                  <a16:creationId xmlns:a16="http://schemas.microsoft.com/office/drawing/2014/main" id="{0E7C2B96-BE64-4E62-B5C7-A148EEF5A2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3" name="Line 30">
              <a:extLst>
                <a:ext uri="{FF2B5EF4-FFF2-40B4-BE49-F238E27FC236}">
                  <a16:creationId xmlns:a16="http://schemas.microsoft.com/office/drawing/2014/main" id="{BE1CCA51-CD7D-4EC2-9665-E632113B0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4" name="Line 31">
              <a:extLst>
                <a:ext uri="{FF2B5EF4-FFF2-40B4-BE49-F238E27FC236}">
                  <a16:creationId xmlns:a16="http://schemas.microsoft.com/office/drawing/2014/main" id="{0A9A47B7-1635-4BBC-B97C-CECD7E085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52"/>
              <a:ext cx="33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5" name="Line 32">
              <a:extLst>
                <a:ext uri="{FF2B5EF4-FFF2-40B4-BE49-F238E27FC236}">
                  <a16:creationId xmlns:a16="http://schemas.microsoft.com/office/drawing/2014/main" id="{72D1D74D-788B-4A72-B1A0-C638F1F7C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680"/>
              <a:ext cx="336" cy="1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19476" name="Group 33">
              <a:extLst>
                <a:ext uri="{FF2B5EF4-FFF2-40B4-BE49-F238E27FC236}">
                  <a16:creationId xmlns:a16="http://schemas.microsoft.com/office/drawing/2014/main" id="{CFA16A16-81E6-4D17-BA9D-B4A2111F09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60"/>
              <a:ext cx="1248" cy="520"/>
              <a:chOff x="2208" y="2360"/>
              <a:chExt cx="1248" cy="520"/>
            </a:xfrm>
          </p:grpSpPr>
          <p:sp>
            <p:nvSpPr>
              <p:cNvPr id="19480" name="Text Box 34">
                <a:extLst>
                  <a:ext uri="{FF2B5EF4-FFF2-40B4-BE49-F238E27FC236}">
                    <a16:creationId xmlns:a16="http://schemas.microsoft.com/office/drawing/2014/main" id="{15494995-8EA8-4E31-9A86-28C111442A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408"/>
                <a:ext cx="1056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v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w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x  e + f</a:t>
                </a:r>
              </a:p>
            </p:txBody>
          </p:sp>
          <p:sp>
            <p:nvSpPr>
              <p:cNvPr id="19481" name="Text Box 35">
                <a:extLst>
                  <a:ext uri="{FF2B5EF4-FFF2-40B4-BE49-F238E27FC236}">
                    <a16:creationId xmlns:a16="http://schemas.microsoft.com/office/drawing/2014/main" id="{6C4C86C5-C4DD-445E-8BB6-CD14757383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36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F</a:t>
                </a:r>
              </a:p>
            </p:txBody>
          </p:sp>
        </p:grpSp>
        <p:sp>
          <p:nvSpPr>
            <p:cNvPr id="19477" name="Line 36">
              <a:extLst>
                <a:ext uri="{FF2B5EF4-FFF2-40B4-BE49-F238E27FC236}">
                  <a16:creationId xmlns:a16="http://schemas.microsoft.com/office/drawing/2014/main" id="{B028243D-B4C2-447C-B297-EF501D547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04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8" name="Line 37">
              <a:extLst>
                <a:ext uri="{FF2B5EF4-FFF2-40B4-BE49-F238E27FC236}">
                  <a16:creationId xmlns:a16="http://schemas.microsoft.com/office/drawing/2014/main" id="{EA2729C4-DB9C-4D17-9565-9A0316092B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304"/>
              <a:ext cx="19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9479" name="Line 38">
              <a:extLst>
                <a:ext uri="{FF2B5EF4-FFF2-40B4-BE49-F238E27FC236}">
                  <a16:creationId xmlns:a16="http://schemas.microsoft.com/office/drawing/2014/main" id="{3DF06ECD-ABD0-4E25-9C33-FB6C3BF508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880"/>
              <a:ext cx="9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9461" name="Rectangle 39">
            <a:extLst>
              <a:ext uri="{FF2B5EF4-FFF2-40B4-BE49-F238E27FC236}">
                <a16:creationId xmlns:a16="http://schemas.microsoft.com/office/drawing/2014/main" id="{1154C86F-76DC-4A5F-B24E-4025595BC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Local Value Numbering</a:t>
            </a:r>
          </a:p>
        </p:txBody>
      </p:sp>
      <p:sp>
        <p:nvSpPr>
          <p:cNvPr id="25641" name="Text Box 41">
            <a:extLst>
              <a:ext uri="{FF2B5EF4-FFF2-40B4-BE49-F238E27FC236}">
                <a16:creationId xmlns:a16="http://schemas.microsoft.com/office/drawing/2014/main" id="{954E73E5-1675-4E3C-84E4-C319F5E0B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581525"/>
            <a:ext cx="2987675" cy="1438275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300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Local Value Numbering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1 block at a time</a:t>
            </a:r>
          </a:p>
          <a:p>
            <a:pPr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Strong local results</a:t>
            </a:r>
          </a:p>
          <a:p>
            <a:pPr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No cross-block effects</a:t>
            </a:r>
            <a:endParaRPr lang="en-US" dirty="0">
              <a:latin typeface="Arial Rounded MT Bold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19463" name="Text Box 43">
            <a:extLst>
              <a:ext uri="{FF2B5EF4-FFF2-40B4-BE49-F238E27FC236}">
                <a16:creationId xmlns:a16="http://schemas.microsoft.com/office/drawing/2014/main" id="{B2C98B1D-918F-499E-9E8A-63566E6DE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209800"/>
            <a:ext cx="3276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LVN finds these redundant 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3">
            <a:extLst>
              <a:ext uri="{FF2B5EF4-FFF2-40B4-BE49-F238E27FC236}">
                <a16:creationId xmlns:a16="http://schemas.microsoft.com/office/drawing/2014/main" id="{01E004C3-F584-44CD-8E84-D7281D4D93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6CE994B9-FA54-4B58-8986-E70BE172E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48B3CDC-3AFA-4E42-B7F4-622059E13791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71852FE-E0F0-401A-A605-4079C0D8B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Terminology </a:t>
            </a:r>
          </a:p>
        </p:txBody>
      </p:sp>
      <p:grpSp>
        <p:nvGrpSpPr>
          <p:cNvPr id="21508" name="Group 3">
            <a:extLst>
              <a:ext uri="{FF2B5EF4-FFF2-40B4-BE49-F238E27FC236}">
                <a16:creationId xmlns:a16="http://schemas.microsoft.com/office/drawing/2014/main" id="{14409A64-FB0B-4306-8BA8-F7A99616FFD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600200"/>
            <a:ext cx="5715000" cy="4117975"/>
            <a:chOff x="480" y="768"/>
            <a:chExt cx="3600" cy="2594"/>
          </a:xfrm>
        </p:grpSpPr>
        <p:sp>
          <p:nvSpPr>
            <p:cNvPr id="21511" name="Text Box 4">
              <a:extLst>
                <a:ext uri="{FF2B5EF4-FFF2-40B4-BE49-F238E27FC236}">
                  <a16:creationId xmlns:a16="http://schemas.microsoft.com/office/drawing/2014/main" id="{98403F76-267F-4EB9-B7ED-B9CC2E698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16"/>
              <a:ext cx="864" cy="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Courier"/>
                </a:rPr>
                <a:t>m </a:t>
              </a:r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n  a + b</a:t>
              </a:r>
              <a:endParaRPr lang="en-US" altLang="it-IT" sz="16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21512" name="Text Box 5">
              <a:extLst>
                <a:ext uri="{FF2B5EF4-FFF2-40B4-BE49-F238E27FC236}">
                  <a16:creationId xmlns:a16="http://schemas.microsoft.com/office/drawing/2014/main" id="{96D0294A-B89F-4888-A7F9-9288E31D2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grpSp>
          <p:nvGrpSpPr>
            <p:cNvPr id="21513" name="Group 6">
              <a:extLst>
                <a:ext uri="{FF2B5EF4-FFF2-40B4-BE49-F238E27FC236}">
                  <a16:creationId xmlns:a16="http://schemas.microsoft.com/office/drawing/2014/main" id="{CD0A5B0A-1E9B-408D-9685-A3964402E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96"/>
              <a:ext cx="1056" cy="386"/>
              <a:chOff x="480" y="1401"/>
              <a:chExt cx="1056" cy="386"/>
            </a:xfrm>
          </p:grpSpPr>
          <p:sp>
            <p:nvSpPr>
              <p:cNvPr id="21537" name="Text Box 7">
                <a:extLst>
                  <a:ext uri="{FF2B5EF4-FFF2-40B4-BE49-F238E27FC236}">
                    <a16:creationId xmlns:a16="http://schemas.microsoft.com/office/drawing/2014/main" id="{48600320-319F-4071-A34E-1BA4A349B4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449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p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21538" name="Text Box 8">
                <a:extLst>
                  <a:ext uri="{FF2B5EF4-FFF2-40B4-BE49-F238E27FC236}">
                    <a16:creationId xmlns:a16="http://schemas.microsoft.com/office/drawing/2014/main" id="{65989F65-DBD9-4A2B-9854-D05798AFEB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40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B</a:t>
                </a:r>
              </a:p>
            </p:txBody>
          </p:sp>
        </p:grpSp>
        <p:grpSp>
          <p:nvGrpSpPr>
            <p:cNvPr id="21514" name="Group 9">
              <a:extLst>
                <a:ext uri="{FF2B5EF4-FFF2-40B4-BE49-F238E27FC236}">
                  <a16:creationId xmlns:a16="http://schemas.microsoft.com/office/drawing/2014/main" id="{DD1C7A9F-DA92-4DA5-ABC3-8B6C457BAA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76"/>
              <a:ext cx="1296" cy="386"/>
              <a:chOff x="1344" y="3312"/>
              <a:chExt cx="1296" cy="386"/>
            </a:xfrm>
          </p:grpSpPr>
          <p:sp>
            <p:nvSpPr>
              <p:cNvPr id="21535" name="Text Box 10">
                <a:extLst>
                  <a:ext uri="{FF2B5EF4-FFF2-40B4-BE49-F238E27FC236}">
                    <a16:creationId xmlns:a16="http://schemas.microsoft.com/office/drawing/2014/main" id="{B405790A-71D0-4ABD-A54C-A0CE8B472D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60"/>
                <a:ext cx="110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y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z  c + d</a:t>
                </a:r>
              </a:p>
            </p:txBody>
          </p:sp>
          <p:sp>
            <p:nvSpPr>
              <p:cNvPr id="21536" name="Text Box 11">
                <a:extLst>
                  <a:ext uri="{FF2B5EF4-FFF2-40B4-BE49-F238E27FC236}">
                    <a16:creationId xmlns:a16="http://schemas.microsoft.com/office/drawing/2014/main" id="{47C6D71D-9541-4AE0-96D3-448D42B4C3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1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G</a:t>
                </a:r>
              </a:p>
            </p:txBody>
          </p:sp>
        </p:grpSp>
        <p:sp>
          <p:nvSpPr>
            <p:cNvPr id="21515" name="Line 12">
              <a:extLst>
                <a:ext uri="{FF2B5EF4-FFF2-40B4-BE49-F238E27FC236}">
                  <a16:creationId xmlns:a16="http://schemas.microsoft.com/office/drawing/2014/main" id="{46B8B16B-499B-43E6-82BC-20C4C2FBF8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152"/>
              <a:ext cx="138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21516" name="Group 13">
              <a:extLst>
                <a:ext uri="{FF2B5EF4-FFF2-40B4-BE49-F238E27FC236}">
                  <a16:creationId xmlns:a16="http://schemas.microsoft.com/office/drawing/2014/main" id="{E2F34FFA-7E1C-45CA-96D9-608498F784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296"/>
              <a:ext cx="1056" cy="386"/>
              <a:chOff x="1248" y="864"/>
              <a:chExt cx="1056" cy="386"/>
            </a:xfrm>
          </p:grpSpPr>
          <p:sp>
            <p:nvSpPr>
              <p:cNvPr id="21533" name="Text Box 14">
                <a:extLst>
                  <a:ext uri="{FF2B5EF4-FFF2-40B4-BE49-F238E27FC236}">
                    <a16:creationId xmlns:a16="http://schemas.microsoft.com/office/drawing/2014/main" id="{DBF7C4F9-F247-4E01-BFCA-21E49F668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912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q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21534" name="Text Box 15">
                <a:extLst>
                  <a:ext uri="{FF2B5EF4-FFF2-40B4-BE49-F238E27FC236}">
                    <a16:creationId xmlns:a16="http://schemas.microsoft.com/office/drawing/2014/main" id="{9F24FAF5-83C3-4E59-A70D-901C8413D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86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C</a:t>
                </a:r>
              </a:p>
            </p:txBody>
          </p:sp>
        </p:grpSp>
        <p:grpSp>
          <p:nvGrpSpPr>
            <p:cNvPr id="21517" name="Group 16">
              <a:extLst>
                <a:ext uri="{FF2B5EF4-FFF2-40B4-BE49-F238E27FC236}">
                  <a16:creationId xmlns:a16="http://schemas.microsoft.com/office/drawing/2014/main" id="{9E8A7FAD-D7B8-4D08-944C-4334F0FD3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776"/>
              <a:ext cx="1104" cy="520"/>
              <a:chOff x="1680" y="1873"/>
              <a:chExt cx="1104" cy="520"/>
            </a:xfrm>
          </p:grpSpPr>
          <p:sp>
            <p:nvSpPr>
              <p:cNvPr id="21531" name="Text Box 17">
                <a:extLst>
                  <a:ext uri="{FF2B5EF4-FFF2-40B4-BE49-F238E27FC236}">
                    <a16:creationId xmlns:a16="http://schemas.microsoft.com/office/drawing/2014/main" id="{B42EF6F1-8C06-4AAC-8966-D43C98C3BE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921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b + 18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s 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</a:p>
            </p:txBody>
          </p:sp>
          <p:sp>
            <p:nvSpPr>
              <p:cNvPr id="21532" name="Text Box 18">
                <a:extLst>
                  <a:ext uri="{FF2B5EF4-FFF2-40B4-BE49-F238E27FC236}">
                    <a16:creationId xmlns:a16="http://schemas.microsoft.com/office/drawing/2014/main" id="{1E2FA13E-B3A3-4EAC-9FF6-F75525739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873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D</a:t>
                </a:r>
              </a:p>
            </p:txBody>
          </p:sp>
        </p:grpSp>
        <p:grpSp>
          <p:nvGrpSpPr>
            <p:cNvPr id="21518" name="Group 19">
              <a:extLst>
                <a:ext uri="{FF2B5EF4-FFF2-40B4-BE49-F238E27FC236}">
                  <a16:creationId xmlns:a16="http://schemas.microsoft.com/office/drawing/2014/main" id="{C4F5C59A-5F19-488D-A1FD-3FB96CC675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1104" cy="520"/>
              <a:chOff x="1680" y="2024"/>
              <a:chExt cx="1104" cy="520"/>
            </a:xfrm>
          </p:grpSpPr>
          <p:sp>
            <p:nvSpPr>
              <p:cNvPr id="21529" name="Text Box 20">
                <a:extLst>
                  <a:ext uri="{FF2B5EF4-FFF2-40B4-BE49-F238E27FC236}">
                    <a16:creationId xmlns:a16="http://schemas.microsoft.com/office/drawing/2014/main" id="{7C143EC7-AB49-41B0-B899-5D670C0EB2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72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+ 17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t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  <a:endParaRPr lang="en-US" altLang="it-IT" sz="1600">
                  <a:latin typeface="Courier"/>
                  <a:sym typeface="Symbol" panose="05050102010706020507" pitchFamily="18" charset="2"/>
                </a:endParaRPr>
              </a:p>
            </p:txBody>
          </p:sp>
          <p:sp>
            <p:nvSpPr>
              <p:cNvPr id="21530" name="Text Box 21">
                <a:extLst>
                  <a:ext uri="{FF2B5EF4-FFF2-40B4-BE49-F238E27FC236}">
                    <a16:creationId xmlns:a16="http://schemas.microsoft.com/office/drawing/2014/main" id="{885659CD-765E-4105-BBEE-8984A636B4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</p:grpSp>
        <p:sp>
          <p:nvSpPr>
            <p:cNvPr id="21519" name="Line 22">
              <a:extLst>
                <a:ext uri="{FF2B5EF4-FFF2-40B4-BE49-F238E27FC236}">
                  <a16:creationId xmlns:a16="http://schemas.microsoft.com/office/drawing/2014/main" id="{EA5A4803-F24F-4F89-A2CC-8A90BB2BE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1520" name="Line 23">
              <a:extLst>
                <a:ext uri="{FF2B5EF4-FFF2-40B4-BE49-F238E27FC236}">
                  <a16:creationId xmlns:a16="http://schemas.microsoft.com/office/drawing/2014/main" id="{F9ABFBBA-11EE-4081-82FD-D056F410C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1521" name="Line 24">
              <a:extLst>
                <a:ext uri="{FF2B5EF4-FFF2-40B4-BE49-F238E27FC236}">
                  <a16:creationId xmlns:a16="http://schemas.microsoft.com/office/drawing/2014/main" id="{55BD091A-E5D6-43A2-AC8A-56C6E2D31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52"/>
              <a:ext cx="33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1522" name="Line 25">
              <a:extLst>
                <a:ext uri="{FF2B5EF4-FFF2-40B4-BE49-F238E27FC236}">
                  <a16:creationId xmlns:a16="http://schemas.microsoft.com/office/drawing/2014/main" id="{70457F65-3D1C-488B-9834-815FA5832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680"/>
              <a:ext cx="336" cy="1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21523" name="Group 26">
              <a:extLst>
                <a:ext uri="{FF2B5EF4-FFF2-40B4-BE49-F238E27FC236}">
                  <a16:creationId xmlns:a16="http://schemas.microsoft.com/office/drawing/2014/main" id="{93B9AF11-C093-4CD7-B889-76CDAD67E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60"/>
              <a:ext cx="1248" cy="520"/>
              <a:chOff x="2208" y="2360"/>
              <a:chExt cx="1248" cy="520"/>
            </a:xfrm>
          </p:grpSpPr>
          <p:sp>
            <p:nvSpPr>
              <p:cNvPr id="21527" name="Text Box 27">
                <a:extLst>
                  <a:ext uri="{FF2B5EF4-FFF2-40B4-BE49-F238E27FC236}">
                    <a16:creationId xmlns:a16="http://schemas.microsoft.com/office/drawing/2014/main" id="{8F4F722B-924D-46F5-BD70-E2E3A174F5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408"/>
                <a:ext cx="1056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v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w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x  e + f</a:t>
                </a:r>
              </a:p>
            </p:txBody>
          </p:sp>
          <p:sp>
            <p:nvSpPr>
              <p:cNvPr id="21528" name="Text Box 28">
                <a:extLst>
                  <a:ext uri="{FF2B5EF4-FFF2-40B4-BE49-F238E27FC236}">
                    <a16:creationId xmlns:a16="http://schemas.microsoft.com/office/drawing/2014/main" id="{6310973F-A100-47E7-8396-5DF339B970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36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F</a:t>
                </a:r>
              </a:p>
            </p:txBody>
          </p:sp>
        </p:grpSp>
        <p:sp>
          <p:nvSpPr>
            <p:cNvPr id="21524" name="Line 29">
              <a:extLst>
                <a:ext uri="{FF2B5EF4-FFF2-40B4-BE49-F238E27FC236}">
                  <a16:creationId xmlns:a16="http://schemas.microsoft.com/office/drawing/2014/main" id="{51097711-DB85-4E6E-9122-BF94CD91F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04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1525" name="Line 30">
              <a:extLst>
                <a:ext uri="{FF2B5EF4-FFF2-40B4-BE49-F238E27FC236}">
                  <a16:creationId xmlns:a16="http://schemas.microsoft.com/office/drawing/2014/main" id="{CAFB1BFB-A4E6-4EE9-82E2-D255834B46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304"/>
              <a:ext cx="19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1526" name="Line 31">
              <a:extLst>
                <a:ext uri="{FF2B5EF4-FFF2-40B4-BE49-F238E27FC236}">
                  <a16:creationId xmlns:a16="http://schemas.microsoft.com/office/drawing/2014/main" id="{5539FA52-EA5F-44E0-B96A-24FCA693D8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880"/>
              <a:ext cx="9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21509" name="Text Box 32">
            <a:extLst>
              <a:ext uri="{FF2B5EF4-FFF2-40B4-BE49-F238E27FC236}">
                <a16:creationId xmlns:a16="http://schemas.microsoft.com/office/drawing/2014/main" id="{1827B5E9-F3F8-48CD-B83E-9C6D37E5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788" y="1285875"/>
            <a:ext cx="2946400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SzPct val="120000"/>
              <a:buFont typeface="Symbol" panose="05050102010706020507" pitchFamily="18" charset="2"/>
              <a:buNone/>
            </a:pPr>
            <a:r>
              <a:rPr lang="en-US" altLang="it-IT"/>
              <a:t>Control-flow graph (CFG)</a:t>
            </a:r>
          </a:p>
          <a:p>
            <a:pPr>
              <a:spcBef>
                <a:spcPct val="5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Nodes for basic blocks</a:t>
            </a:r>
          </a:p>
          <a:p>
            <a:pPr>
              <a:spcBef>
                <a:spcPct val="5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Edges for branches</a:t>
            </a:r>
          </a:p>
          <a:p>
            <a:pPr>
              <a:spcBef>
                <a:spcPct val="5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Basis for much of program analysis &amp; transformation</a:t>
            </a:r>
          </a:p>
        </p:txBody>
      </p:sp>
      <p:sp>
        <p:nvSpPr>
          <p:cNvPr id="21510" name="Text Box 33">
            <a:extLst>
              <a:ext uri="{FF2B5EF4-FFF2-40B4-BE49-F238E27FC236}">
                <a16:creationId xmlns:a16="http://schemas.microsoft.com/office/drawing/2014/main" id="{7BC989FB-89D7-4189-83AB-D86F46B7F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86275"/>
            <a:ext cx="3408363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This CFG, G = (N,E)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N = {A,B,C,D,E,F,G}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E = {(A,B),(A,C),(B,G),(C,D), (C,E),(D,F),(E,F),(F,E)}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/>
              <a:t>|N| = 7, |E| =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AAE52DFC-3B24-456B-9B5E-01D1851D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Scope of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E27B3-31D8-4413-A2E8-6F09BE14B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88" indent="-1588"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In scanning and parsing, “scope” refers to a region of the code that corresponds to a distinct name space.</a:t>
            </a:r>
          </a:p>
          <a:p>
            <a:pPr marL="1588" indent="-1588" eaLnBrk="1" hangingPunct="1">
              <a:spcBef>
                <a:spcPts val="84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In optimization “scope” refers to a region of the code that is subject to analysis and transformation.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Notions are somewhat related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Connection is not necessarily intuitive</a:t>
            </a:r>
          </a:p>
          <a:p>
            <a:pPr marL="1588" indent="-1588" eaLnBrk="1" hangingPunct="1">
              <a:buFont typeface="Times" charset="0"/>
              <a:buNone/>
              <a:defRPr/>
            </a:pPr>
            <a:r>
              <a:rPr lang="en-US" dirty="0"/>
              <a:t>Different scopes introduces different challenges &amp; different  opportunities</a:t>
            </a:r>
          </a:p>
          <a:p>
            <a:pPr marL="1588" indent="-1588" eaLnBrk="1" hangingPunct="1">
              <a:spcBef>
                <a:spcPts val="3000"/>
              </a:spcBef>
              <a:buFont typeface="Times" charset="0"/>
              <a:buNone/>
              <a:defRPr/>
            </a:pPr>
            <a:r>
              <a:rPr lang="en-US" dirty="0"/>
              <a:t>Historically, optimization has been performed at several distinct scopes.</a:t>
            </a:r>
          </a:p>
          <a:p>
            <a:pPr eaLnBrk="1" hangingPunct="1">
              <a:buFont typeface="Times" charset="0"/>
              <a:buNone/>
              <a:defRPr/>
            </a:pPr>
            <a:endParaRPr lang="en-US" dirty="0"/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0FFEEB2E-46D0-4090-A6B1-531C5BA7F9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8A550371-245D-4F9A-8111-99191F3D2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B0B5BCE-871C-4BFC-AAE8-0F9092D09615}" type="slidenum">
              <a:rPr lang="en-US" altLang="it-IT"/>
              <a:pPr/>
              <a:t>5</a:t>
            </a:fld>
            <a:endParaRPr lang="en-US" alt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547A69E2-875D-4975-9454-A9CB591B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Scope of Optimization</a:t>
            </a:r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1AF0F10D-B7B0-4C63-B233-2FC68913E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Local optimization</a:t>
            </a:r>
          </a:p>
          <a:p>
            <a:pPr eaLnBrk="1" hangingPunct="1"/>
            <a:r>
              <a:rPr lang="en-US" altLang="it-IT"/>
              <a:t>Operates entirely within a single basic block</a:t>
            </a:r>
          </a:p>
          <a:p>
            <a:pPr eaLnBrk="1" hangingPunct="1"/>
            <a:r>
              <a:rPr lang="en-US" altLang="it-IT"/>
              <a:t>Properties of block lead to strong optimizations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Regional optimization</a:t>
            </a:r>
          </a:p>
          <a:p>
            <a:pPr eaLnBrk="1" hangingPunct="1"/>
            <a:r>
              <a:rPr lang="en-US" altLang="it-IT"/>
              <a:t>Operate on a region in the CFG that contains multiple blocks</a:t>
            </a:r>
          </a:p>
          <a:p>
            <a:pPr eaLnBrk="1" hangingPunct="1"/>
            <a:r>
              <a:rPr lang="en-US" altLang="it-IT"/>
              <a:t>Loops, trees, paths, extended basic blocks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Whole procedure optimization  </a:t>
            </a:r>
            <a:r>
              <a:rPr lang="en-US" altLang="it-IT"/>
              <a:t>		   (</a:t>
            </a:r>
            <a:r>
              <a:rPr lang="en-US" altLang="it-IT" sz="1800" i="1"/>
              <a:t>in</a:t>
            </a:r>
            <a:r>
              <a:rPr lang="en-US" altLang="it-IT" sz="1800" i="1" u="sng"/>
              <a:t>tra</a:t>
            </a:r>
            <a:r>
              <a:rPr lang="en-US" altLang="it-IT" sz="1800" i="1"/>
              <a:t>procedural</a:t>
            </a:r>
            <a:r>
              <a:rPr lang="en-US" altLang="it-IT" sz="1000" i="1"/>
              <a:t> </a:t>
            </a:r>
            <a:r>
              <a:rPr lang="en-US" altLang="it-IT"/>
              <a:t>)</a:t>
            </a:r>
          </a:p>
          <a:p>
            <a:pPr eaLnBrk="1" hangingPunct="1"/>
            <a:r>
              <a:rPr lang="en-US" altLang="it-IT"/>
              <a:t>Operate on entire CFG for a procedure</a:t>
            </a:r>
          </a:p>
          <a:p>
            <a:pPr eaLnBrk="1" hangingPunct="1"/>
            <a:r>
              <a:rPr lang="en-US" altLang="it-IT"/>
              <a:t>Presence of cyclic paths forces analysis then transformation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Whole program optimization</a:t>
            </a:r>
            <a:r>
              <a:rPr lang="en-US" altLang="it-IT"/>
              <a:t>			  (</a:t>
            </a:r>
            <a:r>
              <a:rPr lang="en-US" altLang="it-IT" sz="1800" i="1"/>
              <a:t>in</a:t>
            </a:r>
            <a:r>
              <a:rPr lang="en-US" altLang="it-IT" sz="1800" i="1" u="sng"/>
              <a:t>ter</a:t>
            </a:r>
            <a:r>
              <a:rPr lang="en-US" altLang="it-IT" sz="1800" i="1"/>
              <a:t>procedural</a:t>
            </a:r>
            <a:r>
              <a:rPr lang="en-US" altLang="it-IT" sz="1000"/>
              <a:t> </a:t>
            </a:r>
            <a:r>
              <a:rPr lang="en-US" altLang="it-IT"/>
              <a:t>)</a:t>
            </a:r>
          </a:p>
          <a:p>
            <a:pPr eaLnBrk="1" hangingPunct="1"/>
            <a:r>
              <a:rPr lang="en-US" altLang="it-IT"/>
              <a:t>Operate on some or all of the call graph   (</a:t>
            </a:r>
            <a:r>
              <a:rPr lang="en-US" altLang="it-IT" sz="1800" i="1"/>
              <a:t>multiple procedures</a:t>
            </a:r>
            <a:r>
              <a:rPr lang="en-US" altLang="it-IT"/>
              <a:t>)</a:t>
            </a:r>
          </a:p>
          <a:p>
            <a:pPr eaLnBrk="1" hangingPunct="1"/>
            <a:r>
              <a:rPr lang="en-US" altLang="it-IT"/>
              <a:t>Must contend with call/return &amp; parameter binding</a:t>
            </a:r>
          </a:p>
        </p:txBody>
      </p:sp>
      <p:sp>
        <p:nvSpPr>
          <p:cNvPr id="24579" name="Footer Placeholder 3">
            <a:extLst>
              <a:ext uri="{FF2B5EF4-FFF2-40B4-BE49-F238E27FC236}">
                <a16:creationId xmlns:a16="http://schemas.microsoft.com/office/drawing/2014/main" id="{3203CFA3-3C08-417E-B606-FAB22656E2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C2F5CD64-667D-4DA7-AE9D-2DD9AF75D3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775EF28-F7E0-4742-9737-1232E59A1585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374B2-727C-424C-B860-0CB11394F8D4}"/>
              </a:ext>
            </a:extLst>
          </p:cNvPr>
          <p:cNvSpPr txBox="1"/>
          <p:nvPr/>
        </p:nvSpPr>
        <p:spPr>
          <a:xfrm>
            <a:off x="6511925" y="1312863"/>
            <a:ext cx="2514600" cy="461962"/>
          </a:xfrm>
          <a:prstGeom prst="rect">
            <a:avLst/>
          </a:prstGeom>
          <a:solidFill>
            <a:srgbClr val="BFBFBF"/>
          </a:solidFill>
          <a:ln w="1270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 basic block is a maximal length sequence of </a:t>
            </a:r>
            <a:r>
              <a:rPr lang="en-US" sz="12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straightline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51C788D7-93EF-42E4-9D34-82FC05CE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 Comp 412 Fairy Tale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432F-1C3F-4B01-86CA-2D4221F0D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We would like to believe optimization developed in an </a:t>
            </a:r>
          </a:p>
          <a:p>
            <a:pPr marL="0" indent="0" eaLnBrk="1" hangingPunct="1">
              <a:spcBef>
                <a:spcPts val="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orderly fashion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Local methods led to regional methods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Regional methods led to global methods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Global methods led to interprocedural methods</a:t>
            </a:r>
          </a:p>
          <a:p>
            <a:pPr eaLnBrk="1" hangingPunct="1">
              <a:buFont typeface="Times" charset="0"/>
              <a:buNone/>
              <a:defRPr/>
            </a:pPr>
            <a:endParaRPr lang="en-US" dirty="0"/>
          </a:p>
          <a:p>
            <a:pPr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It did not happen </a:t>
            </a:r>
            <a:r>
              <a:rPr lang="en-US">
                <a:solidFill>
                  <a:srgbClr val="003C75"/>
                </a:solidFill>
              </a:rPr>
              <a:t>that way</a:t>
            </a:r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First compiler, FORTRAN, used both local &amp; global methods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Development has been scattershot &amp; concurrent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Scope appears to relate to the inefficiency being attacked, rather than the refinement of the inventor.</a:t>
            </a:r>
          </a:p>
        </p:txBody>
      </p:sp>
      <p:sp>
        <p:nvSpPr>
          <p:cNvPr id="25603" name="Footer Placeholder 3">
            <a:extLst>
              <a:ext uri="{FF2B5EF4-FFF2-40B4-BE49-F238E27FC236}">
                <a16:creationId xmlns:a16="http://schemas.microsoft.com/office/drawing/2014/main" id="{1B12D8C3-4346-41EC-9E80-EB21D318D5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A4542816-E5D2-4C2C-8D33-3F6672F69B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840FD39-1567-4A18-8260-6320C527DBD6}" type="slidenum">
              <a:rPr lang="en-US" altLang="it-IT"/>
              <a:pPr/>
              <a:t>7</a:t>
            </a:fld>
            <a:endParaRPr lang="en-US" alt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884C580F-AC9F-4533-9D2E-CF14CC4BA6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EABA4A72-B4C5-4154-9F80-C59C7CB542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2BAA2AF-AABA-461D-9EAA-93223E823890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6627" name="Rectangle 15">
            <a:extLst>
              <a:ext uri="{FF2B5EF4-FFF2-40B4-BE49-F238E27FC236}">
                <a16:creationId xmlns:a16="http://schemas.microsoft.com/office/drawing/2014/main" id="{A52C8BE1-25E2-4A88-92F2-92E3192C7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Superlocal Value Numbering</a:t>
            </a:r>
          </a:p>
        </p:txBody>
      </p:sp>
      <p:grpSp>
        <p:nvGrpSpPr>
          <p:cNvPr id="26628" name="Group 16">
            <a:extLst>
              <a:ext uri="{FF2B5EF4-FFF2-40B4-BE49-F238E27FC236}">
                <a16:creationId xmlns:a16="http://schemas.microsoft.com/office/drawing/2014/main" id="{61F7EA04-C8F6-4167-B96A-6051D24360E8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5715000" cy="4117975"/>
            <a:chOff x="480" y="768"/>
            <a:chExt cx="3600" cy="2594"/>
          </a:xfrm>
        </p:grpSpPr>
        <p:sp>
          <p:nvSpPr>
            <p:cNvPr id="26635" name="Text Box 17">
              <a:extLst>
                <a:ext uri="{FF2B5EF4-FFF2-40B4-BE49-F238E27FC236}">
                  <a16:creationId xmlns:a16="http://schemas.microsoft.com/office/drawing/2014/main" id="{5C0E9597-6F86-4FBD-9C1A-67A5DE425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16"/>
              <a:ext cx="864" cy="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Courier"/>
                </a:rPr>
                <a:t>m </a:t>
              </a:r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n  a + b</a:t>
              </a:r>
              <a:endParaRPr lang="en-US" altLang="it-IT" sz="16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26636" name="Text Box 18">
              <a:extLst>
                <a:ext uri="{FF2B5EF4-FFF2-40B4-BE49-F238E27FC236}">
                  <a16:creationId xmlns:a16="http://schemas.microsoft.com/office/drawing/2014/main" id="{B932AE3C-E2FD-407E-9967-A6E7C587B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grpSp>
          <p:nvGrpSpPr>
            <p:cNvPr id="26637" name="Group 19">
              <a:extLst>
                <a:ext uri="{FF2B5EF4-FFF2-40B4-BE49-F238E27FC236}">
                  <a16:creationId xmlns:a16="http://schemas.microsoft.com/office/drawing/2014/main" id="{4F9E5A18-40DC-4F72-9E8A-0148A53B9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96"/>
              <a:ext cx="1056" cy="386"/>
              <a:chOff x="480" y="1401"/>
              <a:chExt cx="1056" cy="386"/>
            </a:xfrm>
          </p:grpSpPr>
          <p:sp>
            <p:nvSpPr>
              <p:cNvPr id="26661" name="Text Box 20">
                <a:extLst>
                  <a:ext uri="{FF2B5EF4-FFF2-40B4-BE49-F238E27FC236}">
                    <a16:creationId xmlns:a16="http://schemas.microsoft.com/office/drawing/2014/main" id="{FC3BB33D-77E1-4465-8DFF-E2E6CE1B3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449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p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26662" name="Text Box 21">
                <a:extLst>
                  <a:ext uri="{FF2B5EF4-FFF2-40B4-BE49-F238E27FC236}">
                    <a16:creationId xmlns:a16="http://schemas.microsoft.com/office/drawing/2014/main" id="{C98FD6C4-DA71-41BC-9E82-52BC702EEB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40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B</a:t>
                </a:r>
              </a:p>
            </p:txBody>
          </p:sp>
        </p:grpSp>
        <p:grpSp>
          <p:nvGrpSpPr>
            <p:cNvPr id="26638" name="Group 22">
              <a:extLst>
                <a:ext uri="{FF2B5EF4-FFF2-40B4-BE49-F238E27FC236}">
                  <a16:creationId xmlns:a16="http://schemas.microsoft.com/office/drawing/2014/main" id="{3DF8BBE3-D2E3-4A6C-BA2C-AD61D0D56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76"/>
              <a:ext cx="1296" cy="386"/>
              <a:chOff x="1344" y="3312"/>
              <a:chExt cx="1296" cy="386"/>
            </a:xfrm>
          </p:grpSpPr>
          <p:sp>
            <p:nvSpPr>
              <p:cNvPr id="26659" name="Text Box 23">
                <a:extLst>
                  <a:ext uri="{FF2B5EF4-FFF2-40B4-BE49-F238E27FC236}">
                    <a16:creationId xmlns:a16="http://schemas.microsoft.com/office/drawing/2014/main" id="{299D77AC-588B-47D2-947F-0B9ED1B59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60"/>
                <a:ext cx="110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y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z  c + d</a:t>
                </a:r>
              </a:p>
            </p:txBody>
          </p:sp>
          <p:sp>
            <p:nvSpPr>
              <p:cNvPr id="26660" name="Text Box 24">
                <a:extLst>
                  <a:ext uri="{FF2B5EF4-FFF2-40B4-BE49-F238E27FC236}">
                    <a16:creationId xmlns:a16="http://schemas.microsoft.com/office/drawing/2014/main" id="{D8AC5AE7-6EEB-4ACD-8C84-161FA7A3B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1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G</a:t>
                </a:r>
              </a:p>
            </p:txBody>
          </p:sp>
        </p:grpSp>
        <p:sp>
          <p:nvSpPr>
            <p:cNvPr id="26639" name="Line 25">
              <a:extLst>
                <a:ext uri="{FF2B5EF4-FFF2-40B4-BE49-F238E27FC236}">
                  <a16:creationId xmlns:a16="http://schemas.microsoft.com/office/drawing/2014/main" id="{E4BADEAC-23E7-4071-BFA1-F57A4D187C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152"/>
              <a:ext cx="138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26640" name="Group 26">
              <a:extLst>
                <a:ext uri="{FF2B5EF4-FFF2-40B4-BE49-F238E27FC236}">
                  <a16:creationId xmlns:a16="http://schemas.microsoft.com/office/drawing/2014/main" id="{EF08F8B5-B225-49E6-AB73-616B11FD1C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296"/>
              <a:ext cx="1056" cy="386"/>
              <a:chOff x="1248" y="864"/>
              <a:chExt cx="1056" cy="386"/>
            </a:xfrm>
          </p:grpSpPr>
          <p:sp>
            <p:nvSpPr>
              <p:cNvPr id="26657" name="Text Box 27">
                <a:extLst>
                  <a:ext uri="{FF2B5EF4-FFF2-40B4-BE49-F238E27FC236}">
                    <a16:creationId xmlns:a16="http://schemas.microsoft.com/office/drawing/2014/main" id="{F7DC1E15-6473-4DA7-8008-3C9D4B696C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912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q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26658" name="Text Box 28">
                <a:extLst>
                  <a:ext uri="{FF2B5EF4-FFF2-40B4-BE49-F238E27FC236}">
                    <a16:creationId xmlns:a16="http://schemas.microsoft.com/office/drawing/2014/main" id="{15D888B5-5E14-4475-86A9-665B86F1BE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86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C</a:t>
                </a:r>
              </a:p>
            </p:txBody>
          </p:sp>
        </p:grpSp>
        <p:grpSp>
          <p:nvGrpSpPr>
            <p:cNvPr id="26641" name="Group 29">
              <a:extLst>
                <a:ext uri="{FF2B5EF4-FFF2-40B4-BE49-F238E27FC236}">
                  <a16:creationId xmlns:a16="http://schemas.microsoft.com/office/drawing/2014/main" id="{9376A6B5-05D6-49F3-AB7D-4EA1A5C537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776"/>
              <a:ext cx="1104" cy="520"/>
              <a:chOff x="1680" y="1873"/>
              <a:chExt cx="1104" cy="520"/>
            </a:xfrm>
          </p:grpSpPr>
          <p:sp>
            <p:nvSpPr>
              <p:cNvPr id="26655" name="Text Box 30">
                <a:extLst>
                  <a:ext uri="{FF2B5EF4-FFF2-40B4-BE49-F238E27FC236}">
                    <a16:creationId xmlns:a16="http://schemas.microsoft.com/office/drawing/2014/main" id="{CD9248E3-BA4B-4838-8A85-FC98033CAC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921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b + 18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s 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</a:p>
            </p:txBody>
          </p:sp>
          <p:sp>
            <p:nvSpPr>
              <p:cNvPr id="26656" name="Text Box 31">
                <a:extLst>
                  <a:ext uri="{FF2B5EF4-FFF2-40B4-BE49-F238E27FC236}">
                    <a16:creationId xmlns:a16="http://schemas.microsoft.com/office/drawing/2014/main" id="{469A7991-B1A1-4B20-B9C1-3B632DA6A5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873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D</a:t>
                </a:r>
              </a:p>
            </p:txBody>
          </p:sp>
        </p:grpSp>
        <p:grpSp>
          <p:nvGrpSpPr>
            <p:cNvPr id="26642" name="Group 32">
              <a:extLst>
                <a:ext uri="{FF2B5EF4-FFF2-40B4-BE49-F238E27FC236}">
                  <a16:creationId xmlns:a16="http://schemas.microsoft.com/office/drawing/2014/main" id="{3C258225-78A5-4CF7-BC9E-B53074BDE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1104" cy="520"/>
              <a:chOff x="1680" y="2024"/>
              <a:chExt cx="1104" cy="520"/>
            </a:xfrm>
          </p:grpSpPr>
          <p:sp>
            <p:nvSpPr>
              <p:cNvPr id="26653" name="Text Box 33">
                <a:extLst>
                  <a:ext uri="{FF2B5EF4-FFF2-40B4-BE49-F238E27FC236}">
                    <a16:creationId xmlns:a16="http://schemas.microsoft.com/office/drawing/2014/main" id="{C6B002EF-B1DF-4D64-8AAE-34BBBB43A6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72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+ 17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t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  <a:endParaRPr lang="en-US" altLang="it-IT" sz="1600">
                  <a:latin typeface="Courier"/>
                  <a:sym typeface="Symbol" panose="05050102010706020507" pitchFamily="18" charset="2"/>
                </a:endParaRPr>
              </a:p>
            </p:txBody>
          </p:sp>
          <p:sp>
            <p:nvSpPr>
              <p:cNvPr id="26654" name="Text Box 34">
                <a:extLst>
                  <a:ext uri="{FF2B5EF4-FFF2-40B4-BE49-F238E27FC236}">
                    <a16:creationId xmlns:a16="http://schemas.microsoft.com/office/drawing/2014/main" id="{DDC4D3E9-4791-4B16-B5DA-F2119AB80B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</p:grpSp>
        <p:sp>
          <p:nvSpPr>
            <p:cNvPr id="26643" name="Line 35">
              <a:extLst>
                <a:ext uri="{FF2B5EF4-FFF2-40B4-BE49-F238E27FC236}">
                  <a16:creationId xmlns:a16="http://schemas.microsoft.com/office/drawing/2014/main" id="{239444D9-4CB3-417E-9EAA-90B33197D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6644" name="Line 36">
              <a:extLst>
                <a:ext uri="{FF2B5EF4-FFF2-40B4-BE49-F238E27FC236}">
                  <a16:creationId xmlns:a16="http://schemas.microsoft.com/office/drawing/2014/main" id="{20E05EB7-3BBF-440C-AD47-D1431F1AF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6645" name="Line 37">
              <a:extLst>
                <a:ext uri="{FF2B5EF4-FFF2-40B4-BE49-F238E27FC236}">
                  <a16:creationId xmlns:a16="http://schemas.microsoft.com/office/drawing/2014/main" id="{8898694D-3CCB-49AC-8B64-B940DA3B7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52"/>
              <a:ext cx="33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6646" name="Line 38">
              <a:extLst>
                <a:ext uri="{FF2B5EF4-FFF2-40B4-BE49-F238E27FC236}">
                  <a16:creationId xmlns:a16="http://schemas.microsoft.com/office/drawing/2014/main" id="{A614B533-97C5-49BF-8C97-E8E15DD46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680"/>
              <a:ext cx="336" cy="1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26647" name="Group 39">
              <a:extLst>
                <a:ext uri="{FF2B5EF4-FFF2-40B4-BE49-F238E27FC236}">
                  <a16:creationId xmlns:a16="http://schemas.microsoft.com/office/drawing/2014/main" id="{6AFBBE34-309F-43F1-A9A0-995FBBDEEC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60"/>
              <a:ext cx="1248" cy="520"/>
              <a:chOff x="2208" y="2360"/>
              <a:chExt cx="1248" cy="520"/>
            </a:xfrm>
          </p:grpSpPr>
          <p:sp>
            <p:nvSpPr>
              <p:cNvPr id="26651" name="Text Box 40">
                <a:extLst>
                  <a:ext uri="{FF2B5EF4-FFF2-40B4-BE49-F238E27FC236}">
                    <a16:creationId xmlns:a16="http://schemas.microsoft.com/office/drawing/2014/main" id="{3D9A2DAE-8D8A-48A5-81D9-ACA389DEC8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408"/>
                <a:ext cx="1056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v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w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x  e + f</a:t>
                </a:r>
              </a:p>
            </p:txBody>
          </p:sp>
          <p:sp>
            <p:nvSpPr>
              <p:cNvPr id="26652" name="Text Box 41">
                <a:extLst>
                  <a:ext uri="{FF2B5EF4-FFF2-40B4-BE49-F238E27FC236}">
                    <a16:creationId xmlns:a16="http://schemas.microsoft.com/office/drawing/2014/main" id="{A74595B7-26BA-4019-AFD5-EEC598165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36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F</a:t>
                </a:r>
              </a:p>
            </p:txBody>
          </p:sp>
        </p:grpSp>
        <p:sp>
          <p:nvSpPr>
            <p:cNvPr id="26648" name="Line 42">
              <a:extLst>
                <a:ext uri="{FF2B5EF4-FFF2-40B4-BE49-F238E27FC236}">
                  <a16:creationId xmlns:a16="http://schemas.microsoft.com/office/drawing/2014/main" id="{C512E873-5C2C-4B65-8C83-B30DABDD8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04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6649" name="Line 43">
              <a:extLst>
                <a:ext uri="{FF2B5EF4-FFF2-40B4-BE49-F238E27FC236}">
                  <a16:creationId xmlns:a16="http://schemas.microsoft.com/office/drawing/2014/main" id="{EB2D42EB-6D30-4F9A-900C-D25E8D0068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304"/>
              <a:ext cx="19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6650" name="Line 44">
              <a:extLst>
                <a:ext uri="{FF2B5EF4-FFF2-40B4-BE49-F238E27FC236}">
                  <a16:creationId xmlns:a16="http://schemas.microsoft.com/office/drawing/2014/main" id="{F4009E7B-BD20-4DFF-B5F6-AF843A00C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880"/>
              <a:ext cx="9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26629" name="Text Box 46">
            <a:extLst>
              <a:ext uri="{FF2B5EF4-FFF2-40B4-BE49-F238E27FC236}">
                <a16:creationId xmlns:a16="http://schemas.microsoft.com/office/drawing/2014/main" id="{05353685-B8ED-4432-B39C-92513F328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62166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latin typeface="Arial Rounded MT Bold" panose="020F0704030504030204" pitchFamily="34" charset="0"/>
              </a:rPr>
              <a:t>*</a:t>
            </a:r>
          </a:p>
        </p:txBody>
      </p:sp>
      <p:sp>
        <p:nvSpPr>
          <p:cNvPr id="29743" name="Text Box 47">
            <a:extLst>
              <a:ext uri="{FF2B5EF4-FFF2-40B4-BE49-F238E27FC236}">
                <a16:creationId xmlns:a16="http://schemas.microsoft.com/office/drawing/2014/main" id="{86DFB2DE-058C-48BB-B94B-3DE80EE05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263" y="1289050"/>
            <a:ext cx="3513137" cy="1108075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250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EBB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: 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A maximal set of blocks B</a:t>
            </a:r>
            <a:r>
              <a:rPr lang="en-US" sz="1600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1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B</a:t>
            </a:r>
            <a:r>
              <a:rPr lang="en-US" sz="1600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2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…, </a:t>
            </a:r>
            <a:r>
              <a:rPr lang="en-US" sz="16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sz="1600" i="1" baseline="-250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n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where each B</a:t>
            </a:r>
            <a:r>
              <a:rPr lang="en-US" sz="1600" i="1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i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except B</a:t>
            </a:r>
            <a:r>
              <a:rPr lang="en-US" sz="1600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1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has only exactly one predecessor and that block is in the EBB.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F7BD13F-6307-42D4-8C50-46499C6B602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139825"/>
            <a:ext cx="8458200" cy="5391150"/>
            <a:chOff x="381000" y="1143000"/>
            <a:chExt cx="8458200" cy="5391805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F69BB589-C0DA-4E64-B9EE-85CC1F6AA759}"/>
                </a:ext>
              </a:extLst>
            </p:cNvPr>
            <p:cNvSpPr/>
            <p:nvPr/>
          </p:nvSpPr>
          <p:spPr bwMode="auto">
            <a:xfrm>
              <a:off x="381000" y="1143000"/>
              <a:ext cx="5791200" cy="2614931"/>
            </a:xfrm>
            <a:prstGeom prst="roundRect">
              <a:avLst>
                <a:gd name="adj" fmla="val 10637"/>
              </a:avLst>
            </a:prstGeom>
            <a:noFill/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52FE2D7-52AF-4A9D-966C-DDA266217F77}"/>
                </a:ext>
              </a:extLst>
            </p:cNvPr>
            <p:cNvSpPr txBox="1"/>
            <p:nvPr/>
          </p:nvSpPr>
          <p:spPr>
            <a:xfrm>
              <a:off x="5257800" y="4118336"/>
              <a:ext cx="3581400" cy="241646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{A,B,C,D,E} is an EBB</a:t>
              </a:r>
            </a:p>
            <a:p>
              <a:pPr marL="174625" indent="-174625" eaLnBrk="0" hangingPunct="0">
                <a:spcBef>
                  <a:spcPts val="600"/>
                </a:spcBef>
                <a:buFont typeface="Arial"/>
                <a:buChar char="•"/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It has 3 paths: (A,B), (A,C,D), &amp; (A,C,E)</a:t>
              </a:r>
            </a:p>
            <a:p>
              <a:pPr marL="174625" indent="-174625" eaLnBrk="0" hangingPunct="0">
                <a:spcBef>
                  <a:spcPts val="600"/>
                </a:spcBef>
                <a:buFont typeface="Arial"/>
                <a:buChar char="•"/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Can sometimes treat each path as if it were a block</a:t>
              </a:r>
            </a:p>
            <a:p>
              <a:pPr marL="174625" indent="-174625" eaLnBrk="0" hangingPunct="0">
                <a:spcBef>
                  <a:spcPts val="600"/>
                </a:spcBef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{F} &amp; {G} are degenerate </a:t>
              </a:r>
              <a:r>
                <a:rPr lang="en-US" dirty="0" err="1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EBBs</a:t>
              </a:r>
              <a:endPara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  <a:p>
              <a:pPr marL="174625" indent="-174625" eaLnBrk="0" hangingPunct="0">
                <a:spcBef>
                  <a:spcPts val="1200"/>
                </a:spcBef>
                <a:defRPr/>
              </a:pPr>
              <a:r>
                <a:rPr lang="en-US" dirty="0" err="1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Superlocal</a:t>
              </a: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: “applied to an EBB”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71A945A-A3C3-4602-990D-9D78E1F321AC}"/>
              </a:ext>
            </a:extLst>
          </p:cNvPr>
          <p:cNvSpPr txBox="1"/>
          <p:nvPr/>
        </p:nvSpPr>
        <p:spPr>
          <a:xfrm>
            <a:off x="685800" y="190500"/>
            <a:ext cx="2438400" cy="36988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 Regional Technique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BAF56E88-5E0F-4415-82F2-610754FD90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0A235B3A-8931-41FC-9A9F-C406636FE2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1E44486-E125-413A-90D8-596AD8F87E3F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0867B1D0-AF60-42BF-AA19-35FC3C064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800600"/>
            <a:ext cx="1752600" cy="5334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A4353DB-5BEA-4077-9EA1-72E558226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810000"/>
            <a:ext cx="1676400" cy="7620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365D954-36F7-4601-8299-A7FD555104A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95400"/>
            <a:ext cx="2590800" cy="1371600"/>
            <a:chOff x="384" y="816"/>
            <a:chExt cx="1632" cy="864"/>
          </a:xfrm>
        </p:grpSpPr>
        <p:sp>
          <p:nvSpPr>
            <p:cNvPr id="28719" name="Rectangle 5">
              <a:extLst>
                <a:ext uri="{FF2B5EF4-FFF2-40B4-BE49-F238E27FC236}">
                  <a16:creationId xmlns:a16="http://schemas.microsoft.com/office/drawing/2014/main" id="{03D8E7EE-467C-46BF-8257-F38B4BA73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44"/>
              <a:ext cx="864" cy="33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720" name="Rectangle 6">
              <a:extLst>
                <a:ext uri="{FF2B5EF4-FFF2-40B4-BE49-F238E27FC236}">
                  <a16:creationId xmlns:a16="http://schemas.microsoft.com/office/drawing/2014/main" id="{1F16C925-034B-4261-8DD3-7C081856E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816"/>
              <a:ext cx="864" cy="33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DB169A5E-0AFF-4F59-9AD3-4C115AB64E56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295400"/>
            <a:ext cx="2895600" cy="2362200"/>
            <a:chOff x="1152" y="816"/>
            <a:chExt cx="1824" cy="1488"/>
          </a:xfrm>
        </p:grpSpPr>
        <p:sp>
          <p:nvSpPr>
            <p:cNvPr id="28716" name="Rectangle 8">
              <a:extLst>
                <a:ext uri="{FF2B5EF4-FFF2-40B4-BE49-F238E27FC236}">
                  <a16:creationId xmlns:a16="http://schemas.microsoft.com/office/drawing/2014/main" id="{98185D51-28F5-4C4E-8B17-93161A2C5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816"/>
              <a:ext cx="864" cy="33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717" name="Rectangle 9">
              <a:extLst>
                <a:ext uri="{FF2B5EF4-FFF2-40B4-BE49-F238E27FC236}">
                  <a16:creationId xmlns:a16="http://schemas.microsoft.com/office/drawing/2014/main" id="{9E20A0AB-9D07-44A0-BBCE-3D76BAE3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344"/>
              <a:ext cx="864" cy="33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718" name="Rectangle 10">
              <a:extLst>
                <a:ext uri="{FF2B5EF4-FFF2-40B4-BE49-F238E27FC236}">
                  <a16:creationId xmlns:a16="http://schemas.microsoft.com/office/drawing/2014/main" id="{5575D016-27AB-449C-8630-B62D0F850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824"/>
              <a:ext cx="912" cy="48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A53C9698-F187-4ACA-A8DE-4420E7600F9C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295400"/>
            <a:ext cx="4178300" cy="2339975"/>
            <a:chOff x="1152" y="816"/>
            <a:chExt cx="2632" cy="1474"/>
          </a:xfrm>
        </p:grpSpPr>
        <p:sp>
          <p:nvSpPr>
            <p:cNvPr id="28713" name="Rectangle 12">
              <a:extLst>
                <a:ext uri="{FF2B5EF4-FFF2-40B4-BE49-F238E27FC236}">
                  <a16:creationId xmlns:a16="http://schemas.microsoft.com/office/drawing/2014/main" id="{E7CE04D1-41FA-4D4D-A526-55AC22091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816"/>
              <a:ext cx="864" cy="33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714" name="Rectangle 13">
              <a:extLst>
                <a:ext uri="{FF2B5EF4-FFF2-40B4-BE49-F238E27FC236}">
                  <a16:creationId xmlns:a16="http://schemas.microsoft.com/office/drawing/2014/main" id="{3E9452AF-91F0-4DD9-ACF4-ED27E5BBB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344"/>
              <a:ext cx="864" cy="33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715" name="Rectangle 14">
              <a:extLst>
                <a:ext uri="{FF2B5EF4-FFF2-40B4-BE49-F238E27FC236}">
                  <a16:creationId xmlns:a16="http://schemas.microsoft.com/office/drawing/2014/main" id="{920A26BB-22D7-4A9A-866A-F71A9E4E7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824"/>
              <a:ext cx="904" cy="46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28680" name="Rectangle 15">
            <a:extLst>
              <a:ext uri="{FF2B5EF4-FFF2-40B4-BE49-F238E27FC236}">
                <a16:creationId xmlns:a16="http://schemas.microsoft.com/office/drawing/2014/main" id="{6731648B-2439-4EFF-82ED-FC66E43BD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Superlocal Value Numbering</a:t>
            </a:r>
          </a:p>
        </p:txBody>
      </p:sp>
      <p:grpSp>
        <p:nvGrpSpPr>
          <p:cNvPr id="28681" name="Group 16">
            <a:extLst>
              <a:ext uri="{FF2B5EF4-FFF2-40B4-BE49-F238E27FC236}">
                <a16:creationId xmlns:a16="http://schemas.microsoft.com/office/drawing/2014/main" id="{629CAE0C-790A-469A-B16B-D3AA55C20E9E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5715000" cy="4117975"/>
            <a:chOff x="480" y="768"/>
            <a:chExt cx="3600" cy="2594"/>
          </a:xfrm>
        </p:grpSpPr>
        <p:sp>
          <p:nvSpPr>
            <p:cNvPr id="28685" name="Text Box 17">
              <a:extLst>
                <a:ext uri="{FF2B5EF4-FFF2-40B4-BE49-F238E27FC236}">
                  <a16:creationId xmlns:a16="http://schemas.microsoft.com/office/drawing/2014/main" id="{73536B1A-757F-4BB2-A606-37ECC691D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16"/>
              <a:ext cx="864" cy="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Courier"/>
                </a:rPr>
                <a:t>m </a:t>
              </a:r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n  a + b</a:t>
              </a:r>
              <a:endParaRPr lang="en-US" altLang="it-IT" sz="16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28686" name="Text Box 18">
              <a:extLst>
                <a:ext uri="{FF2B5EF4-FFF2-40B4-BE49-F238E27FC236}">
                  <a16:creationId xmlns:a16="http://schemas.microsoft.com/office/drawing/2014/main" id="{EC8E6EB2-1E8E-45FE-ABD8-AF459A685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grpSp>
          <p:nvGrpSpPr>
            <p:cNvPr id="28687" name="Group 19">
              <a:extLst>
                <a:ext uri="{FF2B5EF4-FFF2-40B4-BE49-F238E27FC236}">
                  <a16:creationId xmlns:a16="http://schemas.microsoft.com/office/drawing/2014/main" id="{63B7EF28-B052-4E47-B827-0D30E13290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96"/>
              <a:ext cx="1056" cy="386"/>
              <a:chOff x="480" y="1401"/>
              <a:chExt cx="1056" cy="386"/>
            </a:xfrm>
          </p:grpSpPr>
          <p:sp>
            <p:nvSpPr>
              <p:cNvPr id="28711" name="Text Box 20">
                <a:extLst>
                  <a:ext uri="{FF2B5EF4-FFF2-40B4-BE49-F238E27FC236}">
                    <a16:creationId xmlns:a16="http://schemas.microsoft.com/office/drawing/2014/main" id="{D431927C-BA3D-4CDD-A279-A7994C4E0B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449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p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28712" name="Text Box 21">
                <a:extLst>
                  <a:ext uri="{FF2B5EF4-FFF2-40B4-BE49-F238E27FC236}">
                    <a16:creationId xmlns:a16="http://schemas.microsoft.com/office/drawing/2014/main" id="{D1B802AC-A634-485D-A902-C006D5518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40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B</a:t>
                </a:r>
              </a:p>
            </p:txBody>
          </p:sp>
        </p:grpSp>
        <p:grpSp>
          <p:nvGrpSpPr>
            <p:cNvPr id="28688" name="Group 22">
              <a:extLst>
                <a:ext uri="{FF2B5EF4-FFF2-40B4-BE49-F238E27FC236}">
                  <a16:creationId xmlns:a16="http://schemas.microsoft.com/office/drawing/2014/main" id="{4486E07C-59EC-4939-9BDE-D4E6B5348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76"/>
              <a:ext cx="1296" cy="386"/>
              <a:chOff x="1344" y="3312"/>
              <a:chExt cx="1296" cy="386"/>
            </a:xfrm>
          </p:grpSpPr>
          <p:sp>
            <p:nvSpPr>
              <p:cNvPr id="28709" name="Text Box 23">
                <a:extLst>
                  <a:ext uri="{FF2B5EF4-FFF2-40B4-BE49-F238E27FC236}">
                    <a16:creationId xmlns:a16="http://schemas.microsoft.com/office/drawing/2014/main" id="{664CFFC0-EF29-4D8C-9497-5070E397B3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60"/>
                <a:ext cx="110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y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z  c + d</a:t>
                </a:r>
              </a:p>
            </p:txBody>
          </p:sp>
          <p:sp>
            <p:nvSpPr>
              <p:cNvPr id="28710" name="Text Box 24">
                <a:extLst>
                  <a:ext uri="{FF2B5EF4-FFF2-40B4-BE49-F238E27FC236}">
                    <a16:creationId xmlns:a16="http://schemas.microsoft.com/office/drawing/2014/main" id="{B3310210-B2A4-4D1D-8C36-111DD9EDA2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1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G</a:t>
                </a:r>
              </a:p>
            </p:txBody>
          </p:sp>
        </p:grpSp>
        <p:sp>
          <p:nvSpPr>
            <p:cNvPr id="28689" name="Line 25">
              <a:extLst>
                <a:ext uri="{FF2B5EF4-FFF2-40B4-BE49-F238E27FC236}">
                  <a16:creationId xmlns:a16="http://schemas.microsoft.com/office/drawing/2014/main" id="{014DD633-0952-4A4C-9E60-32702F459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152"/>
              <a:ext cx="138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28690" name="Group 26">
              <a:extLst>
                <a:ext uri="{FF2B5EF4-FFF2-40B4-BE49-F238E27FC236}">
                  <a16:creationId xmlns:a16="http://schemas.microsoft.com/office/drawing/2014/main" id="{53653CB9-81F3-4D3B-8464-33C77B0A2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296"/>
              <a:ext cx="1056" cy="386"/>
              <a:chOff x="1248" y="864"/>
              <a:chExt cx="1056" cy="386"/>
            </a:xfrm>
          </p:grpSpPr>
          <p:sp>
            <p:nvSpPr>
              <p:cNvPr id="28707" name="Text Box 27">
                <a:extLst>
                  <a:ext uri="{FF2B5EF4-FFF2-40B4-BE49-F238E27FC236}">
                    <a16:creationId xmlns:a16="http://schemas.microsoft.com/office/drawing/2014/main" id="{160C9ECC-8C15-4262-A97F-9F363B1594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912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q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  c + d</a:t>
                </a:r>
                <a:endParaRPr lang="en-US" altLang="it-IT" sz="1600" b="1">
                  <a:latin typeface="Monaco"/>
                  <a:sym typeface="Symbol" panose="05050102010706020507" pitchFamily="18" charset="2"/>
                </a:endParaRPr>
              </a:p>
            </p:txBody>
          </p:sp>
          <p:sp>
            <p:nvSpPr>
              <p:cNvPr id="28708" name="Text Box 28">
                <a:extLst>
                  <a:ext uri="{FF2B5EF4-FFF2-40B4-BE49-F238E27FC236}">
                    <a16:creationId xmlns:a16="http://schemas.microsoft.com/office/drawing/2014/main" id="{16554ED2-690F-499F-8FEB-8C3C6C2CB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86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C</a:t>
                </a:r>
              </a:p>
            </p:txBody>
          </p:sp>
        </p:grpSp>
        <p:grpSp>
          <p:nvGrpSpPr>
            <p:cNvPr id="28691" name="Group 29">
              <a:extLst>
                <a:ext uri="{FF2B5EF4-FFF2-40B4-BE49-F238E27FC236}">
                  <a16:creationId xmlns:a16="http://schemas.microsoft.com/office/drawing/2014/main" id="{B148FA69-EB66-43F5-9132-11D70A4D4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776"/>
              <a:ext cx="1104" cy="520"/>
              <a:chOff x="1680" y="1873"/>
              <a:chExt cx="1104" cy="520"/>
            </a:xfrm>
          </p:grpSpPr>
          <p:sp>
            <p:nvSpPr>
              <p:cNvPr id="28705" name="Text Box 30">
                <a:extLst>
                  <a:ext uri="{FF2B5EF4-FFF2-40B4-BE49-F238E27FC236}">
                    <a16:creationId xmlns:a16="http://schemas.microsoft.com/office/drawing/2014/main" id="{7CF4B4FB-B1B0-44CA-8A7E-1883C978F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921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b + 18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s 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</a:p>
            </p:txBody>
          </p:sp>
          <p:sp>
            <p:nvSpPr>
              <p:cNvPr id="28706" name="Text Box 31">
                <a:extLst>
                  <a:ext uri="{FF2B5EF4-FFF2-40B4-BE49-F238E27FC236}">
                    <a16:creationId xmlns:a16="http://schemas.microsoft.com/office/drawing/2014/main" id="{D3019C21-A9D5-4A95-BF26-D71983FD53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873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D</a:t>
                </a:r>
              </a:p>
            </p:txBody>
          </p:sp>
        </p:grpSp>
        <p:grpSp>
          <p:nvGrpSpPr>
            <p:cNvPr id="28692" name="Group 32">
              <a:extLst>
                <a:ext uri="{FF2B5EF4-FFF2-40B4-BE49-F238E27FC236}">
                  <a16:creationId xmlns:a16="http://schemas.microsoft.com/office/drawing/2014/main" id="{3C34F754-BCBF-43B3-8C0B-0DCC5D551F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1104" cy="520"/>
              <a:chOff x="1680" y="2024"/>
              <a:chExt cx="1104" cy="520"/>
            </a:xfrm>
          </p:grpSpPr>
          <p:sp>
            <p:nvSpPr>
              <p:cNvPr id="28703" name="Text Box 33">
                <a:extLst>
                  <a:ext uri="{FF2B5EF4-FFF2-40B4-BE49-F238E27FC236}">
                    <a16:creationId xmlns:a16="http://schemas.microsoft.com/office/drawing/2014/main" id="{9B3CBF0A-CA99-4BC5-ABD3-4D925B7737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72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+ 17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t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  e + f</a:t>
                </a:r>
                <a:endParaRPr lang="en-US" altLang="it-IT" sz="1600">
                  <a:latin typeface="Courier"/>
                  <a:sym typeface="Symbol" panose="05050102010706020507" pitchFamily="18" charset="2"/>
                </a:endParaRPr>
              </a:p>
            </p:txBody>
          </p:sp>
          <p:sp>
            <p:nvSpPr>
              <p:cNvPr id="28704" name="Text Box 34">
                <a:extLst>
                  <a:ext uri="{FF2B5EF4-FFF2-40B4-BE49-F238E27FC236}">
                    <a16:creationId xmlns:a16="http://schemas.microsoft.com/office/drawing/2014/main" id="{B930440E-8D33-46E7-9ED6-7A4A4B8847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</p:grpSp>
        <p:sp>
          <p:nvSpPr>
            <p:cNvPr id="28693" name="Line 35">
              <a:extLst>
                <a:ext uri="{FF2B5EF4-FFF2-40B4-BE49-F238E27FC236}">
                  <a16:creationId xmlns:a16="http://schemas.microsoft.com/office/drawing/2014/main" id="{56D6D01A-24F3-4A46-91DC-46C0E719B2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694" name="Line 36">
              <a:extLst>
                <a:ext uri="{FF2B5EF4-FFF2-40B4-BE49-F238E27FC236}">
                  <a16:creationId xmlns:a16="http://schemas.microsoft.com/office/drawing/2014/main" id="{E94C90C2-74D3-40CA-96C9-43A474E02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695" name="Line 37">
              <a:extLst>
                <a:ext uri="{FF2B5EF4-FFF2-40B4-BE49-F238E27FC236}">
                  <a16:creationId xmlns:a16="http://schemas.microsoft.com/office/drawing/2014/main" id="{1151393A-FA91-48D0-A9CE-320479932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52"/>
              <a:ext cx="33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696" name="Line 38">
              <a:extLst>
                <a:ext uri="{FF2B5EF4-FFF2-40B4-BE49-F238E27FC236}">
                  <a16:creationId xmlns:a16="http://schemas.microsoft.com/office/drawing/2014/main" id="{F0714320-EB3C-4E7E-BD2B-EE5EC8FD1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680"/>
              <a:ext cx="336" cy="1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28697" name="Group 39">
              <a:extLst>
                <a:ext uri="{FF2B5EF4-FFF2-40B4-BE49-F238E27FC236}">
                  <a16:creationId xmlns:a16="http://schemas.microsoft.com/office/drawing/2014/main" id="{1599CB89-76F0-40F6-B418-95BCB7469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60"/>
              <a:ext cx="1248" cy="520"/>
              <a:chOff x="2208" y="2360"/>
              <a:chExt cx="1248" cy="520"/>
            </a:xfrm>
          </p:grpSpPr>
          <p:sp>
            <p:nvSpPr>
              <p:cNvPr id="28701" name="Text Box 40">
                <a:extLst>
                  <a:ext uri="{FF2B5EF4-FFF2-40B4-BE49-F238E27FC236}">
                    <a16:creationId xmlns:a16="http://schemas.microsoft.com/office/drawing/2014/main" id="{FA9A44AA-AD3F-4CC6-8BF5-63EB2386A7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408"/>
                <a:ext cx="1056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v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w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x  e + f</a:t>
                </a:r>
              </a:p>
            </p:txBody>
          </p:sp>
          <p:sp>
            <p:nvSpPr>
              <p:cNvPr id="28702" name="Text Box 41">
                <a:extLst>
                  <a:ext uri="{FF2B5EF4-FFF2-40B4-BE49-F238E27FC236}">
                    <a16:creationId xmlns:a16="http://schemas.microsoft.com/office/drawing/2014/main" id="{F520F17F-C82F-465F-ACE0-B9FC6B7FD1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36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F</a:t>
                </a:r>
              </a:p>
            </p:txBody>
          </p:sp>
        </p:grpSp>
        <p:sp>
          <p:nvSpPr>
            <p:cNvPr id="28698" name="Line 42">
              <a:extLst>
                <a:ext uri="{FF2B5EF4-FFF2-40B4-BE49-F238E27FC236}">
                  <a16:creationId xmlns:a16="http://schemas.microsoft.com/office/drawing/2014/main" id="{DFC643E2-6FCE-4D60-B0E9-F273314F5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04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699" name="Line 43">
              <a:extLst>
                <a:ext uri="{FF2B5EF4-FFF2-40B4-BE49-F238E27FC236}">
                  <a16:creationId xmlns:a16="http://schemas.microsoft.com/office/drawing/2014/main" id="{8439F306-B01C-4585-B8F6-3124B25674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304"/>
              <a:ext cx="19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700" name="Line 44">
              <a:extLst>
                <a:ext uri="{FF2B5EF4-FFF2-40B4-BE49-F238E27FC236}">
                  <a16:creationId xmlns:a16="http://schemas.microsoft.com/office/drawing/2014/main" id="{A3AF3FE3-1D8C-4617-BCF2-E0ECF984B0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880"/>
              <a:ext cx="9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29741" name="Text Box 45">
            <a:extLst>
              <a:ext uri="{FF2B5EF4-FFF2-40B4-BE49-F238E27FC236}">
                <a16:creationId xmlns:a16="http://schemas.microsoft.com/office/drawing/2014/main" id="{77E875F4-753A-433D-91CC-1DC705A27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087813"/>
            <a:ext cx="3563938" cy="216693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66688" indent="-166688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 Concept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166688" indent="-166688" eaLnBrk="0" hangingPunct="0">
              <a:lnSpc>
                <a:spcPct val="9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Apply local method to paths through the </a:t>
            </a:r>
            <a:r>
              <a:rPr lang="en-US" dirty="0" err="1">
                <a:latin typeface="Comic Sans MS" charset="0"/>
                <a:ea typeface="ヒラギノ角ゴ Pro W3" charset="-128"/>
                <a:cs typeface="ヒラギノ角ゴ Pro W3" charset="-128"/>
              </a:rPr>
              <a:t>EBBs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166688" indent="-166688" eaLnBrk="0" hangingPunct="0">
              <a:lnSpc>
                <a:spcPct val="9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Do {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A,B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}, {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A,C,D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}, &amp; {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A,C,E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}</a:t>
            </a:r>
          </a:p>
          <a:p>
            <a:pPr marL="166688" indent="-166688" eaLnBrk="0" hangingPunct="0">
              <a:lnSpc>
                <a:spcPct val="9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Obtain reuse from ancestors</a:t>
            </a:r>
          </a:p>
          <a:p>
            <a:pPr marL="166688" indent="-166688" eaLnBrk="0" hangingPunct="0">
              <a:lnSpc>
                <a:spcPct val="9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Avoid re-analyzing A &amp; C</a:t>
            </a:r>
          </a:p>
          <a:p>
            <a:pPr marL="166688" indent="-166688" eaLnBrk="0" hangingPunct="0">
              <a:lnSpc>
                <a:spcPct val="9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Does not help with F or G</a:t>
            </a:r>
            <a:endParaRPr lang="en-US" dirty="0">
              <a:latin typeface="Arial Rounded MT Bold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28683" name="Text Box 46">
            <a:extLst>
              <a:ext uri="{FF2B5EF4-FFF2-40B4-BE49-F238E27FC236}">
                <a16:creationId xmlns:a16="http://schemas.microsoft.com/office/drawing/2014/main" id="{06E5BED1-646D-4951-B104-0A1DD5BCE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62166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latin typeface="Arial Rounded MT Bold" panose="020F0704030504030204" pitchFamily="34" charset="0"/>
              </a:rPr>
              <a:t>*</a:t>
            </a:r>
          </a:p>
        </p:txBody>
      </p:sp>
      <p:sp>
        <p:nvSpPr>
          <p:cNvPr id="29743" name="Text Box 47">
            <a:extLst>
              <a:ext uri="{FF2B5EF4-FFF2-40B4-BE49-F238E27FC236}">
                <a16:creationId xmlns:a16="http://schemas.microsoft.com/office/drawing/2014/main" id="{CC09D034-8D91-434E-B496-0DE1DB73B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263" y="1262063"/>
            <a:ext cx="3513137" cy="1100137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25000"/>
              </a:spcBef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EBB: 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A maximal set of blocks B</a:t>
            </a:r>
            <a:r>
              <a:rPr lang="en-US" sz="1600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1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B</a:t>
            </a:r>
            <a:r>
              <a:rPr lang="en-US" sz="1600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2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…, </a:t>
            </a:r>
            <a:r>
              <a:rPr lang="en-US" sz="16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sz="1600" i="1" baseline="-250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n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where each B</a:t>
            </a:r>
            <a:r>
              <a:rPr lang="en-US" sz="1600" i="1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i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except B</a:t>
            </a:r>
            <a:r>
              <a:rPr lang="en-US" sz="1600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1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has only exactly one predecessor and that block is in the EBB.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nimBg="1"/>
      <p:bldP spid="2969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F73CC297-1C4E-4D02-9DEA-DF2492CFE4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08F9410A-0C10-41FF-A6A9-2E8A9C2818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3BEDF9B-0355-4838-AC34-D942254C5B0C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AE51B33-B1E7-404C-AF6E-2F04B7A39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Superlocal Value Numbering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959B7E17-7E4D-47AD-BA35-E2DD3C7A47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Efficiency</a:t>
            </a:r>
          </a:p>
          <a:p>
            <a:pPr eaLnBrk="1" hangingPunct="1"/>
            <a:r>
              <a:rPr lang="en-US" altLang="it-IT"/>
              <a:t>Use A’s table to initialize tables for B &amp; C</a:t>
            </a:r>
          </a:p>
          <a:p>
            <a:pPr eaLnBrk="1" hangingPunct="1"/>
            <a:r>
              <a:rPr lang="en-US" altLang="it-IT"/>
              <a:t>To avoid duplication, use a scoped hash table</a:t>
            </a:r>
          </a:p>
          <a:p>
            <a:pPr lvl="1" eaLnBrk="1" hangingPunct="1"/>
            <a:r>
              <a:rPr lang="en-US" altLang="it-IT"/>
              <a:t>A, AB, A, AC, ACD, AC, ACE, F, G</a:t>
            </a:r>
          </a:p>
          <a:p>
            <a:pPr eaLnBrk="1" hangingPunct="1"/>
            <a:r>
              <a:rPr lang="en-US" altLang="it-IT"/>
              <a:t>Need a </a:t>
            </a:r>
            <a:r>
              <a:rPr lang="en-US" altLang="it-IT" sz="1800">
                <a:solidFill>
                  <a:srgbClr val="003C75"/>
                </a:solidFill>
              </a:rPr>
              <a:t>VN</a:t>
            </a:r>
            <a:r>
              <a:rPr lang="en-US" altLang="it-IT" sz="800">
                <a:solidFill>
                  <a:srgbClr val="003C75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800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name </a:t>
            </a:r>
            <a:r>
              <a:rPr lang="en-US" altLang="it-IT">
                <a:sym typeface="Symbol" panose="05050102010706020507" pitchFamily="18" charset="2"/>
              </a:rPr>
              <a:t>mapping to handle kills</a:t>
            </a:r>
            <a:endParaRPr lang="en-US" altLang="it-IT"/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Must restore map with scope</a:t>
            </a:r>
          </a:p>
          <a:p>
            <a:pPr lvl="1" eaLnBrk="1" hangingPunct="1"/>
            <a:r>
              <a:rPr lang="en-US" altLang="it-IT"/>
              <a:t>Adds complication, not cost</a:t>
            </a:r>
          </a:p>
        </p:txBody>
      </p:sp>
      <p:grpSp>
        <p:nvGrpSpPr>
          <p:cNvPr id="30725" name="Group 5">
            <a:extLst>
              <a:ext uri="{FF2B5EF4-FFF2-40B4-BE49-F238E27FC236}">
                <a16:creationId xmlns:a16="http://schemas.microsoft.com/office/drawing/2014/main" id="{A8F870E6-7D7A-4DB2-8E56-04BA4B6D4E6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971800"/>
            <a:ext cx="4287838" cy="3095625"/>
            <a:chOff x="480" y="768"/>
            <a:chExt cx="2701" cy="1950"/>
          </a:xfrm>
        </p:grpSpPr>
        <p:sp>
          <p:nvSpPr>
            <p:cNvPr id="30729" name="Text Box 6">
              <a:extLst>
                <a:ext uri="{FF2B5EF4-FFF2-40B4-BE49-F238E27FC236}">
                  <a16:creationId xmlns:a16="http://schemas.microsoft.com/office/drawing/2014/main" id="{2C602159-93FF-4F42-8609-C990E9330E6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00" y="804"/>
              <a:ext cx="649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m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n  a + b</a:t>
              </a:r>
              <a:endParaRPr lang="en-US" altLang="it-IT" sz="12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30730" name="Text Box 7">
              <a:extLst>
                <a:ext uri="{FF2B5EF4-FFF2-40B4-BE49-F238E27FC236}">
                  <a16:creationId xmlns:a16="http://schemas.microsoft.com/office/drawing/2014/main" id="{26BAE183-BAE3-46DD-A08C-BC3BFD1229B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56" y="768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30731" name="Text Box 8">
              <a:extLst>
                <a:ext uri="{FF2B5EF4-FFF2-40B4-BE49-F238E27FC236}">
                  <a16:creationId xmlns:a16="http://schemas.microsoft.com/office/drawing/2014/main" id="{A1F134A1-76D2-4384-B4A5-7E3186A12DC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24" y="1200"/>
              <a:ext cx="64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p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c + d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r  c + d</a:t>
              </a:r>
              <a:endParaRPr lang="en-US" altLang="it-IT" sz="12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30732" name="Text Box 9">
              <a:extLst>
                <a:ext uri="{FF2B5EF4-FFF2-40B4-BE49-F238E27FC236}">
                  <a16:creationId xmlns:a16="http://schemas.microsoft.com/office/drawing/2014/main" id="{EA72F07F-9DCC-4FD7-8CE0-4BF44FD200C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0" y="116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B</a:t>
              </a:r>
            </a:p>
          </p:txBody>
        </p:sp>
        <p:sp>
          <p:nvSpPr>
            <p:cNvPr id="30733" name="Text Box 10">
              <a:extLst>
                <a:ext uri="{FF2B5EF4-FFF2-40B4-BE49-F238E27FC236}">
                  <a16:creationId xmlns:a16="http://schemas.microsoft.com/office/drawing/2014/main" id="{AE1B40D0-03DC-494F-9FF3-8A8A4735BE6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2460"/>
              <a:ext cx="829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y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z  c + d</a:t>
              </a:r>
            </a:p>
          </p:txBody>
        </p:sp>
        <p:sp>
          <p:nvSpPr>
            <p:cNvPr id="30734" name="Text Box 11">
              <a:extLst>
                <a:ext uri="{FF2B5EF4-FFF2-40B4-BE49-F238E27FC236}">
                  <a16:creationId xmlns:a16="http://schemas.microsoft.com/office/drawing/2014/main" id="{7524BE6C-D9FA-4BD8-B56A-8A71410972C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28" y="242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G</a:t>
              </a:r>
            </a:p>
          </p:txBody>
        </p:sp>
        <p:sp>
          <p:nvSpPr>
            <p:cNvPr id="30735" name="Line 12">
              <a:extLst>
                <a:ext uri="{FF2B5EF4-FFF2-40B4-BE49-F238E27FC236}">
                  <a16:creationId xmlns:a16="http://schemas.microsoft.com/office/drawing/2014/main" id="{BB0B39ED-2995-4FA2-84FD-A170AC191F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36" y="1056"/>
              <a:ext cx="104" cy="1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0736" name="Text Box 13">
              <a:extLst>
                <a:ext uri="{FF2B5EF4-FFF2-40B4-BE49-F238E27FC236}">
                  <a16:creationId xmlns:a16="http://schemas.microsoft.com/office/drawing/2014/main" id="{A0EDB81E-05F6-4DCB-AC24-CEB515CD9AF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20" y="1200"/>
              <a:ext cx="649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q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r  c + d</a:t>
              </a:r>
              <a:endParaRPr lang="en-US" altLang="it-IT" sz="12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30737" name="Text Box 14">
              <a:extLst>
                <a:ext uri="{FF2B5EF4-FFF2-40B4-BE49-F238E27FC236}">
                  <a16:creationId xmlns:a16="http://schemas.microsoft.com/office/drawing/2014/main" id="{90386932-D486-40A1-B7E3-C23BE1A0DEB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6" y="116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C</a:t>
              </a:r>
            </a:p>
          </p:txBody>
        </p:sp>
        <p:sp>
          <p:nvSpPr>
            <p:cNvPr id="30738" name="Text Box 15">
              <a:extLst>
                <a:ext uri="{FF2B5EF4-FFF2-40B4-BE49-F238E27FC236}">
                  <a16:creationId xmlns:a16="http://schemas.microsoft.com/office/drawing/2014/main" id="{5D42AE38-43F8-4524-A8A0-A13F0F9EEF1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80" y="1560"/>
              <a:ext cx="685" cy="3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e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b + 18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s 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u  e + f</a:t>
              </a:r>
            </a:p>
          </p:txBody>
        </p:sp>
        <p:sp>
          <p:nvSpPr>
            <p:cNvPr id="30739" name="Text Box 16">
              <a:extLst>
                <a:ext uri="{FF2B5EF4-FFF2-40B4-BE49-F238E27FC236}">
                  <a16:creationId xmlns:a16="http://schemas.microsoft.com/office/drawing/2014/main" id="{C1E95951-6E4D-41F6-B2DA-DE8CA3096F3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36" y="152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30740" name="Text Box 17">
              <a:extLst>
                <a:ext uri="{FF2B5EF4-FFF2-40B4-BE49-F238E27FC236}">
                  <a16:creationId xmlns:a16="http://schemas.microsoft.com/office/drawing/2014/main" id="{87FACD66-1205-48F2-B642-E31255E4C16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97" y="1560"/>
              <a:ext cx="684" cy="3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e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+ 17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t  c + d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u  e + f</a:t>
              </a:r>
              <a:endParaRPr lang="en-US" altLang="it-IT" sz="1200">
                <a:latin typeface="Courier"/>
                <a:sym typeface="Symbol" panose="05050102010706020507" pitchFamily="18" charset="2"/>
              </a:endParaRPr>
            </a:p>
          </p:txBody>
        </p:sp>
        <p:sp>
          <p:nvSpPr>
            <p:cNvPr id="30741" name="Text Box 18">
              <a:extLst>
                <a:ext uri="{FF2B5EF4-FFF2-40B4-BE49-F238E27FC236}">
                  <a16:creationId xmlns:a16="http://schemas.microsoft.com/office/drawing/2014/main" id="{A6B03469-534D-4638-A390-B240964D86E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53" y="152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30742" name="Line 19">
              <a:extLst>
                <a:ext uri="{FF2B5EF4-FFF2-40B4-BE49-F238E27FC236}">
                  <a16:creationId xmlns:a16="http://schemas.microsoft.com/office/drawing/2014/main" id="{3F39AA51-E2A6-4F8B-B730-9F86101D2A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993" y="1452"/>
              <a:ext cx="108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0743" name="Line 20">
              <a:extLst>
                <a:ext uri="{FF2B5EF4-FFF2-40B4-BE49-F238E27FC236}">
                  <a16:creationId xmlns:a16="http://schemas.microsoft.com/office/drawing/2014/main" id="{94BB8789-A9E3-4F10-A6FE-8F212FF6ED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7" y="1452"/>
              <a:ext cx="108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0744" name="Line 21">
              <a:extLst>
                <a:ext uri="{FF2B5EF4-FFF2-40B4-BE49-F238E27FC236}">
                  <a16:creationId xmlns:a16="http://schemas.microsoft.com/office/drawing/2014/main" id="{08206FF8-7C6D-45FE-87C7-C831803296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12" y="1056"/>
              <a:ext cx="253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0745" name="Line 22">
              <a:extLst>
                <a:ext uri="{FF2B5EF4-FFF2-40B4-BE49-F238E27FC236}">
                  <a16:creationId xmlns:a16="http://schemas.microsoft.com/office/drawing/2014/main" id="{5F06B38A-3A15-4032-BA90-26631261CC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64" y="1452"/>
              <a:ext cx="252" cy="1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0746" name="Text Box 23">
              <a:extLst>
                <a:ext uri="{FF2B5EF4-FFF2-40B4-BE49-F238E27FC236}">
                  <a16:creationId xmlns:a16="http://schemas.microsoft.com/office/drawing/2014/main" id="{36F8381C-8901-4E5E-B210-A41D7FB5B2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20" y="1998"/>
              <a:ext cx="793" cy="3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v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w  c + d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x  e + f</a:t>
              </a:r>
            </a:p>
          </p:txBody>
        </p:sp>
        <p:sp>
          <p:nvSpPr>
            <p:cNvPr id="30747" name="Text Box 24">
              <a:extLst>
                <a:ext uri="{FF2B5EF4-FFF2-40B4-BE49-F238E27FC236}">
                  <a16:creationId xmlns:a16="http://schemas.microsoft.com/office/drawing/2014/main" id="{83810772-63E1-4997-A500-946C0C487A6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6" y="1962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F</a:t>
              </a:r>
            </a:p>
          </p:txBody>
        </p:sp>
        <p:sp>
          <p:nvSpPr>
            <p:cNvPr id="30748" name="Line 25">
              <a:extLst>
                <a:ext uri="{FF2B5EF4-FFF2-40B4-BE49-F238E27FC236}">
                  <a16:creationId xmlns:a16="http://schemas.microsoft.com/office/drawing/2014/main" id="{63C709CB-9DCA-479F-837E-710ED56C0C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57" y="1921"/>
              <a:ext cx="36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0749" name="Line 26">
              <a:extLst>
                <a:ext uri="{FF2B5EF4-FFF2-40B4-BE49-F238E27FC236}">
                  <a16:creationId xmlns:a16="http://schemas.microsoft.com/office/drawing/2014/main" id="{7C321D93-6E8A-4090-AEB8-7C6A8BDD49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497" y="1921"/>
              <a:ext cx="144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0750" name="Line 27">
              <a:extLst>
                <a:ext uri="{FF2B5EF4-FFF2-40B4-BE49-F238E27FC236}">
                  <a16:creationId xmlns:a16="http://schemas.microsoft.com/office/drawing/2014/main" id="{9BB4C182-345A-47E3-A4C5-76EF5E2F9A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029" y="2353"/>
              <a:ext cx="72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30726" name="Group 35">
            <a:extLst>
              <a:ext uri="{FF2B5EF4-FFF2-40B4-BE49-F238E27FC236}">
                <a16:creationId xmlns:a16="http://schemas.microsoft.com/office/drawing/2014/main" id="{7F1D53DF-94EF-4593-9776-060A3FA33F63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1922463"/>
            <a:ext cx="2889250" cy="827087"/>
            <a:chOff x="6025931" y="1905000"/>
            <a:chExt cx="2889469" cy="82769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2ADB687-2245-443A-86C3-BC8F6C5A825E}"/>
                </a:ext>
              </a:extLst>
            </p:cNvPr>
            <p:cNvSpPr txBox="1"/>
            <p:nvPr/>
          </p:nvSpPr>
          <p:spPr>
            <a:xfrm>
              <a:off x="7162667" y="1905000"/>
              <a:ext cx="1752733" cy="4622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“kill” is a re-definition of some name</a:t>
              </a:r>
            </a:p>
          </p:txBody>
        </p:sp>
        <p:sp>
          <p:nvSpPr>
            <p:cNvPr id="30728" name="Freeform 34">
              <a:extLst>
                <a:ext uri="{FF2B5EF4-FFF2-40B4-BE49-F238E27FC236}">
                  <a16:creationId xmlns:a16="http://schemas.microsoft.com/office/drawing/2014/main" id="{0399271C-2805-4EF5-857B-67E9851F7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5931" y="2014483"/>
              <a:ext cx="1129862" cy="718207"/>
            </a:xfrm>
            <a:custGeom>
              <a:avLst/>
              <a:gdLst>
                <a:gd name="T0" fmla="*/ 1129862 w 1129862"/>
                <a:gd name="T1" fmla="*/ 0 h 718207"/>
                <a:gd name="T2" fmla="*/ 481724 w 1129862"/>
                <a:gd name="T3" fmla="*/ 289034 h 718207"/>
                <a:gd name="T4" fmla="*/ 700690 w 1129862"/>
                <a:gd name="T5" fmla="*/ 332827 h 718207"/>
                <a:gd name="T6" fmla="*/ 0 w 1129862"/>
                <a:gd name="T7" fmla="*/ 718207 h 7182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9862"/>
                <a:gd name="T13" fmla="*/ 0 h 718207"/>
                <a:gd name="T14" fmla="*/ 1129862 w 1129862"/>
                <a:gd name="T15" fmla="*/ 718207 h 7182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9862" h="718207">
                  <a:moveTo>
                    <a:pt x="1129862" y="0"/>
                  </a:moveTo>
                  <a:cubicBezTo>
                    <a:pt x="841557" y="116781"/>
                    <a:pt x="553253" y="233563"/>
                    <a:pt x="481724" y="289034"/>
                  </a:cubicBezTo>
                  <a:cubicBezTo>
                    <a:pt x="410195" y="344505"/>
                    <a:pt x="780977" y="261298"/>
                    <a:pt x="700690" y="332827"/>
                  </a:cubicBezTo>
                  <a:cubicBezTo>
                    <a:pt x="620403" y="404356"/>
                    <a:pt x="0" y="718207"/>
                    <a:pt x="0" y="718207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424DEEA6-7EFD-4BFC-8D0A-22C857E86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F60462CA-CCEC-4563-94EC-DAC7EAABAA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0ED82ED-2416-43E8-9935-8FD4AC7F407A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E89365C-F8D6-49CA-A6D9-475F31345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Superlocal Value Numbering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AE390B2-DCFA-4ED6-A6D7-1AA7A4C4B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Efficiency</a:t>
            </a:r>
          </a:p>
          <a:p>
            <a:pPr eaLnBrk="1" hangingPunct="1"/>
            <a:r>
              <a:rPr lang="en-US" altLang="it-IT"/>
              <a:t>Use A’s table to initialize tables for B &amp; C</a:t>
            </a:r>
          </a:p>
          <a:p>
            <a:pPr eaLnBrk="1" hangingPunct="1"/>
            <a:r>
              <a:rPr lang="en-US" altLang="it-IT"/>
              <a:t>To avoid duplication, use a scoped hash table</a:t>
            </a:r>
          </a:p>
          <a:p>
            <a:pPr lvl="1" eaLnBrk="1" hangingPunct="1"/>
            <a:r>
              <a:rPr lang="en-US" altLang="it-IT"/>
              <a:t>A, AB, A, AC, ACD, AC, ACE, F, G</a:t>
            </a:r>
          </a:p>
          <a:p>
            <a:pPr eaLnBrk="1" hangingPunct="1"/>
            <a:r>
              <a:rPr lang="en-US" altLang="it-IT"/>
              <a:t>Need a </a:t>
            </a:r>
            <a:r>
              <a:rPr lang="en-US" altLang="it-IT" sz="1800">
                <a:solidFill>
                  <a:srgbClr val="003C75"/>
                </a:solidFill>
              </a:rPr>
              <a:t>VN</a:t>
            </a:r>
            <a:r>
              <a:rPr lang="en-US" altLang="it-IT" sz="800">
                <a:solidFill>
                  <a:srgbClr val="003C75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800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name </a:t>
            </a:r>
            <a:r>
              <a:rPr lang="en-US" altLang="it-IT">
                <a:sym typeface="Symbol" panose="05050102010706020507" pitchFamily="18" charset="2"/>
              </a:rPr>
              <a:t>mapping to handle kills</a:t>
            </a:r>
            <a:endParaRPr lang="en-US" altLang="it-IT"/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Must restore map with scope</a:t>
            </a:r>
          </a:p>
          <a:p>
            <a:pPr lvl="1" eaLnBrk="1" hangingPunct="1"/>
            <a:r>
              <a:rPr lang="en-US" altLang="it-IT"/>
              <a:t>Adds complication, not cost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To simplify matters</a:t>
            </a:r>
          </a:p>
          <a:p>
            <a:pPr eaLnBrk="1" hangingPunct="1"/>
            <a:r>
              <a:rPr lang="en-US" altLang="it-IT"/>
              <a:t>Need</a:t>
            </a:r>
            <a:r>
              <a:rPr lang="en-US" altLang="it-IT" i="1"/>
              <a:t> unique name </a:t>
            </a:r>
            <a:r>
              <a:rPr lang="en-US" altLang="it-IT"/>
              <a:t>for each definition</a:t>
            </a:r>
          </a:p>
          <a:p>
            <a:pPr eaLnBrk="1" hangingPunct="1"/>
            <a:r>
              <a:rPr lang="en-US" altLang="it-IT"/>
              <a:t>Makes name </a:t>
            </a:r>
            <a:r>
              <a:rPr lang="en-US" altLang="it-IT">
                <a:sym typeface="Symbol" panose="05050102010706020507" pitchFamily="18" charset="2"/>
              </a:rPr>
              <a:t> VN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Use the </a:t>
            </a:r>
            <a:r>
              <a:rPr lang="en-US" altLang="it-IT" sz="1800">
                <a:sym typeface="Symbol" panose="05050102010706020507" pitchFamily="18" charset="2"/>
              </a:rPr>
              <a:t>SSA </a:t>
            </a:r>
            <a:r>
              <a:rPr lang="en-US" altLang="it-IT">
                <a:sym typeface="Symbol" panose="05050102010706020507" pitchFamily="18" charset="2"/>
              </a:rPr>
              <a:t>name space</a:t>
            </a:r>
            <a:endParaRPr lang="en-US" altLang="it-IT"/>
          </a:p>
        </p:txBody>
      </p:sp>
      <p:grpSp>
        <p:nvGrpSpPr>
          <p:cNvPr id="32773" name="Group 5">
            <a:extLst>
              <a:ext uri="{FF2B5EF4-FFF2-40B4-BE49-F238E27FC236}">
                <a16:creationId xmlns:a16="http://schemas.microsoft.com/office/drawing/2014/main" id="{952BFD52-26ED-48E6-B0B8-D55E7308777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971800"/>
            <a:ext cx="4287838" cy="3095625"/>
            <a:chOff x="480" y="768"/>
            <a:chExt cx="2701" cy="1950"/>
          </a:xfrm>
        </p:grpSpPr>
        <p:sp>
          <p:nvSpPr>
            <p:cNvPr id="32780" name="Text Box 6">
              <a:extLst>
                <a:ext uri="{FF2B5EF4-FFF2-40B4-BE49-F238E27FC236}">
                  <a16:creationId xmlns:a16="http://schemas.microsoft.com/office/drawing/2014/main" id="{8292E9F9-DC5B-4C30-A7A2-811D9EAA673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00" y="804"/>
              <a:ext cx="649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m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n  a + b</a:t>
              </a:r>
              <a:endParaRPr lang="en-US" altLang="it-IT" sz="12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32781" name="Text Box 7">
              <a:extLst>
                <a:ext uri="{FF2B5EF4-FFF2-40B4-BE49-F238E27FC236}">
                  <a16:creationId xmlns:a16="http://schemas.microsoft.com/office/drawing/2014/main" id="{4C028494-9C27-429F-BC2C-90F895BDBA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56" y="768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32782" name="Text Box 8">
              <a:extLst>
                <a:ext uri="{FF2B5EF4-FFF2-40B4-BE49-F238E27FC236}">
                  <a16:creationId xmlns:a16="http://schemas.microsoft.com/office/drawing/2014/main" id="{3E05A00F-A582-457D-BC20-0C050BC3A77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24" y="1200"/>
              <a:ext cx="64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p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c + d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r  c + d</a:t>
              </a:r>
              <a:endParaRPr lang="en-US" altLang="it-IT" sz="12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32783" name="Text Box 9">
              <a:extLst>
                <a:ext uri="{FF2B5EF4-FFF2-40B4-BE49-F238E27FC236}">
                  <a16:creationId xmlns:a16="http://schemas.microsoft.com/office/drawing/2014/main" id="{6C310F86-61DD-4290-BBEC-2DBC3A09D0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0" y="116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B</a:t>
              </a:r>
            </a:p>
          </p:txBody>
        </p:sp>
        <p:sp>
          <p:nvSpPr>
            <p:cNvPr id="32784" name="Text Box 10">
              <a:extLst>
                <a:ext uri="{FF2B5EF4-FFF2-40B4-BE49-F238E27FC236}">
                  <a16:creationId xmlns:a16="http://schemas.microsoft.com/office/drawing/2014/main" id="{975A2455-6943-4A41-A806-40C624CF903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2460"/>
              <a:ext cx="829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y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z  c + d</a:t>
              </a:r>
            </a:p>
          </p:txBody>
        </p:sp>
        <p:sp>
          <p:nvSpPr>
            <p:cNvPr id="32785" name="Text Box 11">
              <a:extLst>
                <a:ext uri="{FF2B5EF4-FFF2-40B4-BE49-F238E27FC236}">
                  <a16:creationId xmlns:a16="http://schemas.microsoft.com/office/drawing/2014/main" id="{1ED9251A-008A-43EC-9BF4-CF7A19900C9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28" y="242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G</a:t>
              </a:r>
            </a:p>
          </p:txBody>
        </p:sp>
        <p:sp>
          <p:nvSpPr>
            <p:cNvPr id="32786" name="Line 12">
              <a:extLst>
                <a:ext uri="{FF2B5EF4-FFF2-40B4-BE49-F238E27FC236}">
                  <a16:creationId xmlns:a16="http://schemas.microsoft.com/office/drawing/2014/main" id="{B5DE48B2-EAA9-4714-B333-80661DFACD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36" y="1056"/>
              <a:ext cx="104" cy="1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2787" name="Text Box 13">
              <a:extLst>
                <a:ext uri="{FF2B5EF4-FFF2-40B4-BE49-F238E27FC236}">
                  <a16:creationId xmlns:a16="http://schemas.microsoft.com/office/drawing/2014/main" id="{452AC9DC-F20D-44D1-BB70-2BBCC700F40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20" y="1200"/>
              <a:ext cx="649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q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r  c + d</a:t>
              </a:r>
              <a:endParaRPr lang="en-US" altLang="it-IT" sz="12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32788" name="Text Box 14">
              <a:extLst>
                <a:ext uri="{FF2B5EF4-FFF2-40B4-BE49-F238E27FC236}">
                  <a16:creationId xmlns:a16="http://schemas.microsoft.com/office/drawing/2014/main" id="{05337311-A46D-4408-A1A7-DD9272ABBBC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6" y="116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C</a:t>
              </a:r>
            </a:p>
          </p:txBody>
        </p:sp>
        <p:sp>
          <p:nvSpPr>
            <p:cNvPr id="32789" name="Text Box 15">
              <a:extLst>
                <a:ext uri="{FF2B5EF4-FFF2-40B4-BE49-F238E27FC236}">
                  <a16:creationId xmlns:a16="http://schemas.microsoft.com/office/drawing/2014/main" id="{BA93B65C-023D-4899-9B26-1F259D32431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80" y="1560"/>
              <a:ext cx="685" cy="3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e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b + 18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s 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u  e + f</a:t>
              </a:r>
            </a:p>
          </p:txBody>
        </p:sp>
        <p:sp>
          <p:nvSpPr>
            <p:cNvPr id="32790" name="Text Box 16">
              <a:extLst>
                <a:ext uri="{FF2B5EF4-FFF2-40B4-BE49-F238E27FC236}">
                  <a16:creationId xmlns:a16="http://schemas.microsoft.com/office/drawing/2014/main" id="{F6006D83-2C69-4ED1-8C40-35847362125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36" y="152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32791" name="Text Box 17">
              <a:extLst>
                <a:ext uri="{FF2B5EF4-FFF2-40B4-BE49-F238E27FC236}">
                  <a16:creationId xmlns:a16="http://schemas.microsoft.com/office/drawing/2014/main" id="{ECDCA3AC-4B2F-42D9-8AE2-073A7FF3B3B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97" y="1560"/>
              <a:ext cx="684" cy="3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e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+ 17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t  c + d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u  e + f</a:t>
              </a:r>
              <a:endParaRPr lang="en-US" altLang="it-IT" sz="1200">
                <a:latin typeface="Courier"/>
                <a:sym typeface="Symbol" panose="05050102010706020507" pitchFamily="18" charset="2"/>
              </a:endParaRPr>
            </a:p>
          </p:txBody>
        </p:sp>
        <p:sp>
          <p:nvSpPr>
            <p:cNvPr id="32792" name="Text Box 18">
              <a:extLst>
                <a:ext uri="{FF2B5EF4-FFF2-40B4-BE49-F238E27FC236}">
                  <a16:creationId xmlns:a16="http://schemas.microsoft.com/office/drawing/2014/main" id="{4EAA0B02-F538-49A9-895C-650ED4C5CFA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53" y="1524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32793" name="Line 19">
              <a:extLst>
                <a:ext uri="{FF2B5EF4-FFF2-40B4-BE49-F238E27FC236}">
                  <a16:creationId xmlns:a16="http://schemas.microsoft.com/office/drawing/2014/main" id="{5B6C823A-C5F7-4B01-8765-A0EC09A7C3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993" y="1452"/>
              <a:ext cx="108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2794" name="Line 20">
              <a:extLst>
                <a:ext uri="{FF2B5EF4-FFF2-40B4-BE49-F238E27FC236}">
                  <a16:creationId xmlns:a16="http://schemas.microsoft.com/office/drawing/2014/main" id="{D7EF23EA-F82A-4911-83FE-32D98FD6A8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7" y="1452"/>
              <a:ext cx="108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2795" name="Line 21">
              <a:extLst>
                <a:ext uri="{FF2B5EF4-FFF2-40B4-BE49-F238E27FC236}">
                  <a16:creationId xmlns:a16="http://schemas.microsoft.com/office/drawing/2014/main" id="{065D1415-C9A4-412A-A2CE-33657EC6F6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12" y="1056"/>
              <a:ext cx="253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2796" name="Line 22">
              <a:extLst>
                <a:ext uri="{FF2B5EF4-FFF2-40B4-BE49-F238E27FC236}">
                  <a16:creationId xmlns:a16="http://schemas.microsoft.com/office/drawing/2014/main" id="{A54E161C-3DE9-422C-BE8C-507B0EC8C2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64" y="1452"/>
              <a:ext cx="252" cy="1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2797" name="Text Box 23">
              <a:extLst>
                <a:ext uri="{FF2B5EF4-FFF2-40B4-BE49-F238E27FC236}">
                  <a16:creationId xmlns:a16="http://schemas.microsoft.com/office/drawing/2014/main" id="{22DA5023-394A-47D6-86D3-E48239AD8EF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20" y="1998"/>
              <a:ext cx="793" cy="3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>
                  <a:latin typeface="Courier"/>
                </a:rPr>
                <a:t>v </a:t>
              </a:r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w  c + d</a:t>
              </a:r>
            </a:p>
            <a:p>
              <a:pPr algn="ctr"/>
              <a:r>
                <a:rPr lang="en-US" altLang="it-IT" sz="1000">
                  <a:latin typeface="Courier"/>
                  <a:sym typeface="Symbol" panose="05050102010706020507" pitchFamily="18" charset="2"/>
                </a:rPr>
                <a:t>x  e + f</a:t>
              </a:r>
            </a:p>
          </p:txBody>
        </p:sp>
        <p:sp>
          <p:nvSpPr>
            <p:cNvPr id="32798" name="Text Box 24">
              <a:extLst>
                <a:ext uri="{FF2B5EF4-FFF2-40B4-BE49-F238E27FC236}">
                  <a16:creationId xmlns:a16="http://schemas.microsoft.com/office/drawing/2014/main" id="{B53A5490-1EFD-45F2-9792-A43BC461360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6" y="1962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F</a:t>
              </a:r>
            </a:p>
          </p:txBody>
        </p:sp>
        <p:sp>
          <p:nvSpPr>
            <p:cNvPr id="32799" name="Line 25">
              <a:extLst>
                <a:ext uri="{FF2B5EF4-FFF2-40B4-BE49-F238E27FC236}">
                  <a16:creationId xmlns:a16="http://schemas.microsoft.com/office/drawing/2014/main" id="{837E74C5-9C8F-4B8E-A1B3-E58195B833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57" y="1921"/>
              <a:ext cx="36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2800" name="Line 26">
              <a:extLst>
                <a:ext uri="{FF2B5EF4-FFF2-40B4-BE49-F238E27FC236}">
                  <a16:creationId xmlns:a16="http://schemas.microsoft.com/office/drawing/2014/main" id="{7234725F-FB67-4690-8724-F41C3FD5D5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497" y="1921"/>
              <a:ext cx="144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2801" name="Line 27">
              <a:extLst>
                <a:ext uri="{FF2B5EF4-FFF2-40B4-BE49-F238E27FC236}">
                  <a16:creationId xmlns:a16="http://schemas.microsoft.com/office/drawing/2014/main" id="{8130C088-9836-4D47-A533-B367AF12A2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029" y="2353"/>
              <a:ext cx="72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32774" name="Group 32">
            <a:extLst>
              <a:ext uri="{FF2B5EF4-FFF2-40B4-BE49-F238E27FC236}">
                <a16:creationId xmlns:a16="http://schemas.microsoft.com/office/drawing/2014/main" id="{465F0FF2-8154-421C-A726-05F93BB915BA}"/>
              </a:ext>
            </a:extLst>
          </p:cNvPr>
          <p:cNvGrpSpPr>
            <a:grpSpLocks/>
          </p:cNvGrpSpPr>
          <p:nvPr/>
        </p:nvGrpSpPr>
        <p:grpSpPr bwMode="auto">
          <a:xfrm>
            <a:off x="2566988" y="5622925"/>
            <a:ext cx="5510212" cy="1011238"/>
            <a:chOff x="2566276" y="5623034"/>
            <a:chExt cx="5510924" cy="10108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D3C42E1-7BA8-41B2-878A-01ECDB57C3A9}"/>
                </a:ext>
              </a:extLst>
            </p:cNvPr>
            <p:cNvSpPr txBox="1"/>
            <p:nvPr/>
          </p:nvSpPr>
          <p:spPr>
            <a:xfrm>
              <a:off x="4419127" y="6172088"/>
              <a:ext cx="3658073" cy="461777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The subscripted names from the earlier example are an instance of the SSA name space.</a:t>
              </a:r>
            </a:p>
          </p:txBody>
        </p:sp>
        <p:sp>
          <p:nvSpPr>
            <p:cNvPr id="32779" name="Freeform 31">
              <a:extLst>
                <a:ext uri="{FF2B5EF4-FFF2-40B4-BE49-F238E27FC236}">
                  <a16:creationId xmlns:a16="http://schemas.microsoft.com/office/drawing/2014/main" id="{25F1CECA-62B9-4DDA-9E94-06D543038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276" y="5623034"/>
              <a:ext cx="1848069" cy="709449"/>
            </a:xfrm>
            <a:custGeom>
              <a:avLst/>
              <a:gdLst>
                <a:gd name="T0" fmla="*/ 1848069 w 1848069"/>
                <a:gd name="T1" fmla="*/ 709449 h 709449"/>
                <a:gd name="T2" fmla="*/ 954690 w 1848069"/>
                <a:gd name="T3" fmla="*/ 271518 h 709449"/>
                <a:gd name="T4" fmla="*/ 1016000 w 1848069"/>
                <a:gd name="T5" fmla="*/ 516759 h 709449"/>
                <a:gd name="T6" fmla="*/ 0 w 1848069"/>
                <a:gd name="T7" fmla="*/ 0 h 7094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8069"/>
                <a:gd name="T13" fmla="*/ 0 h 709449"/>
                <a:gd name="T14" fmla="*/ 1848069 w 1848069"/>
                <a:gd name="T15" fmla="*/ 709449 h 7094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8069" h="709449">
                  <a:moveTo>
                    <a:pt x="1848069" y="709449"/>
                  </a:moveTo>
                  <a:cubicBezTo>
                    <a:pt x="1470718" y="506541"/>
                    <a:pt x="1093368" y="303633"/>
                    <a:pt x="954690" y="271518"/>
                  </a:cubicBezTo>
                  <a:cubicBezTo>
                    <a:pt x="816012" y="239403"/>
                    <a:pt x="1175115" y="562012"/>
                    <a:pt x="1016000" y="516759"/>
                  </a:cubicBezTo>
                  <a:cubicBezTo>
                    <a:pt x="856885" y="471506"/>
                    <a:pt x="0" y="0"/>
                    <a:pt x="0" y="0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32775" name="Group 35">
            <a:extLst>
              <a:ext uri="{FF2B5EF4-FFF2-40B4-BE49-F238E27FC236}">
                <a16:creationId xmlns:a16="http://schemas.microsoft.com/office/drawing/2014/main" id="{713D181A-9CC2-429B-9ADA-1DBCD5458F9E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1922463"/>
            <a:ext cx="2889250" cy="827087"/>
            <a:chOff x="6025931" y="1905000"/>
            <a:chExt cx="2889469" cy="82769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A59C48D-AF8D-4C2E-89AF-4653264AC6E5}"/>
                </a:ext>
              </a:extLst>
            </p:cNvPr>
            <p:cNvSpPr txBox="1"/>
            <p:nvPr/>
          </p:nvSpPr>
          <p:spPr>
            <a:xfrm>
              <a:off x="7162667" y="1905000"/>
              <a:ext cx="1752733" cy="4622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“kill” is a re-definition of some name</a:t>
              </a:r>
            </a:p>
          </p:txBody>
        </p:sp>
        <p:sp>
          <p:nvSpPr>
            <p:cNvPr id="32777" name="Freeform 34">
              <a:extLst>
                <a:ext uri="{FF2B5EF4-FFF2-40B4-BE49-F238E27FC236}">
                  <a16:creationId xmlns:a16="http://schemas.microsoft.com/office/drawing/2014/main" id="{E41D0557-2BA4-4ABA-A5D7-421E07235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5931" y="2014483"/>
              <a:ext cx="1129862" cy="718207"/>
            </a:xfrm>
            <a:custGeom>
              <a:avLst/>
              <a:gdLst>
                <a:gd name="T0" fmla="*/ 1129862 w 1129862"/>
                <a:gd name="T1" fmla="*/ 0 h 718207"/>
                <a:gd name="T2" fmla="*/ 481724 w 1129862"/>
                <a:gd name="T3" fmla="*/ 289034 h 718207"/>
                <a:gd name="T4" fmla="*/ 700690 w 1129862"/>
                <a:gd name="T5" fmla="*/ 332827 h 718207"/>
                <a:gd name="T6" fmla="*/ 0 w 1129862"/>
                <a:gd name="T7" fmla="*/ 718207 h 7182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9862"/>
                <a:gd name="T13" fmla="*/ 0 h 718207"/>
                <a:gd name="T14" fmla="*/ 1129862 w 1129862"/>
                <a:gd name="T15" fmla="*/ 718207 h 7182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9862" h="718207">
                  <a:moveTo>
                    <a:pt x="1129862" y="0"/>
                  </a:moveTo>
                  <a:cubicBezTo>
                    <a:pt x="841557" y="116781"/>
                    <a:pt x="553253" y="233563"/>
                    <a:pt x="481724" y="289034"/>
                  </a:cubicBezTo>
                  <a:cubicBezTo>
                    <a:pt x="410195" y="344505"/>
                    <a:pt x="780977" y="261298"/>
                    <a:pt x="700690" y="332827"/>
                  </a:cubicBezTo>
                  <a:cubicBezTo>
                    <a:pt x="620403" y="404356"/>
                    <a:pt x="0" y="718207"/>
                    <a:pt x="0" y="718207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22EA5DC9-4A5D-4705-87B8-96CBB8FAA2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392E3FC6-9B35-42DC-9286-DAFE5C6297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1CD1F02-3CCA-4E3D-A09A-01243F631457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B205BC5-DB04-4DAD-8C8D-15B5627C1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SSA Name Space 				(locally)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D0970FB-6846-474C-B06C-C2F608C2E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/>
              <a:t>Example (</a:t>
            </a:r>
            <a:r>
              <a:rPr lang="en-US" altLang="it-IT" sz="1800"/>
              <a:t>from earlier</a:t>
            </a:r>
            <a:r>
              <a:rPr lang="en-US" altLang="it-IT"/>
              <a:t>):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1E572E-0D2F-4103-9C9D-CCA0B8A6A3F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905000"/>
            <a:ext cx="2057400" cy="3259138"/>
            <a:chOff x="3429000" y="1905000"/>
            <a:chExt cx="2057400" cy="3259138"/>
          </a:xfrm>
        </p:grpSpPr>
        <p:sp>
          <p:nvSpPr>
            <p:cNvPr id="34827" name="Text Box 4">
              <a:extLst>
                <a:ext uri="{FF2B5EF4-FFF2-40B4-BE49-F238E27FC236}">
                  <a16:creationId xmlns:a16="http://schemas.microsoft.com/office/drawing/2014/main" id="{0D8459DC-B60D-4A16-B5E3-D5EBA5281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1905000"/>
              <a:ext cx="2057400" cy="162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10000"/>
                </a:spcBef>
                <a:spcAft>
                  <a:spcPct val="20000"/>
                </a:spcAft>
              </a:pPr>
              <a:r>
                <a:rPr lang="en-US" altLang="it-IT" u="sng">
                  <a:latin typeface="Arial Rounded MT Bold" panose="020F0704030504030204" pitchFamily="34" charset="0"/>
                </a:rPr>
                <a:t>With VNs</a:t>
              </a:r>
              <a:endParaRPr lang="en-US" altLang="it-IT">
                <a:latin typeface="Arial" panose="020B0604020202020204" pitchFamily="34" charset="0"/>
              </a:endParaRPr>
            </a:p>
            <a:p>
              <a:pPr>
                <a:spcBef>
                  <a:spcPct val="10000"/>
                </a:spcBef>
              </a:pPr>
              <a:r>
                <a:rPr lang="en-US" altLang="it-IT">
                  <a:latin typeface="Arial" panose="020B0604020202020204" pitchFamily="34" charset="0"/>
                </a:rPr>
                <a:t>    a</a:t>
              </a:r>
              <a:r>
                <a:rPr lang="en-US" altLang="it-IT" baseline="-25000">
                  <a:latin typeface="Arial" panose="020B0604020202020204" pitchFamily="34" charset="0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</a:rPr>
                <a:t>3</a:t>
              </a:r>
              <a:r>
                <a:rPr lang="en-US" altLang="it-IT">
                  <a:latin typeface="Arial" panose="020B0604020202020204" pitchFamily="34" charset="0"/>
                </a:rPr>
                <a:t> 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 x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1 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+ y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n-US" altLang="it-IT"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>
                <a:spcBef>
                  <a:spcPct val="10000"/>
                </a:spcBef>
              </a:pPr>
              <a:r>
                <a:rPr lang="en-US" altLang="it-IT">
                  <a:solidFill>
                    <a:srgbClr val="FF0065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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 b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 x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+ y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n-US" altLang="it-IT"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>
                <a:spcBef>
                  <a:spcPct val="10000"/>
                </a:spcBef>
              </a:pP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   a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4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 17</a:t>
              </a:r>
            </a:p>
            <a:p>
              <a:pPr>
                <a:spcBef>
                  <a:spcPct val="10000"/>
                </a:spcBef>
              </a:pPr>
              <a:r>
                <a:rPr lang="en-US" altLang="it-IT">
                  <a:solidFill>
                    <a:srgbClr val="FF0065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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 c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 x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+ y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n-US" altLang="it-IT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3797" name="Text Box 5">
              <a:extLst>
                <a:ext uri="{FF2B5EF4-FFF2-40B4-BE49-F238E27FC236}">
                  <a16:creationId xmlns:a16="http://schemas.microsoft.com/office/drawing/2014/main" id="{183DDF7A-042A-4BBB-92BB-29360DE61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3886200"/>
              <a:ext cx="2057400" cy="127793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marL="166688" indent="-166688" eaLnBrk="0" hangingPunct="0">
                <a:spcBef>
                  <a:spcPct val="25000"/>
                </a:spcBef>
                <a:defRPr/>
              </a:pP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Notation:</a:t>
              </a:r>
            </a:p>
            <a:p>
              <a:pPr marL="166688" indent="-166688" eaLnBrk="0" hangingPunct="0">
                <a:spcBef>
                  <a:spcPct val="25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While complex, the meaning is clear</a:t>
              </a:r>
              <a:endParaRPr lang="en-US" baseline="-250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  <p:sp>
        <p:nvSpPr>
          <p:cNvPr id="34822" name="Text Box 7">
            <a:extLst>
              <a:ext uri="{FF2B5EF4-FFF2-40B4-BE49-F238E27FC236}">
                <a16:creationId xmlns:a16="http://schemas.microsoft.com/office/drawing/2014/main" id="{AD56DF0D-6BF6-40F7-AE17-1595CF25E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05000"/>
            <a:ext cx="18288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0000"/>
              </a:spcBef>
              <a:spcAft>
                <a:spcPct val="20000"/>
              </a:spcAft>
            </a:pPr>
            <a:r>
              <a:rPr lang="en-US" altLang="it-IT" u="sng">
                <a:latin typeface="Arial Rounded MT Bold" panose="020F0704030504030204" pitchFamily="34" charset="0"/>
              </a:rPr>
              <a:t>Original Code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</a:rPr>
              <a:t>    a</a:t>
            </a:r>
            <a:r>
              <a:rPr lang="en-US" altLang="it-IT" baseline="-25000">
                <a:latin typeface="Arial" panose="020B0604020202020204" pitchFamily="34" charset="0"/>
              </a:rPr>
              <a:t>0</a:t>
            </a:r>
            <a:r>
              <a:rPr lang="en-US" altLang="it-IT">
                <a:latin typeface="Arial" panose="020B0604020202020204" pitchFamily="34" charset="0"/>
              </a:rPr>
              <a:t> 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 b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   a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17</a:t>
            </a:r>
          </a:p>
          <a:p>
            <a:pPr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 c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 x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it-IT">
                <a:latin typeface="Arial" panose="020B0604020202020204" pitchFamily="34" charset="0"/>
                <a:sym typeface="Symbol" panose="05050102010706020507" pitchFamily="18" charset="2"/>
              </a:rPr>
              <a:t> + y</a:t>
            </a:r>
            <a:r>
              <a:rPr lang="en-US" altLang="it-IT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it-IT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3800" name="Text Box 8">
            <a:extLst>
              <a:ext uri="{FF2B5EF4-FFF2-40B4-BE49-F238E27FC236}">
                <a16:creationId xmlns:a16="http://schemas.microsoft.com/office/drawing/2014/main" id="{A3648213-7104-457C-AF9D-96C0E7E38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86200"/>
            <a:ext cx="2438400" cy="1346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66688" indent="-166688" eaLnBrk="0" hangingPunct="0">
              <a:spcBef>
                <a:spcPct val="25000"/>
              </a:spcBef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Renaming:</a:t>
            </a: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Give each value a unique name</a:t>
            </a:r>
          </a:p>
          <a:p>
            <a:pPr marL="166688" indent="-166688"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Makes it clear</a:t>
            </a:r>
            <a:endParaRPr lang="en-US" baseline="-2500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61E9F9-1AF4-4B5E-AF38-8035286CC156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905000"/>
            <a:ext cx="2057400" cy="3327400"/>
            <a:chOff x="5867400" y="1905000"/>
            <a:chExt cx="2057400" cy="3327400"/>
          </a:xfrm>
        </p:grpSpPr>
        <p:sp>
          <p:nvSpPr>
            <p:cNvPr id="34825" name="Text Box 9">
              <a:extLst>
                <a:ext uri="{FF2B5EF4-FFF2-40B4-BE49-F238E27FC236}">
                  <a16:creationId xmlns:a16="http://schemas.microsoft.com/office/drawing/2014/main" id="{4F5FB478-E011-41DE-8128-B713FA5B6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1905000"/>
              <a:ext cx="2057400" cy="162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10000"/>
                </a:spcBef>
                <a:spcAft>
                  <a:spcPct val="20000"/>
                </a:spcAft>
              </a:pPr>
              <a:r>
                <a:rPr lang="en-US" altLang="it-IT" u="sng">
                  <a:latin typeface="Arial Rounded MT Bold" panose="020F0704030504030204" pitchFamily="34" charset="0"/>
                </a:rPr>
                <a:t>Rewritten</a:t>
              </a:r>
              <a:endParaRPr lang="en-US" altLang="it-IT">
                <a:latin typeface="Arial" panose="020B0604020202020204" pitchFamily="34" charset="0"/>
              </a:endParaRPr>
            </a:p>
            <a:p>
              <a:pPr>
                <a:spcBef>
                  <a:spcPct val="10000"/>
                </a:spcBef>
              </a:pPr>
              <a:r>
                <a:rPr lang="en-US" altLang="it-IT">
                  <a:latin typeface="Arial" panose="020B0604020202020204" pitchFamily="34" charset="0"/>
                </a:rPr>
                <a:t>    a</a:t>
              </a:r>
              <a:r>
                <a:rPr lang="en-US" altLang="it-IT" baseline="-25000">
                  <a:latin typeface="Arial" panose="020B0604020202020204" pitchFamily="34" charset="0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</a:rPr>
                <a:t>3</a:t>
              </a:r>
              <a:r>
                <a:rPr lang="en-US" altLang="it-IT">
                  <a:latin typeface="Arial" panose="020B0604020202020204" pitchFamily="34" charset="0"/>
                </a:rPr>
                <a:t> 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 x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1 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+ y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n-US" altLang="it-IT"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>
                <a:spcBef>
                  <a:spcPct val="10000"/>
                </a:spcBef>
              </a:pPr>
              <a:r>
                <a:rPr lang="en-US" altLang="it-IT">
                  <a:solidFill>
                    <a:srgbClr val="FF0065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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 b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 </a:t>
              </a:r>
              <a:r>
                <a:rPr lang="en-US" altLang="it-IT">
                  <a:latin typeface="Arial" panose="020B0604020202020204" pitchFamily="34" charset="0"/>
                </a:rPr>
                <a:t>a</a:t>
              </a:r>
              <a:r>
                <a:rPr lang="en-US" altLang="it-IT" baseline="-25000">
                  <a:latin typeface="Arial" panose="020B0604020202020204" pitchFamily="34" charset="0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</a:rPr>
                <a:t>3</a:t>
              </a:r>
              <a:endParaRPr lang="en-US" altLang="it-IT"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>
                <a:spcBef>
                  <a:spcPct val="10000"/>
                </a:spcBef>
              </a:pP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   a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4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 17</a:t>
              </a:r>
            </a:p>
            <a:p>
              <a:pPr>
                <a:spcBef>
                  <a:spcPct val="10000"/>
                </a:spcBef>
              </a:pPr>
              <a:r>
                <a:rPr lang="en-US" altLang="it-IT">
                  <a:solidFill>
                    <a:srgbClr val="FF0065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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 c</a:t>
              </a:r>
              <a:r>
                <a:rPr lang="en-US" altLang="it-IT" baseline="-2500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n-US" altLang="it-IT">
                  <a:latin typeface="Arial" panose="020B0604020202020204" pitchFamily="34" charset="0"/>
                  <a:sym typeface="Symbol" panose="05050102010706020507" pitchFamily="18" charset="2"/>
                </a:rPr>
                <a:t>  </a:t>
              </a:r>
              <a:r>
                <a:rPr lang="en-US" altLang="it-IT">
                  <a:latin typeface="Arial" panose="020B0604020202020204" pitchFamily="34" charset="0"/>
                </a:rPr>
                <a:t>a</a:t>
              </a:r>
              <a:r>
                <a:rPr lang="en-US" altLang="it-IT" baseline="-25000">
                  <a:latin typeface="Arial" panose="020B0604020202020204" pitchFamily="34" charset="0"/>
                </a:rPr>
                <a:t>0</a:t>
              </a:r>
              <a:r>
                <a:rPr lang="en-US" altLang="it-IT" baseline="300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3802" name="Text Box 10">
              <a:extLst>
                <a:ext uri="{FF2B5EF4-FFF2-40B4-BE49-F238E27FC236}">
                  <a16:creationId xmlns:a16="http://schemas.microsoft.com/office/drawing/2014/main" id="{A05657BC-A2B3-46C4-8A68-E4B960C78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3886200"/>
              <a:ext cx="2057400" cy="13462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marL="166688" indent="-166688" eaLnBrk="0" hangingPunct="0">
                <a:spcBef>
                  <a:spcPct val="25000"/>
                </a:spcBef>
                <a:defRPr/>
              </a:pP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Result:</a:t>
              </a:r>
            </a:p>
            <a:p>
              <a:pPr marL="166688" indent="-166688" eaLnBrk="0" hangingPunct="0">
                <a:spcBef>
                  <a:spcPct val="25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a</a:t>
              </a:r>
              <a:r>
                <a:rPr lang="en-US" baseline="-2500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0</a:t>
              </a:r>
              <a:r>
                <a:rPr lang="en-US" baseline="3000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3</a:t>
              </a: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is available</a:t>
              </a:r>
            </a:p>
            <a:p>
              <a:pPr marL="166688" indent="-166688" eaLnBrk="0" hangingPunct="0">
                <a:spcBef>
                  <a:spcPct val="25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Rewriting just works </a:t>
              </a:r>
              <a:endParaRPr lang="en-US" baseline="-250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>
            <a:extLst>
              <a:ext uri="{FF2B5EF4-FFF2-40B4-BE49-F238E27FC236}">
                <a16:creationId xmlns:a16="http://schemas.microsoft.com/office/drawing/2014/main" id="{8EC1B019-E8F8-40CB-AE31-4B0ED55E1F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E15B551C-DD2C-4AD0-B5FB-7508A1444A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3A40470-EC5B-4F3A-920F-C1612BD82676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DA759DE9-357F-4762-B5A3-0E63FBD67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SSA Name Space 			       (</a:t>
            </a:r>
            <a:r>
              <a:rPr lang="en-US" altLang="it-IT" sz="2000"/>
              <a:t>in general</a:t>
            </a:r>
            <a:r>
              <a:rPr lang="en-US" altLang="it-IT"/>
              <a:t>) 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D17C314-EEB0-45AD-BC17-608079F2E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Two principles</a:t>
            </a:r>
          </a:p>
          <a:p>
            <a:pPr eaLnBrk="1" hangingPunct="1"/>
            <a:r>
              <a:rPr lang="en-US" altLang="it-IT"/>
              <a:t>Each name is defined by exactly one operation</a:t>
            </a:r>
          </a:p>
          <a:p>
            <a:pPr eaLnBrk="1" hangingPunct="1"/>
            <a:r>
              <a:rPr lang="en-US" altLang="it-IT"/>
              <a:t>Each operand refers to exactly one definition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/>
              <a:t>To reconcile these principles with real code</a:t>
            </a:r>
          </a:p>
          <a:p>
            <a:pPr eaLnBrk="1" hangingPunct="1"/>
            <a:r>
              <a:rPr lang="en-US" altLang="it-IT"/>
              <a:t>Insert </a:t>
            </a:r>
            <a:r>
              <a:rPr lang="en-US" altLang="it-IT">
                <a:sym typeface="Symbol" panose="05050102010706020507" pitchFamily="18" charset="2"/>
              </a:rPr>
              <a:t>-functions at merge points to reconcile name space</a:t>
            </a:r>
            <a:endParaRPr lang="en-US" altLang="it-IT"/>
          </a:p>
          <a:p>
            <a:pPr eaLnBrk="1" hangingPunct="1"/>
            <a:r>
              <a:rPr lang="en-US" altLang="it-IT"/>
              <a:t>Add subscripts to variable names for uniqueness</a:t>
            </a:r>
          </a:p>
        </p:txBody>
      </p:sp>
      <p:grpSp>
        <p:nvGrpSpPr>
          <p:cNvPr id="36869" name="Group 19">
            <a:extLst>
              <a:ext uri="{FF2B5EF4-FFF2-40B4-BE49-F238E27FC236}">
                <a16:creationId xmlns:a16="http://schemas.microsoft.com/office/drawing/2014/main" id="{571B54C0-808F-4ECF-9190-B07079A6A0C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262438"/>
            <a:ext cx="7772400" cy="1376362"/>
            <a:chOff x="432" y="2685"/>
            <a:chExt cx="4896" cy="867"/>
          </a:xfrm>
        </p:grpSpPr>
        <p:grpSp>
          <p:nvGrpSpPr>
            <p:cNvPr id="36870" name="Group 6">
              <a:extLst>
                <a:ext uri="{FF2B5EF4-FFF2-40B4-BE49-F238E27FC236}">
                  <a16:creationId xmlns:a16="http://schemas.microsoft.com/office/drawing/2014/main" id="{4E7CE48E-F819-4CEE-BDD6-A157DE4086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769"/>
              <a:ext cx="1680" cy="218"/>
              <a:chOff x="2160" y="2496"/>
              <a:chExt cx="1680" cy="218"/>
            </a:xfrm>
          </p:grpSpPr>
          <p:sp>
            <p:nvSpPr>
              <p:cNvPr id="36880" name="Text Box 7">
                <a:extLst>
                  <a:ext uri="{FF2B5EF4-FFF2-40B4-BE49-F238E27FC236}">
                    <a16:creationId xmlns:a16="http://schemas.microsoft.com/office/drawing/2014/main" id="{227B207B-E6E7-41D6-808B-21AE0027CC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720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1600">
                    <a:latin typeface="Courier"/>
                  </a:rPr>
                  <a:t>x</a:t>
                </a:r>
                <a:r>
                  <a:rPr lang="en-US" altLang="it-IT" sz="1600">
                    <a:latin typeface="Arial Rounded MT Bold" panose="020F0704030504030204" pitchFamily="34" charset="0"/>
                  </a:rPr>
                  <a:t> </a:t>
                </a:r>
                <a:r>
                  <a:rPr lang="en-US" altLang="it-IT" sz="1600" i="1">
                    <a:latin typeface="Times" panose="02020603050405020304" pitchFamily="18" charset="0"/>
                    <a:sym typeface="Symbol" panose="05050102010706020507" pitchFamily="18" charset="2"/>
                  </a:rPr>
                  <a:t> ...</a:t>
                </a:r>
                <a:r>
                  <a:rPr lang="en-US" altLang="it-IT" sz="1600">
                    <a:latin typeface="Arial Rounded MT Bold" panose="020F0704030504030204" pitchFamily="34" charset="0"/>
                  </a:rPr>
                  <a:t> </a:t>
                </a:r>
              </a:p>
            </p:txBody>
          </p:sp>
          <p:sp>
            <p:nvSpPr>
              <p:cNvPr id="36881" name="Text Box 8">
                <a:extLst>
                  <a:ext uri="{FF2B5EF4-FFF2-40B4-BE49-F238E27FC236}">
                    <a16:creationId xmlns:a16="http://schemas.microsoft.com/office/drawing/2014/main" id="{287EA8EE-485F-499B-A1B1-0CBF2DB709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496"/>
                <a:ext cx="720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1600">
                    <a:latin typeface="Courier"/>
                  </a:rPr>
                  <a:t>x</a:t>
                </a:r>
                <a:r>
                  <a:rPr lang="en-US" altLang="it-IT" sz="1600"/>
                  <a:t> </a:t>
                </a:r>
                <a:r>
                  <a:rPr lang="en-US" altLang="it-IT" sz="1600" i="1">
                    <a:latin typeface="Times" panose="02020603050405020304" pitchFamily="18" charset="0"/>
                    <a:sym typeface="Symbol" panose="05050102010706020507" pitchFamily="18" charset="2"/>
                  </a:rPr>
                  <a:t> ...</a:t>
                </a:r>
                <a:r>
                  <a:rPr lang="en-US" altLang="it-IT" sz="1600">
                    <a:latin typeface="Arial Rounded MT Bold" panose="020F0704030504030204" pitchFamily="34" charset="0"/>
                  </a:rPr>
                  <a:t> </a:t>
                </a:r>
              </a:p>
            </p:txBody>
          </p:sp>
        </p:grpSp>
        <p:sp>
          <p:nvSpPr>
            <p:cNvPr id="36871" name="Text Box 9">
              <a:extLst>
                <a:ext uri="{FF2B5EF4-FFF2-40B4-BE49-F238E27FC236}">
                  <a16:creationId xmlns:a16="http://schemas.microsoft.com/office/drawing/2014/main" id="{028B171C-F931-495E-AA4D-5E92E1C95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249"/>
              <a:ext cx="816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... </a:t>
              </a:r>
              <a:r>
                <a:rPr lang="en-US" altLang="it-IT" sz="1600" i="1">
                  <a:latin typeface="Times" panose="02020603050405020304" pitchFamily="18" charset="0"/>
                  <a:sym typeface="Symbol" panose="05050102010706020507" pitchFamily="18" charset="2"/>
                </a:rPr>
                <a:t> </a:t>
              </a:r>
              <a:r>
                <a:rPr lang="en-US" altLang="it-IT" sz="1600">
                  <a:latin typeface="Courier"/>
                </a:rPr>
                <a:t>x</a:t>
              </a:r>
              <a:r>
                <a:rPr lang="en-US" altLang="it-IT" sz="1600">
                  <a:latin typeface="Arial Rounded MT Bold" panose="020F0704030504030204" pitchFamily="34" charset="0"/>
                </a:rPr>
                <a:t> </a:t>
              </a:r>
              <a:r>
                <a:rPr lang="en-US" altLang="it-IT" sz="1600">
                  <a:latin typeface="Courier"/>
                </a:rPr>
                <a:t>+</a:t>
              </a:r>
              <a:r>
                <a:rPr lang="en-US" altLang="it-IT" sz="1600">
                  <a:latin typeface="Arial Rounded MT Bold" panose="020F0704030504030204" pitchFamily="34" charset="0"/>
                </a:rPr>
                <a:t> ... </a:t>
              </a:r>
            </a:p>
          </p:txBody>
        </p:sp>
        <p:sp>
          <p:nvSpPr>
            <p:cNvPr id="36872" name="Line 10">
              <a:extLst>
                <a:ext uri="{FF2B5EF4-FFF2-40B4-BE49-F238E27FC236}">
                  <a16:creationId xmlns:a16="http://schemas.microsoft.com/office/drawing/2014/main" id="{DD67371D-5809-4C2E-91CE-7BBDF472B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009"/>
              <a:ext cx="14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6873" name="Line 11">
              <a:extLst>
                <a:ext uri="{FF2B5EF4-FFF2-40B4-BE49-F238E27FC236}">
                  <a16:creationId xmlns:a16="http://schemas.microsoft.com/office/drawing/2014/main" id="{0134B87E-F689-400E-A7D1-8930D59A1E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3009"/>
              <a:ext cx="14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6874" name="Text Box 13">
              <a:extLst>
                <a:ext uri="{FF2B5EF4-FFF2-40B4-BE49-F238E27FC236}">
                  <a16:creationId xmlns:a16="http://schemas.microsoft.com/office/drawing/2014/main" id="{253F42B6-F75E-4503-ABFB-7B9F965F7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685"/>
              <a:ext cx="72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latin typeface="Courier"/>
                </a:rPr>
                <a:t>x</a:t>
              </a:r>
              <a:r>
                <a:rPr lang="en-US" altLang="it-IT" sz="1600" baseline="-25000">
                  <a:latin typeface="Courier"/>
                </a:rPr>
                <a:t>0</a:t>
              </a:r>
              <a:r>
                <a:rPr lang="en-US" altLang="it-IT" sz="1600">
                  <a:latin typeface="Arial Rounded MT Bold" panose="020F0704030504030204" pitchFamily="34" charset="0"/>
                </a:rPr>
                <a:t> </a:t>
              </a:r>
              <a:r>
                <a:rPr lang="en-US" altLang="it-IT" sz="1600" i="1">
                  <a:latin typeface="Times" panose="02020603050405020304" pitchFamily="18" charset="0"/>
                  <a:sym typeface="Symbol" panose="05050102010706020507" pitchFamily="18" charset="2"/>
                </a:rPr>
                <a:t> ...</a:t>
              </a:r>
              <a:r>
                <a:rPr lang="en-US" altLang="it-IT" sz="1600">
                  <a:latin typeface="Arial Rounded MT Bold" panose="020F0704030504030204" pitchFamily="34" charset="0"/>
                </a:rPr>
                <a:t> </a:t>
              </a:r>
            </a:p>
          </p:txBody>
        </p:sp>
        <p:sp>
          <p:nvSpPr>
            <p:cNvPr id="36875" name="Text Box 14">
              <a:extLst>
                <a:ext uri="{FF2B5EF4-FFF2-40B4-BE49-F238E27FC236}">
                  <a16:creationId xmlns:a16="http://schemas.microsoft.com/office/drawing/2014/main" id="{334227CA-97B3-47B8-B381-8B35C9805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685"/>
              <a:ext cx="72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latin typeface="Courier"/>
                </a:rPr>
                <a:t>x</a:t>
              </a:r>
              <a:r>
                <a:rPr lang="en-US" altLang="it-IT" sz="1600" baseline="-25000">
                  <a:latin typeface="Courier"/>
                </a:rPr>
                <a:t>1</a:t>
              </a:r>
              <a:r>
                <a:rPr lang="en-US" altLang="it-IT" sz="1600">
                  <a:latin typeface="Arial Rounded MT Bold" panose="020F0704030504030204" pitchFamily="34" charset="0"/>
                </a:rPr>
                <a:t> </a:t>
              </a:r>
              <a:r>
                <a:rPr lang="en-US" altLang="it-IT" sz="1600" i="1">
                  <a:latin typeface="Times" panose="02020603050405020304" pitchFamily="18" charset="0"/>
                  <a:sym typeface="Symbol" panose="05050102010706020507" pitchFamily="18" charset="2"/>
                </a:rPr>
                <a:t> ...</a:t>
              </a:r>
              <a:r>
                <a:rPr lang="en-US" altLang="it-IT" sz="1600">
                  <a:latin typeface="Arial Rounded MT Bold" panose="020F0704030504030204" pitchFamily="34" charset="0"/>
                </a:rPr>
                <a:t> </a:t>
              </a:r>
            </a:p>
          </p:txBody>
        </p:sp>
        <p:sp>
          <p:nvSpPr>
            <p:cNvPr id="36876" name="Text Box 15">
              <a:extLst>
                <a:ext uri="{FF2B5EF4-FFF2-40B4-BE49-F238E27FC236}">
                  <a16:creationId xmlns:a16="http://schemas.microsoft.com/office/drawing/2014/main" id="{7A406C6B-D0F8-4B83-9DD3-DCDCF8C8F1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165"/>
              <a:ext cx="936" cy="3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latin typeface="Courier"/>
                </a:rPr>
                <a:t>x</a:t>
              </a:r>
              <a:r>
                <a:rPr lang="en-US" altLang="it-IT" sz="1600" baseline="-25000">
                  <a:latin typeface="Courier"/>
                </a:rPr>
                <a:t>2</a:t>
              </a:r>
              <a:r>
                <a:rPr lang="en-US" altLang="it-IT" sz="1600">
                  <a:latin typeface="Arial Rounded MT Bold" panose="020F0704030504030204" pitchFamily="34" charset="0"/>
                </a:rPr>
                <a:t> </a:t>
              </a:r>
              <a:r>
                <a:rPr lang="en-US" altLang="it-IT" sz="1600">
                  <a:latin typeface="Arial Rounded MT Bold" panose="020F0704030504030204" pitchFamily="34" charset="0"/>
                  <a:sym typeface="Symbol" panose="05050102010706020507" pitchFamily="18" charset="2"/>
                </a:rPr>
                <a:t>(</a:t>
              </a:r>
              <a:r>
                <a:rPr lang="en-US" altLang="it-IT" sz="1600">
                  <a:latin typeface="Courier"/>
                </a:rPr>
                <a:t>x</a:t>
              </a:r>
              <a:r>
                <a:rPr lang="en-US" altLang="it-IT" sz="1600" baseline="-25000">
                  <a:latin typeface="Courier"/>
                </a:rPr>
                <a:t>0</a:t>
              </a:r>
              <a:r>
                <a:rPr lang="en-US" altLang="it-IT" sz="1600"/>
                <a:t>,</a:t>
              </a:r>
              <a:r>
                <a:rPr lang="en-US" altLang="it-IT" sz="1600">
                  <a:latin typeface="Courier"/>
                </a:rPr>
                <a:t>x</a:t>
              </a:r>
              <a:r>
                <a:rPr lang="en-US" altLang="it-IT" sz="1600" baseline="-25000">
                  <a:latin typeface="Courier"/>
                </a:rPr>
                <a:t>1</a:t>
              </a:r>
              <a:r>
                <a:rPr lang="en-US" altLang="it-IT" sz="1600">
                  <a:latin typeface="Arial Rounded MT Bold" panose="020F0704030504030204" pitchFamily="34" charset="0"/>
                  <a:sym typeface="Symbol" panose="05050102010706020507" pitchFamily="18" charset="2"/>
                </a:rPr>
                <a:t>)</a:t>
              </a:r>
            </a:p>
            <a:p>
              <a:pPr>
                <a:spcBef>
                  <a:spcPct val="1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     </a:t>
              </a:r>
              <a:r>
                <a:rPr lang="en-US" altLang="it-IT" sz="1600" i="1">
                  <a:latin typeface="Times" panose="02020603050405020304" pitchFamily="18" charset="0"/>
                  <a:sym typeface="Symbol" panose="05050102010706020507" pitchFamily="18" charset="2"/>
                </a:rPr>
                <a:t> </a:t>
              </a:r>
              <a:r>
                <a:rPr lang="en-US" altLang="it-IT" sz="1600">
                  <a:latin typeface="Courier"/>
                </a:rPr>
                <a:t>x</a:t>
              </a:r>
              <a:r>
                <a:rPr lang="en-US" altLang="it-IT" sz="1600" baseline="-25000">
                  <a:latin typeface="Courier"/>
                </a:rPr>
                <a:t>2</a:t>
              </a:r>
              <a:r>
                <a:rPr lang="en-US" altLang="it-IT" sz="1600">
                  <a:latin typeface="Arial Rounded MT Bold" panose="020F0704030504030204" pitchFamily="34" charset="0"/>
                </a:rPr>
                <a:t> </a:t>
              </a:r>
              <a:r>
                <a:rPr lang="en-US" altLang="it-IT" sz="1600">
                  <a:latin typeface="Courier"/>
                </a:rPr>
                <a:t>+</a:t>
              </a:r>
              <a:r>
                <a:rPr lang="en-US" altLang="it-IT" sz="1600">
                  <a:latin typeface="Arial Rounded MT Bold" panose="020F0704030504030204" pitchFamily="34" charset="0"/>
                </a:rPr>
                <a:t> ... </a:t>
              </a:r>
            </a:p>
          </p:txBody>
        </p:sp>
        <p:sp>
          <p:nvSpPr>
            <p:cNvPr id="36877" name="Line 16">
              <a:extLst>
                <a:ext uri="{FF2B5EF4-FFF2-40B4-BE49-F238E27FC236}">
                  <a16:creationId xmlns:a16="http://schemas.microsoft.com/office/drawing/2014/main" id="{57F3C5FA-92EA-4B31-8516-E77ECC0EA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925"/>
              <a:ext cx="14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6878" name="Line 17">
              <a:extLst>
                <a:ext uri="{FF2B5EF4-FFF2-40B4-BE49-F238E27FC236}">
                  <a16:creationId xmlns:a16="http://schemas.microsoft.com/office/drawing/2014/main" id="{CE93C8E9-BFEB-4899-98D1-1C7880E42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6" y="2925"/>
              <a:ext cx="14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5858" name="AutoShape 18">
              <a:extLst>
                <a:ext uri="{FF2B5EF4-FFF2-40B4-BE49-F238E27FC236}">
                  <a16:creationId xmlns:a16="http://schemas.microsoft.com/office/drawing/2014/main" id="{60C8FB92-EB92-41FB-BDDB-ADE8CC99A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2973"/>
              <a:ext cx="720" cy="384"/>
            </a:xfrm>
            <a:prstGeom prst="rightArrow">
              <a:avLst>
                <a:gd name="adj1" fmla="val 50000"/>
                <a:gd name="adj2" fmla="val 46875"/>
              </a:avLst>
            </a:prstGeom>
            <a:solidFill>
              <a:schemeClr val="bg1">
                <a:lumMod val="75000"/>
              </a:schemeClr>
            </a:solidFill>
            <a:ln w="28575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becomes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>
            <a:extLst>
              <a:ext uri="{FF2B5EF4-FFF2-40B4-BE49-F238E27FC236}">
                <a16:creationId xmlns:a16="http://schemas.microsoft.com/office/drawing/2014/main" id="{1F0C5B03-BF29-48F9-9837-917BD61944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D8B270A1-A77C-408E-84B9-0283044ABF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99F0843-6A64-4B14-8814-6530D7559364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8F6F175C-BC0A-4A51-BB8B-8D45405AA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800" y="3962400"/>
            <a:ext cx="1447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12DECAA9-746B-4D54-939C-A068D7462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10200"/>
            <a:ext cx="1447800" cy="228600"/>
          </a:xfrm>
          <a:prstGeom prst="rect">
            <a:avLst/>
          </a:prstGeom>
          <a:solidFill>
            <a:srgbClr val="FFFF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38917" name="Rectangle 6">
            <a:extLst>
              <a:ext uri="{FF2B5EF4-FFF2-40B4-BE49-F238E27FC236}">
                <a16:creationId xmlns:a16="http://schemas.microsoft.com/office/drawing/2014/main" id="{254F8BE1-E765-41E6-9ED1-16108EFCF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Superlocal Value Numbering</a:t>
            </a:r>
            <a:endParaRPr lang="en-US" altLang="it-IT" sz="2000"/>
          </a:p>
        </p:txBody>
      </p:sp>
      <p:grpSp>
        <p:nvGrpSpPr>
          <p:cNvPr id="38918" name="Group 7">
            <a:extLst>
              <a:ext uri="{FF2B5EF4-FFF2-40B4-BE49-F238E27FC236}">
                <a16:creationId xmlns:a16="http://schemas.microsoft.com/office/drawing/2014/main" id="{6FBDEF9C-A9CE-4810-95EE-F44CE463CCA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308100"/>
            <a:ext cx="5715000" cy="4787900"/>
            <a:chOff x="480" y="768"/>
            <a:chExt cx="3600" cy="3016"/>
          </a:xfrm>
        </p:grpSpPr>
        <p:sp>
          <p:nvSpPr>
            <p:cNvPr id="38920" name="Text Box 8">
              <a:extLst>
                <a:ext uri="{FF2B5EF4-FFF2-40B4-BE49-F238E27FC236}">
                  <a16:creationId xmlns:a16="http://schemas.microsoft.com/office/drawing/2014/main" id="{57E3DE9D-E2BF-4350-B32D-39FB0FE99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16"/>
              <a:ext cx="864" cy="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Courier"/>
                </a:rPr>
                <a:t>m</a:t>
              </a:r>
              <a:r>
                <a:rPr lang="en-US" altLang="it-IT" sz="1400" baseline="-25000">
                  <a:latin typeface="Courier"/>
                </a:rPr>
                <a:t>0</a:t>
              </a:r>
              <a:r>
                <a:rPr lang="en-US" altLang="it-IT" sz="1400">
                  <a:latin typeface="Courier"/>
                </a:rPr>
                <a:t> </a:t>
              </a:r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n</a:t>
              </a:r>
              <a:r>
                <a:rPr lang="en-US" altLang="it-IT" sz="1400" baseline="-25000">
                  <a:latin typeface="Courier"/>
                  <a:sym typeface="Symbol" panose="05050102010706020507" pitchFamily="18" charset="2"/>
                </a:rPr>
                <a:t>0</a:t>
              </a:r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  a + b</a:t>
              </a:r>
              <a:endParaRPr lang="en-US" altLang="it-IT" sz="1600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38921" name="Text Box 9">
              <a:extLst>
                <a:ext uri="{FF2B5EF4-FFF2-40B4-BE49-F238E27FC236}">
                  <a16:creationId xmlns:a16="http://schemas.microsoft.com/office/drawing/2014/main" id="{F7BB9839-D0EC-452E-849D-385407ED0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grpSp>
          <p:nvGrpSpPr>
            <p:cNvPr id="38922" name="Group 10">
              <a:extLst>
                <a:ext uri="{FF2B5EF4-FFF2-40B4-BE49-F238E27FC236}">
                  <a16:creationId xmlns:a16="http://schemas.microsoft.com/office/drawing/2014/main" id="{1B0342ED-8B52-435C-A4CF-3D5D37C4D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96"/>
              <a:ext cx="1056" cy="386"/>
              <a:chOff x="480" y="1401"/>
              <a:chExt cx="1056" cy="386"/>
            </a:xfrm>
          </p:grpSpPr>
          <p:sp>
            <p:nvSpPr>
              <p:cNvPr id="38946" name="Text Box 11">
                <a:extLst>
                  <a:ext uri="{FF2B5EF4-FFF2-40B4-BE49-F238E27FC236}">
                    <a16:creationId xmlns:a16="http://schemas.microsoft.com/office/drawing/2014/main" id="{7A615B69-27C1-445F-A532-0DD6B9AB91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449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p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c + d</a:t>
                </a:r>
              </a:p>
            </p:txBody>
          </p:sp>
          <p:sp>
            <p:nvSpPr>
              <p:cNvPr id="38947" name="Text Box 12">
                <a:extLst>
                  <a:ext uri="{FF2B5EF4-FFF2-40B4-BE49-F238E27FC236}">
                    <a16:creationId xmlns:a16="http://schemas.microsoft.com/office/drawing/2014/main" id="{13F9C5CE-E863-4605-A6BB-1750F99B2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40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B</a:t>
                </a:r>
              </a:p>
            </p:txBody>
          </p:sp>
        </p:grpSp>
        <p:grpSp>
          <p:nvGrpSpPr>
            <p:cNvPr id="38923" name="Group 13">
              <a:extLst>
                <a:ext uri="{FF2B5EF4-FFF2-40B4-BE49-F238E27FC236}">
                  <a16:creationId xmlns:a16="http://schemas.microsoft.com/office/drawing/2014/main" id="{A13A1914-2FEB-417E-B630-4B95E35397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3264"/>
              <a:ext cx="1296" cy="520"/>
              <a:chOff x="1344" y="3312"/>
              <a:chExt cx="1296" cy="520"/>
            </a:xfrm>
          </p:grpSpPr>
          <p:sp>
            <p:nvSpPr>
              <p:cNvPr id="38944" name="Text Box 14">
                <a:extLst>
                  <a:ext uri="{FF2B5EF4-FFF2-40B4-BE49-F238E27FC236}">
                    <a16:creationId xmlns:a16="http://schemas.microsoft.com/office/drawing/2014/main" id="{6C547903-E73F-48B6-BF24-5A9B5A7878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60"/>
                <a:ext cx="1104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r</a:t>
                </a:r>
                <a:r>
                  <a:rPr lang="en-US" altLang="it-IT" sz="1400" baseline="-25000">
                    <a:latin typeface="Courier"/>
                  </a:rPr>
                  <a:t>2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</a:t>
                </a:r>
                <a:r>
                  <a:rPr lang="en-US" altLang="it-IT" sz="1400">
                    <a:latin typeface="Courier"/>
                  </a:rPr>
                  <a:t> 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(r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,r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)</a:t>
                </a:r>
                <a:endParaRPr lang="en-US" altLang="it-IT" sz="1400" baseline="-25000">
                  <a:latin typeface="Courier"/>
                </a:endParaRPr>
              </a:p>
              <a:p>
                <a:pPr algn="ctr"/>
                <a:r>
                  <a:rPr lang="en-US" altLang="it-IT" sz="1400">
                    <a:latin typeface="Courier"/>
                  </a:rPr>
                  <a:t>y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z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c + d</a:t>
                </a:r>
              </a:p>
            </p:txBody>
          </p:sp>
          <p:sp>
            <p:nvSpPr>
              <p:cNvPr id="38945" name="Text Box 15">
                <a:extLst>
                  <a:ext uri="{FF2B5EF4-FFF2-40B4-BE49-F238E27FC236}">
                    <a16:creationId xmlns:a16="http://schemas.microsoft.com/office/drawing/2014/main" id="{34E75582-3BF5-425E-ABF9-658A3AE71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1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G</a:t>
                </a:r>
              </a:p>
            </p:txBody>
          </p:sp>
        </p:grpSp>
        <p:sp>
          <p:nvSpPr>
            <p:cNvPr id="38924" name="Line 16">
              <a:extLst>
                <a:ext uri="{FF2B5EF4-FFF2-40B4-BE49-F238E27FC236}">
                  <a16:creationId xmlns:a16="http://schemas.microsoft.com/office/drawing/2014/main" id="{CB38B01F-D7D2-4734-A121-7CE8CF9F4E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152"/>
              <a:ext cx="138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38925" name="Group 17">
              <a:extLst>
                <a:ext uri="{FF2B5EF4-FFF2-40B4-BE49-F238E27FC236}">
                  <a16:creationId xmlns:a16="http://schemas.microsoft.com/office/drawing/2014/main" id="{9226B911-4F1A-48BA-83E1-670316285C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296"/>
              <a:ext cx="1056" cy="386"/>
              <a:chOff x="1248" y="864"/>
              <a:chExt cx="1056" cy="386"/>
            </a:xfrm>
          </p:grpSpPr>
          <p:sp>
            <p:nvSpPr>
              <p:cNvPr id="38942" name="Text Box 18">
                <a:extLst>
                  <a:ext uri="{FF2B5EF4-FFF2-40B4-BE49-F238E27FC236}">
                    <a16:creationId xmlns:a16="http://schemas.microsoft.com/office/drawing/2014/main" id="{147D9570-541A-45BA-9541-F54BF16AFC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912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q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</a:t>
                </a:r>
                <a:r>
                  <a:rPr lang="en-US" altLang="it-IT" sz="1400" baseline="-25000">
                    <a:latin typeface="Courier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c + d</a:t>
                </a:r>
              </a:p>
            </p:txBody>
          </p:sp>
          <p:sp>
            <p:nvSpPr>
              <p:cNvPr id="38943" name="Text Box 19">
                <a:extLst>
                  <a:ext uri="{FF2B5EF4-FFF2-40B4-BE49-F238E27FC236}">
                    <a16:creationId xmlns:a16="http://schemas.microsoft.com/office/drawing/2014/main" id="{77CC2460-FCE6-4078-9183-CD60BF4EE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86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C</a:t>
                </a:r>
              </a:p>
            </p:txBody>
          </p:sp>
        </p:grpSp>
        <p:grpSp>
          <p:nvGrpSpPr>
            <p:cNvPr id="38926" name="Group 20">
              <a:extLst>
                <a:ext uri="{FF2B5EF4-FFF2-40B4-BE49-F238E27FC236}">
                  <a16:creationId xmlns:a16="http://schemas.microsoft.com/office/drawing/2014/main" id="{0029B98C-7AB4-4C5C-92A5-A2228779D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776"/>
              <a:ext cx="1104" cy="520"/>
              <a:chOff x="1680" y="1873"/>
              <a:chExt cx="1104" cy="520"/>
            </a:xfrm>
          </p:grpSpPr>
          <p:sp>
            <p:nvSpPr>
              <p:cNvPr id="38940" name="Text Box 21">
                <a:extLst>
                  <a:ext uri="{FF2B5EF4-FFF2-40B4-BE49-F238E27FC236}">
                    <a16:creationId xmlns:a16="http://schemas.microsoft.com/office/drawing/2014/main" id="{07FD837B-711E-45C5-BB56-B6B5C3C02F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921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b + 18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s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e + f</a:t>
                </a:r>
              </a:p>
            </p:txBody>
          </p:sp>
          <p:sp>
            <p:nvSpPr>
              <p:cNvPr id="38941" name="Text Box 22">
                <a:extLst>
                  <a:ext uri="{FF2B5EF4-FFF2-40B4-BE49-F238E27FC236}">
                    <a16:creationId xmlns:a16="http://schemas.microsoft.com/office/drawing/2014/main" id="{9AC82532-CCE0-43C6-BC0F-F0A518CEF4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873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D</a:t>
                </a:r>
              </a:p>
            </p:txBody>
          </p:sp>
        </p:grpSp>
        <p:grpSp>
          <p:nvGrpSpPr>
            <p:cNvPr id="38927" name="Group 23">
              <a:extLst>
                <a:ext uri="{FF2B5EF4-FFF2-40B4-BE49-F238E27FC236}">
                  <a16:creationId xmlns:a16="http://schemas.microsoft.com/office/drawing/2014/main" id="{2E7A988B-9CD1-49A8-8BD0-AD6A9DDCD1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1104" cy="520"/>
              <a:chOff x="1680" y="2024"/>
              <a:chExt cx="1104" cy="520"/>
            </a:xfrm>
          </p:grpSpPr>
          <p:sp>
            <p:nvSpPr>
              <p:cNvPr id="38938" name="Text Box 24">
                <a:extLst>
                  <a:ext uri="{FF2B5EF4-FFF2-40B4-BE49-F238E27FC236}">
                    <a16:creationId xmlns:a16="http://schemas.microsoft.com/office/drawing/2014/main" id="{4AC39DB7-740B-486A-BA5E-E17A72B70B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72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</a:t>
                </a:r>
                <a:r>
                  <a:rPr lang="en-US" altLang="it-IT" sz="1400" baseline="-25000">
                    <a:latin typeface="Courier"/>
                  </a:rPr>
                  <a:t>1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+ 17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t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</a:t>
                </a:r>
                <a:r>
                  <a:rPr lang="en-US" altLang="it-IT" sz="1400" baseline="-25000">
                    <a:latin typeface="Courier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e + f</a:t>
                </a:r>
              </a:p>
            </p:txBody>
          </p:sp>
          <p:sp>
            <p:nvSpPr>
              <p:cNvPr id="38939" name="Text Box 25">
                <a:extLst>
                  <a:ext uri="{FF2B5EF4-FFF2-40B4-BE49-F238E27FC236}">
                    <a16:creationId xmlns:a16="http://schemas.microsoft.com/office/drawing/2014/main" id="{9F255DB2-F967-470F-987C-C1B649B96A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</p:grpSp>
        <p:sp>
          <p:nvSpPr>
            <p:cNvPr id="38928" name="Line 26">
              <a:extLst>
                <a:ext uri="{FF2B5EF4-FFF2-40B4-BE49-F238E27FC236}">
                  <a16:creationId xmlns:a16="http://schemas.microsoft.com/office/drawing/2014/main" id="{BA42DCE2-E358-45EC-9973-0E1DEC87D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29" name="Line 27">
              <a:extLst>
                <a:ext uri="{FF2B5EF4-FFF2-40B4-BE49-F238E27FC236}">
                  <a16:creationId xmlns:a16="http://schemas.microsoft.com/office/drawing/2014/main" id="{056A36B0-F6B1-416C-A1C1-DFA1427F5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30" name="Line 28">
              <a:extLst>
                <a:ext uri="{FF2B5EF4-FFF2-40B4-BE49-F238E27FC236}">
                  <a16:creationId xmlns:a16="http://schemas.microsoft.com/office/drawing/2014/main" id="{A52DC534-1B40-45BC-81D4-68568CAC2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52"/>
              <a:ext cx="33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31" name="Line 29">
              <a:extLst>
                <a:ext uri="{FF2B5EF4-FFF2-40B4-BE49-F238E27FC236}">
                  <a16:creationId xmlns:a16="http://schemas.microsoft.com/office/drawing/2014/main" id="{7A2F7EFE-5C42-483F-AAF4-69E505874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680"/>
              <a:ext cx="336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38932" name="Group 30">
              <a:extLst>
                <a:ext uri="{FF2B5EF4-FFF2-40B4-BE49-F238E27FC236}">
                  <a16:creationId xmlns:a16="http://schemas.microsoft.com/office/drawing/2014/main" id="{FB21EC5E-61BF-4664-A548-44D6274A37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60"/>
              <a:ext cx="1248" cy="808"/>
              <a:chOff x="2208" y="2360"/>
              <a:chExt cx="1248" cy="808"/>
            </a:xfrm>
          </p:grpSpPr>
          <p:sp>
            <p:nvSpPr>
              <p:cNvPr id="38936" name="Text Box 31">
                <a:extLst>
                  <a:ext uri="{FF2B5EF4-FFF2-40B4-BE49-F238E27FC236}">
                    <a16:creationId xmlns:a16="http://schemas.microsoft.com/office/drawing/2014/main" id="{B049D292-52D8-4898-A763-2804472963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408"/>
                <a:ext cx="1056" cy="76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</a:t>
                </a:r>
                <a:r>
                  <a:rPr lang="en-US" altLang="it-IT" sz="1400" baseline="-25000">
                    <a:latin typeface="Courier"/>
                  </a:rPr>
                  <a:t>3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(e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,e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)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2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</a:t>
                </a:r>
                <a:r>
                  <a:rPr lang="en-US" altLang="it-IT" sz="1600">
                    <a:latin typeface="Courier"/>
                    <a:sym typeface="Symbol" panose="05050102010706020507" pitchFamily="18" charset="2"/>
                  </a:rPr>
                  <a:t>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(u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,u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)</a:t>
                </a:r>
                <a:endParaRPr lang="en-US" altLang="it-IT" sz="1400">
                  <a:latin typeface="Courier"/>
                </a:endParaRPr>
              </a:p>
              <a:p>
                <a:pPr algn="ctr"/>
                <a:r>
                  <a:rPr lang="en-US" altLang="it-IT" sz="1400">
                    <a:latin typeface="Courier"/>
                  </a:rPr>
                  <a:t>v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w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x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e + f</a:t>
                </a:r>
              </a:p>
            </p:txBody>
          </p:sp>
          <p:sp>
            <p:nvSpPr>
              <p:cNvPr id="38937" name="Text Box 32">
                <a:extLst>
                  <a:ext uri="{FF2B5EF4-FFF2-40B4-BE49-F238E27FC236}">
                    <a16:creationId xmlns:a16="http://schemas.microsoft.com/office/drawing/2014/main" id="{12EDA7AE-8912-4813-A26D-30DC3E6396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36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F</a:t>
                </a:r>
              </a:p>
            </p:txBody>
          </p:sp>
        </p:grpSp>
        <p:sp>
          <p:nvSpPr>
            <p:cNvPr id="38933" name="Line 33">
              <a:extLst>
                <a:ext uri="{FF2B5EF4-FFF2-40B4-BE49-F238E27FC236}">
                  <a16:creationId xmlns:a16="http://schemas.microsoft.com/office/drawing/2014/main" id="{ADAFD819-AC40-42D4-AECF-393B9569D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04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34" name="Line 34">
              <a:extLst>
                <a:ext uri="{FF2B5EF4-FFF2-40B4-BE49-F238E27FC236}">
                  <a16:creationId xmlns:a16="http://schemas.microsoft.com/office/drawing/2014/main" id="{77712379-5D91-4640-B685-4991D087B0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304"/>
              <a:ext cx="19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8935" name="Line 35">
              <a:extLst>
                <a:ext uri="{FF2B5EF4-FFF2-40B4-BE49-F238E27FC236}">
                  <a16:creationId xmlns:a16="http://schemas.microsoft.com/office/drawing/2014/main" id="{E0653F5C-135B-4775-9B48-175A85FF2A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3168"/>
              <a:ext cx="33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37925" name="Text Box 37">
            <a:extLst>
              <a:ext uri="{FF2B5EF4-FFF2-40B4-BE49-F238E27FC236}">
                <a16:creationId xmlns:a16="http://schemas.microsoft.com/office/drawing/2014/main" id="{2FA482BD-677A-4341-8E34-FA2D79DED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306513"/>
            <a:ext cx="3473450" cy="1347787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>
            <a:lvl1pPr marL="174625" indent="-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80000"/>
              </a:lnSpc>
              <a:spcBef>
                <a:spcPct val="25000"/>
              </a:spcBef>
            </a:pPr>
            <a:r>
              <a:rPr lang="en-US" altLang="it-IT"/>
              <a:t>Our example in SSA form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Φ</a:t>
            </a:r>
            <a:r>
              <a:rPr lang="en-US" altLang="it-IT"/>
              <a:t>-functions at join points for names that need them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it-IT"/>
              <a:t>Minimal set of </a:t>
            </a:r>
            <a:r>
              <a:rPr lang="en-US" altLang="it-IT" sz="1600" i="1">
                <a:latin typeface="Geneva"/>
                <a:ea typeface="Geneva"/>
                <a:cs typeface="Geneva"/>
              </a:rPr>
              <a:t>Φ</a:t>
            </a:r>
            <a:r>
              <a:rPr lang="en-US" altLang="it-IT"/>
              <a:t>-functions (see Chapter 9 in EaC)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07967C3A-D022-4952-B3A3-C99513AC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Superlocal Value Numbering 			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E0DEF1A9-2F37-42B4-A5C3-FBE11DBEB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6096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SVN Algorithm</a:t>
            </a:r>
          </a:p>
        </p:txBody>
      </p:sp>
      <p:sp>
        <p:nvSpPr>
          <p:cNvPr id="40963" name="Footer Placeholder 3">
            <a:extLst>
              <a:ext uri="{FF2B5EF4-FFF2-40B4-BE49-F238E27FC236}">
                <a16:creationId xmlns:a16="http://schemas.microsoft.com/office/drawing/2014/main" id="{C0293DF3-64D3-41FD-A3FE-D0CBF5962B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4" name="Slide Number Placeholder 4">
            <a:extLst>
              <a:ext uri="{FF2B5EF4-FFF2-40B4-BE49-F238E27FC236}">
                <a16:creationId xmlns:a16="http://schemas.microsoft.com/office/drawing/2014/main" id="{75F0E135-D2E3-4AF6-9A7C-C6164DC0DE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BF12071-7016-4F61-8357-32FA4963B20E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4BBA7-48F0-4C6E-84E4-511BAF89B606}"/>
              </a:ext>
            </a:extLst>
          </p:cNvPr>
          <p:cNvSpPr txBox="1"/>
          <p:nvPr/>
        </p:nvSpPr>
        <p:spPr>
          <a:xfrm>
            <a:off x="914400" y="1600200"/>
            <a:ext cx="7315200" cy="43465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it-IT" sz="1600" i="1">
                <a:latin typeface="Geneva"/>
                <a:ea typeface="Geneva"/>
                <a:cs typeface="Geneva"/>
              </a:rPr>
              <a:t>WorkList ← { entry block }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Empty ← new table</a:t>
            </a:r>
          </a:p>
          <a:p>
            <a:pPr>
              <a:spcBef>
                <a:spcPts val="6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while (WorkList is not empty)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remove a block b from WorkList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SVN(b, Empty)</a:t>
            </a:r>
          </a:p>
          <a:p>
            <a:pPr>
              <a:spcBef>
                <a:spcPts val="18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SVN( Block, Table)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t ← new table for Block, with Table linked as surrounding scope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LVN( Block, t)</a:t>
            </a:r>
          </a:p>
          <a:p>
            <a:pPr>
              <a:spcBef>
                <a:spcPts val="6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for each successor s of Block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         if s has just 1 predecessor 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 	then SVN( s, t )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    else if s has not been processed </a:t>
            </a:r>
          </a:p>
          <a:p>
            <a:pPr>
              <a:spcBef>
                <a:spcPts val="3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	then add s to WorkList</a:t>
            </a:r>
          </a:p>
          <a:p>
            <a:pPr>
              <a:spcBef>
                <a:spcPts val="600"/>
              </a:spcBef>
              <a:buSzPct val="90000"/>
            </a:pPr>
            <a:r>
              <a:rPr lang="en-US" altLang="it-IT" sz="1600" i="1">
                <a:latin typeface="Geneva"/>
                <a:ea typeface="Geneva"/>
                <a:cs typeface="Geneva"/>
              </a:rPr>
              <a:t>	deallocate 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A4121-FE8A-4ADA-B768-414AAD107D90}"/>
              </a:ext>
            </a:extLst>
          </p:cNvPr>
          <p:cNvSpPr txBox="1"/>
          <p:nvPr/>
        </p:nvSpPr>
        <p:spPr>
          <a:xfrm>
            <a:off x="6400800" y="2019300"/>
            <a:ext cx="18288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Table for base case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D4B8F2-E383-4E51-BF62-1FAC0846D974}"/>
              </a:ext>
            </a:extLst>
          </p:cNvPr>
          <p:cNvSpPr txBox="1"/>
          <p:nvPr/>
        </p:nvSpPr>
        <p:spPr>
          <a:xfrm>
            <a:off x="6400800" y="1701800"/>
            <a:ext cx="18288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Blocks to process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B46F3D-840F-4886-8D2A-A2BADC868051}"/>
              </a:ext>
            </a:extLst>
          </p:cNvPr>
          <p:cNvSpPr txBox="1"/>
          <p:nvPr/>
        </p:nvSpPr>
        <p:spPr>
          <a:xfrm>
            <a:off x="6400800" y="3914775"/>
            <a:ext cx="18288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Use LVN for the 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BB530-56CA-446E-BD0B-17B9B5A39972}"/>
              </a:ext>
            </a:extLst>
          </p:cNvPr>
          <p:cNvSpPr txBox="1"/>
          <p:nvPr/>
        </p:nvSpPr>
        <p:spPr>
          <a:xfrm>
            <a:off x="6400800" y="4419600"/>
            <a:ext cx="18288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 the same EBB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43F243-BABA-4CBC-A264-B8080F130142}"/>
              </a:ext>
            </a:extLst>
          </p:cNvPr>
          <p:cNvSpPr txBox="1"/>
          <p:nvPr/>
        </p:nvSpPr>
        <p:spPr>
          <a:xfrm>
            <a:off x="6400800" y="4981575"/>
            <a:ext cx="18288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Starts a new EBB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2A617-31EE-42A1-93BE-F51457F8B418}"/>
              </a:ext>
            </a:extLst>
          </p:cNvPr>
          <p:cNvSpPr txBox="1"/>
          <p:nvPr/>
        </p:nvSpPr>
        <p:spPr>
          <a:xfrm>
            <a:off x="4660900" y="6146800"/>
            <a:ext cx="34290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Assumes LVN has been parameterized around block and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3">
            <a:extLst>
              <a:ext uri="{FF2B5EF4-FFF2-40B4-BE49-F238E27FC236}">
                <a16:creationId xmlns:a16="http://schemas.microsoft.com/office/drawing/2014/main" id="{EA2F7B02-1583-45C5-B1AC-D3FDBFABEF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1986" name="Slide Number Placeholder 4">
            <a:extLst>
              <a:ext uri="{FF2B5EF4-FFF2-40B4-BE49-F238E27FC236}">
                <a16:creationId xmlns:a16="http://schemas.microsoft.com/office/drawing/2014/main" id="{1FB1EB7F-7F26-4EAC-A9F2-C19DEFC28F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8174BFF-5DD9-418E-9BF7-B3EA681DBA2F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1987" name="Rectangle 6">
            <a:extLst>
              <a:ext uri="{FF2B5EF4-FFF2-40B4-BE49-F238E27FC236}">
                <a16:creationId xmlns:a16="http://schemas.microsoft.com/office/drawing/2014/main" id="{1DCB0F0E-5260-43B6-92EF-967CAE856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Superlocal Value Numbering</a:t>
            </a:r>
            <a:endParaRPr lang="en-US" altLang="it-IT" sz="2000"/>
          </a:p>
        </p:txBody>
      </p:sp>
      <p:grpSp>
        <p:nvGrpSpPr>
          <p:cNvPr id="41988" name="Group 7">
            <a:extLst>
              <a:ext uri="{FF2B5EF4-FFF2-40B4-BE49-F238E27FC236}">
                <a16:creationId xmlns:a16="http://schemas.microsoft.com/office/drawing/2014/main" id="{F73C9EFA-E609-4EDF-8BFC-4C85FAB2F23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308100"/>
            <a:ext cx="5715000" cy="4787900"/>
            <a:chOff x="480" y="768"/>
            <a:chExt cx="3600" cy="3016"/>
          </a:xfrm>
        </p:grpSpPr>
        <p:sp>
          <p:nvSpPr>
            <p:cNvPr id="41991" name="Text Box 8">
              <a:extLst>
                <a:ext uri="{FF2B5EF4-FFF2-40B4-BE49-F238E27FC236}">
                  <a16:creationId xmlns:a16="http://schemas.microsoft.com/office/drawing/2014/main" id="{B641C7BA-EE51-4FCC-9523-4D1E2339C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816"/>
              <a:ext cx="864" cy="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Courier"/>
                </a:rPr>
                <a:t>m</a:t>
              </a:r>
              <a:r>
                <a:rPr lang="en-US" altLang="it-IT" sz="1400" baseline="-25000">
                  <a:latin typeface="Courier"/>
                </a:rPr>
                <a:t>0</a:t>
              </a:r>
              <a:r>
                <a:rPr lang="en-US" altLang="it-IT" sz="1400">
                  <a:latin typeface="Courier"/>
                </a:rPr>
                <a:t> </a:t>
              </a:r>
              <a:r>
                <a:rPr lang="en-US" altLang="it-IT" sz="1400">
                  <a:latin typeface="Courier"/>
                  <a:sym typeface="Symbol" panose="05050102010706020507" pitchFamily="18" charset="2"/>
                </a:rPr>
                <a:t> a + b</a:t>
              </a:r>
            </a:p>
            <a:p>
              <a:pPr algn="ctr"/>
              <a:r>
                <a:rPr lang="en-US" altLang="it-IT" sz="1400" b="1">
                  <a:solidFill>
                    <a:srgbClr val="FF0065"/>
                  </a:solidFill>
                  <a:latin typeface="Courier"/>
                  <a:sym typeface="Symbol" panose="05050102010706020507" pitchFamily="18" charset="2"/>
                </a:rPr>
                <a:t>n</a:t>
              </a:r>
              <a:r>
                <a:rPr lang="en-US" altLang="it-IT" sz="1400" b="1" baseline="-25000">
                  <a:solidFill>
                    <a:srgbClr val="FF0065"/>
                  </a:solidFill>
                  <a:latin typeface="Courier"/>
                  <a:sym typeface="Symbol" panose="05050102010706020507" pitchFamily="18" charset="2"/>
                </a:rPr>
                <a:t>0</a:t>
              </a:r>
              <a:r>
                <a:rPr lang="en-US" altLang="it-IT" sz="1400" b="1">
                  <a:solidFill>
                    <a:srgbClr val="FF0065"/>
                  </a:solidFill>
                  <a:latin typeface="Courier"/>
                  <a:sym typeface="Symbol" panose="05050102010706020507" pitchFamily="18" charset="2"/>
                </a:rPr>
                <a:t>  a + b</a:t>
              </a:r>
              <a:endParaRPr lang="en-US" altLang="it-IT" sz="1600" b="1">
                <a:latin typeface="Monaco"/>
                <a:sym typeface="Symbol" panose="05050102010706020507" pitchFamily="18" charset="2"/>
              </a:endParaRPr>
            </a:p>
          </p:txBody>
        </p:sp>
        <p:sp>
          <p:nvSpPr>
            <p:cNvPr id="41992" name="Text Box 9">
              <a:extLst>
                <a:ext uri="{FF2B5EF4-FFF2-40B4-BE49-F238E27FC236}">
                  <a16:creationId xmlns:a16="http://schemas.microsoft.com/office/drawing/2014/main" id="{3F348BD9-CB4B-4EEE-B8DF-797897278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grpSp>
          <p:nvGrpSpPr>
            <p:cNvPr id="41993" name="Group 10">
              <a:extLst>
                <a:ext uri="{FF2B5EF4-FFF2-40B4-BE49-F238E27FC236}">
                  <a16:creationId xmlns:a16="http://schemas.microsoft.com/office/drawing/2014/main" id="{E2A13443-C211-4A7C-9F38-0D67075665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96"/>
              <a:ext cx="1056" cy="386"/>
              <a:chOff x="480" y="1401"/>
              <a:chExt cx="1056" cy="386"/>
            </a:xfrm>
          </p:grpSpPr>
          <p:sp>
            <p:nvSpPr>
              <p:cNvPr id="42017" name="Text Box 11">
                <a:extLst>
                  <a:ext uri="{FF2B5EF4-FFF2-40B4-BE49-F238E27FC236}">
                    <a16:creationId xmlns:a16="http://schemas.microsoft.com/office/drawing/2014/main" id="{091BCC29-565D-409B-AB10-3F24D9D1A8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449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p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c + d</a:t>
                </a:r>
              </a:p>
              <a:p>
                <a:pPr algn="ctr"/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r</a:t>
                </a:r>
                <a:r>
                  <a:rPr lang="en-US" altLang="it-IT" sz="1400" b="1" baseline="-25000">
                    <a:solidFill>
                      <a:srgbClr val="FF0065"/>
                    </a:solidFill>
                    <a:latin typeface="Courier"/>
                  </a:rPr>
                  <a:t>0</a:t>
                </a:r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  c + d</a:t>
                </a:r>
                <a:endParaRPr lang="en-US" altLang="it-IT" sz="1400">
                  <a:solidFill>
                    <a:srgbClr val="888888"/>
                  </a:solidFill>
                  <a:latin typeface="Courier"/>
                  <a:sym typeface="Symbol" panose="05050102010706020507" pitchFamily="18" charset="2"/>
                </a:endParaRPr>
              </a:p>
            </p:txBody>
          </p:sp>
          <p:sp>
            <p:nvSpPr>
              <p:cNvPr id="42018" name="Text Box 12">
                <a:extLst>
                  <a:ext uri="{FF2B5EF4-FFF2-40B4-BE49-F238E27FC236}">
                    <a16:creationId xmlns:a16="http://schemas.microsoft.com/office/drawing/2014/main" id="{1EFF4165-69EA-4360-ABE7-5529F3A894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40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B</a:t>
                </a:r>
              </a:p>
            </p:txBody>
          </p:sp>
        </p:grpSp>
        <p:grpSp>
          <p:nvGrpSpPr>
            <p:cNvPr id="41994" name="Group 13">
              <a:extLst>
                <a:ext uri="{FF2B5EF4-FFF2-40B4-BE49-F238E27FC236}">
                  <a16:creationId xmlns:a16="http://schemas.microsoft.com/office/drawing/2014/main" id="{68673425-AD41-4561-B9EF-47F61C4EC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3264"/>
              <a:ext cx="1296" cy="520"/>
              <a:chOff x="1344" y="3312"/>
              <a:chExt cx="1296" cy="520"/>
            </a:xfrm>
          </p:grpSpPr>
          <p:sp>
            <p:nvSpPr>
              <p:cNvPr id="42015" name="Text Box 14">
                <a:extLst>
                  <a:ext uri="{FF2B5EF4-FFF2-40B4-BE49-F238E27FC236}">
                    <a16:creationId xmlns:a16="http://schemas.microsoft.com/office/drawing/2014/main" id="{3DA78B74-E0CB-4511-B0D0-AE8C528B1F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3360"/>
                <a:ext cx="1104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r</a:t>
                </a:r>
                <a:r>
                  <a:rPr lang="en-US" altLang="it-IT" sz="1400" baseline="-25000">
                    <a:latin typeface="Courier"/>
                  </a:rPr>
                  <a:t>2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</a:t>
                </a:r>
                <a:r>
                  <a:rPr lang="en-US" altLang="it-IT" sz="1400">
                    <a:latin typeface="Courier"/>
                  </a:rPr>
                  <a:t> 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(r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,r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)</a:t>
                </a:r>
                <a:endParaRPr lang="en-US" altLang="it-IT" sz="1400" baseline="-25000">
                  <a:latin typeface="Courier"/>
                </a:endParaRPr>
              </a:p>
              <a:p>
                <a:pPr algn="ctr"/>
                <a:r>
                  <a:rPr lang="en-US" altLang="it-IT" sz="1400">
                    <a:latin typeface="Courier"/>
                  </a:rPr>
                  <a:t>y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z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c + d</a:t>
                </a:r>
              </a:p>
            </p:txBody>
          </p:sp>
          <p:sp>
            <p:nvSpPr>
              <p:cNvPr id="42016" name="Text Box 15">
                <a:extLst>
                  <a:ext uri="{FF2B5EF4-FFF2-40B4-BE49-F238E27FC236}">
                    <a16:creationId xmlns:a16="http://schemas.microsoft.com/office/drawing/2014/main" id="{1E27ADB2-09B6-4FA4-881A-56FA009A76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31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G</a:t>
                </a:r>
              </a:p>
            </p:txBody>
          </p:sp>
        </p:grpSp>
        <p:sp>
          <p:nvSpPr>
            <p:cNvPr id="41995" name="Line 16">
              <a:extLst>
                <a:ext uri="{FF2B5EF4-FFF2-40B4-BE49-F238E27FC236}">
                  <a16:creationId xmlns:a16="http://schemas.microsoft.com/office/drawing/2014/main" id="{4F7ABBB6-3A9C-4C15-B94D-885291D30C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152"/>
              <a:ext cx="138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41996" name="Group 17">
              <a:extLst>
                <a:ext uri="{FF2B5EF4-FFF2-40B4-BE49-F238E27FC236}">
                  <a16:creationId xmlns:a16="http://schemas.microsoft.com/office/drawing/2014/main" id="{29AE7747-3056-4A23-9169-397A62C6A3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296"/>
              <a:ext cx="1056" cy="386"/>
              <a:chOff x="1248" y="864"/>
              <a:chExt cx="1056" cy="386"/>
            </a:xfrm>
          </p:grpSpPr>
          <p:sp>
            <p:nvSpPr>
              <p:cNvPr id="42013" name="Text Box 18">
                <a:extLst>
                  <a:ext uri="{FF2B5EF4-FFF2-40B4-BE49-F238E27FC236}">
                    <a16:creationId xmlns:a16="http://schemas.microsoft.com/office/drawing/2014/main" id="{69768FA7-E057-45B6-9F98-3C9FA6E2B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912"/>
                <a:ext cx="864" cy="3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</a:rPr>
                  <a:t>q</a:t>
                </a:r>
                <a:r>
                  <a:rPr lang="en-US" altLang="it-IT" sz="1400" b="1" baseline="-25000">
                    <a:solidFill>
                      <a:srgbClr val="FF0065"/>
                    </a:solidFill>
                    <a:latin typeface="Courier"/>
                  </a:rPr>
                  <a:t>0</a:t>
                </a:r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</a:rPr>
                  <a:t> </a:t>
                </a:r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 a + b</a:t>
                </a:r>
                <a:endParaRPr lang="en-US" altLang="it-IT" sz="1400">
                  <a:latin typeface="Courier"/>
                  <a:sym typeface="Symbol" panose="05050102010706020507" pitchFamily="18" charset="2"/>
                </a:endParaRP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r</a:t>
                </a:r>
                <a:r>
                  <a:rPr lang="en-US" altLang="it-IT" sz="1400" baseline="-25000">
                    <a:latin typeface="Courier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c + d</a:t>
                </a:r>
              </a:p>
            </p:txBody>
          </p:sp>
          <p:sp>
            <p:nvSpPr>
              <p:cNvPr id="42014" name="Text Box 19">
                <a:extLst>
                  <a:ext uri="{FF2B5EF4-FFF2-40B4-BE49-F238E27FC236}">
                    <a16:creationId xmlns:a16="http://schemas.microsoft.com/office/drawing/2014/main" id="{AB12AD52-ACB3-45B6-BE08-3C44872CCE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86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C</a:t>
                </a:r>
              </a:p>
            </p:txBody>
          </p:sp>
        </p:grpSp>
        <p:grpSp>
          <p:nvGrpSpPr>
            <p:cNvPr id="41997" name="Group 20">
              <a:extLst>
                <a:ext uri="{FF2B5EF4-FFF2-40B4-BE49-F238E27FC236}">
                  <a16:creationId xmlns:a16="http://schemas.microsoft.com/office/drawing/2014/main" id="{C451C4F6-C237-4F02-BF77-3673E7598A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776"/>
              <a:ext cx="1104" cy="520"/>
              <a:chOff x="1680" y="1873"/>
              <a:chExt cx="1104" cy="520"/>
            </a:xfrm>
          </p:grpSpPr>
          <p:sp>
            <p:nvSpPr>
              <p:cNvPr id="42011" name="Text Box 21">
                <a:extLst>
                  <a:ext uri="{FF2B5EF4-FFF2-40B4-BE49-F238E27FC236}">
                    <a16:creationId xmlns:a16="http://schemas.microsoft.com/office/drawing/2014/main" id="{951C9587-A7E1-4B81-A401-CEB09A766E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921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b + 18</a:t>
                </a:r>
              </a:p>
              <a:p>
                <a:pPr algn="ctr"/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s</a:t>
                </a:r>
                <a:r>
                  <a:rPr lang="en-US" altLang="it-IT" sz="1400" b="1" baseline="-25000">
                    <a:solidFill>
                      <a:srgbClr val="FF0065"/>
                    </a:solidFill>
                    <a:latin typeface="Courier"/>
                  </a:rPr>
                  <a:t>0</a:t>
                </a:r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  a + b</a:t>
                </a:r>
                <a:endParaRPr lang="en-US" altLang="it-IT" sz="1400">
                  <a:latin typeface="Courier"/>
                  <a:sym typeface="Symbol" panose="05050102010706020507" pitchFamily="18" charset="2"/>
                </a:endParaRP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e + f</a:t>
                </a:r>
              </a:p>
            </p:txBody>
          </p:sp>
          <p:sp>
            <p:nvSpPr>
              <p:cNvPr id="42012" name="Text Box 22">
                <a:extLst>
                  <a:ext uri="{FF2B5EF4-FFF2-40B4-BE49-F238E27FC236}">
                    <a16:creationId xmlns:a16="http://schemas.microsoft.com/office/drawing/2014/main" id="{EA11E3C5-EDD9-4E2C-8039-B7E1214B1F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873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D</a:t>
                </a:r>
              </a:p>
            </p:txBody>
          </p:sp>
        </p:grpSp>
        <p:grpSp>
          <p:nvGrpSpPr>
            <p:cNvPr id="41998" name="Group 23">
              <a:extLst>
                <a:ext uri="{FF2B5EF4-FFF2-40B4-BE49-F238E27FC236}">
                  <a16:creationId xmlns:a16="http://schemas.microsoft.com/office/drawing/2014/main" id="{8F09BEE1-C58F-4804-BD1D-09FA36BA94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1104" cy="520"/>
              <a:chOff x="1680" y="2024"/>
              <a:chExt cx="1104" cy="520"/>
            </a:xfrm>
          </p:grpSpPr>
          <p:sp>
            <p:nvSpPr>
              <p:cNvPr id="42009" name="Text Box 24">
                <a:extLst>
                  <a:ext uri="{FF2B5EF4-FFF2-40B4-BE49-F238E27FC236}">
                    <a16:creationId xmlns:a16="http://schemas.microsoft.com/office/drawing/2014/main" id="{6A6C38BF-846A-47DA-ABA6-ABC4E7BA49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072"/>
                <a:ext cx="912" cy="4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</a:t>
                </a:r>
                <a:r>
                  <a:rPr lang="en-US" altLang="it-IT" sz="1400" baseline="-25000">
                    <a:latin typeface="Courier"/>
                  </a:rPr>
                  <a:t>1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+ 17</a:t>
                </a:r>
              </a:p>
              <a:p>
                <a:pPr algn="ctr"/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t</a:t>
                </a:r>
                <a:r>
                  <a:rPr lang="en-US" altLang="it-IT" sz="1400" b="1" baseline="-25000">
                    <a:solidFill>
                      <a:srgbClr val="FF0065"/>
                    </a:solidFill>
                    <a:latin typeface="Courier"/>
                  </a:rPr>
                  <a:t>0</a:t>
                </a:r>
                <a:r>
                  <a:rPr lang="en-US" altLang="it-IT" sz="1400" b="1">
                    <a:solidFill>
                      <a:srgbClr val="FF0065"/>
                    </a:solidFill>
                    <a:latin typeface="Courier"/>
                    <a:sym typeface="Symbol" panose="05050102010706020507" pitchFamily="18" charset="2"/>
                  </a:rPr>
                  <a:t>  c + d</a:t>
                </a:r>
                <a:endParaRPr lang="en-US" altLang="it-IT" sz="1400">
                  <a:latin typeface="Courier"/>
                  <a:sym typeface="Symbol" panose="05050102010706020507" pitchFamily="18" charset="2"/>
                </a:endParaRP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</a:t>
                </a:r>
                <a:r>
                  <a:rPr lang="en-US" altLang="it-IT" sz="1400" baseline="-25000">
                    <a:latin typeface="Courier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e + f</a:t>
                </a:r>
              </a:p>
            </p:txBody>
          </p:sp>
          <p:sp>
            <p:nvSpPr>
              <p:cNvPr id="42010" name="Text Box 25">
                <a:extLst>
                  <a:ext uri="{FF2B5EF4-FFF2-40B4-BE49-F238E27FC236}">
                    <a16:creationId xmlns:a16="http://schemas.microsoft.com/office/drawing/2014/main" id="{97C91190-7E86-4193-8D63-3F33851AA5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</p:grpSp>
        <p:sp>
          <p:nvSpPr>
            <p:cNvPr id="41999" name="Line 26">
              <a:extLst>
                <a:ext uri="{FF2B5EF4-FFF2-40B4-BE49-F238E27FC236}">
                  <a16:creationId xmlns:a16="http://schemas.microsoft.com/office/drawing/2014/main" id="{B14FE59A-A26B-4C2E-9834-D5256C2249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0" name="Line 27">
              <a:extLst>
                <a:ext uri="{FF2B5EF4-FFF2-40B4-BE49-F238E27FC236}">
                  <a16:creationId xmlns:a16="http://schemas.microsoft.com/office/drawing/2014/main" id="{03110975-B0CE-42E2-9908-CD568379E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80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1" name="Line 28">
              <a:extLst>
                <a:ext uri="{FF2B5EF4-FFF2-40B4-BE49-F238E27FC236}">
                  <a16:creationId xmlns:a16="http://schemas.microsoft.com/office/drawing/2014/main" id="{93A2166D-DF67-42A3-A881-51628E6F1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52"/>
              <a:ext cx="33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2" name="Line 29">
              <a:extLst>
                <a:ext uri="{FF2B5EF4-FFF2-40B4-BE49-F238E27FC236}">
                  <a16:creationId xmlns:a16="http://schemas.microsoft.com/office/drawing/2014/main" id="{05DC5D83-129C-469B-8E73-BC537265C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680"/>
              <a:ext cx="336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42003" name="Group 30">
              <a:extLst>
                <a:ext uri="{FF2B5EF4-FFF2-40B4-BE49-F238E27FC236}">
                  <a16:creationId xmlns:a16="http://schemas.microsoft.com/office/drawing/2014/main" id="{DDFCCD98-0EAA-409E-B8A8-87A7AB591A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60"/>
              <a:ext cx="1248" cy="808"/>
              <a:chOff x="2208" y="2360"/>
              <a:chExt cx="1248" cy="808"/>
            </a:xfrm>
          </p:grpSpPr>
          <p:sp>
            <p:nvSpPr>
              <p:cNvPr id="42007" name="Text Box 31">
                <a:extLst>
                  <a:ext uri="{FF2B5EF4-FFF2-40B4-BE49-F238E27FC236}">
                    <a16:creationId xmlns:a16="http://schemas.microsoft.com/office/drawing/2014/main" id="{6ECC3567-61CB-46BE-9A99-C7400FBCDE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408"/>
                <a:ext cx="1056" cy="76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Courier"/>
                  </a:rPr>
                  <a:t>e</a:t>
                </a:r>
                <a:r>
                  <a:rPr lang="en-US" altLang="it-IT" sz="1400" baseline="-25000">
                    <a:latin typeface="Courier"/>
                  </a:rPr>
                  <a:t>3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(e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,e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)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u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2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</a:t>
                </a:r>
                <a:r>
                  <a:rPr lang="en-US" altLang="it-IT" sz="1600">
                    <a:latin typeface="Courier"/>
                    <a:sym typeface="Symbol" panose="05050102010706020507" pitchFamily="18" charset="2"/>
                  </a:rPr>
                  <a:t>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(u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,u</a:t>
                </a:r>
                <a:r>
                  <a:rPr lang="en-US" altLang="it-IT" sz="1400" baseline="-25000">
                    <a:latin typeface="Courier"/>
                    <a:sym typeface="Symbol" panose="05050102010706020507" pitchFamily="18" charset="2"/>
                  </a:rPr>
                  <a:t>1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)</a:t>
                </a:r>
                <a:endParaRPr lang="en-US" altLang="it-IT" sz="1400">
                  <a:latin typeface="Courier"/>
                </a:endParaRPr>
              </a:p>
              <a:p>
                <a:pPr algn="ctr"/>
                <a:r>
                  <a:rPr lang="en-US" altLang="it-IT" sz="1400">
                    <a:latin typeface="Courier"/>
                  </a:rPr>
                  <a:t>v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</a:rPr>
                  <a:t> 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 a + b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w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c + d</a:t>
                </a:r>
              </a:p>
              <a:p>
                <a:pPr algn="ctr"/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x</a:t>
                </a:r>
                <a:r>
                  <a:rPr lang="en-US" altLang="it-IT" sz="1400" baseline="-25000">
                    <a:latin typeface="Courier"/>
                  </a:rPr>
                  <a:t>0</a:t>
                </a:r>
                <a:r>
                  <a:rPr lang="en-US" altLang="it-IT" sz="1400">
                    <a:latin typeface="Courier"/>
                    <a:sym typeface="Symbol" panose="05050102010706020507" pitchFamily="18" charset="2"/>
                  </a:rPr>
                  <a:t>  e + f</a:t>
                </a:r>
              </a:p>
            </p:txBody>
          </p:sp>
          <p:sp>
            <p:nvSpPr>
              <p:cNvPr id="42008" name="Text Box 32">
                <a:extLst>
                  <a:ext uri="{FF2B5EF4-FFF2-40B4-BE49-F238E27FC236}">
                    <a16:creationId xmlns:a16="http://schemas.microsoft.com/office/drawing/2014/main" id="{818FB071-CDE8-46F6-BA58-A0EE3AC774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36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F</a:t>
                </a:r>
              </a:p>
            </p:txBody>
          </p:sp>
        </p:grpSp>
        <p:sp>
          <p:nvSpPr>
            <p:cNvPr id="42004" name="Line 33">
              <a:extLst>
                <a:ext uri="{FF2B5EF4-FFF2-40B4-BE49-F238E27FC236}">
                  <a16:creationId xmlns:a16="http://schemas.microsoft.com/office/drawing/2014/main" id="{F993B392-A424-4067-8376-A31ECA672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04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5" name="Line 34">
              <a:extLst>
                <a:ext uri="{FF2B5EF4-FFF2-40B4-BE49-F238E27FC236}">
                  <a16:creationId xmlns:a16="http://schemas.microsoft.com/office/drawing/2014/main" id="{47C152BF-0A9A-41CC-9D9E-B9624D80B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304"/>
              <a:ext cx="19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6" name="Line 35">
              <a:extLst>
                <a:ext uri="{FF2B5EF4-FFF2-40B4-BE49-F238E27FC236}">
                  <a16:creationId xmlns:a16="http://schemas.microsoft.com/office/drawing/2014/main" id="{2C6AA732-CCE6-460D-B215-73F314BA6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3168"/>
              <a:ext cx="33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37925" name="Text Box 37">
            <a:extLst>
              <a:ext uri="{FF2B5EF4-FFF2-40B4-BE49-F238E27FC236}">
                <a16:creationId xmlns:a16="http://schemas.microsoft.com/office/drawing/2014/main" id="{7AA96A99-3FCD-40C1-9EA7-8642F2D14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306513"/>
            <a:ext cx="3473450" cy="1195387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74625" indent="-174625" eaLnBrk="0" hangingPunct="0">
              <a:lnSpc>
                <a:spcPct val="80000"/>
              </a:lnSpc>
              <a:spcBef>
                <a:spcPct val="25000"/>
              </a:spcBef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With all the bells &amp; whistles</a:t>
            </a:r>
          </a:p>
          <a:p>
            <a:pPr marL="174625" indent="-174625" eaLnBrk="0" hangingPunct="0">
              <a:lnSpc>
                <a:spcPct val="8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Find more </a:t>
            </a:r>
            <a:r>
              <a:rPr lang="en-US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redundancy</a:t>
            </a:r>
          </a:p>
          <a:p>
            <a:pPr marL="174625" indent="-174625" eaLnBrk="0" hangingPunct="0">
              <a:lnSpc>
                <a:spcPct val="8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Pay minimal extra cost</a:t>
            </a:r>
          </a:p>
          <a:p>
            <a:pPr marL="174625" indent="-174625" eaLnBrk="0" hangingPunct="0">
              <a:lnSpc>
                <a:spcPct val="8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Still does nothing for F &amp; G</a:t>
            </a:r>
          </a:p>
        </p:txBody>
      </p:sp>
      <p:sp>
        <p:nvSpPr>
          <p:cNvPr id="37926" name="Text Box 38">
            <a:extLst>
              <a:ext uri="{FF2B5EF4-FFF2-40B4-BE49-F238E27FC236}">
                <a16:creationId xmlns:a16="http://schemas.microsoft.com/office/drawing/2014/main" id="{BF42393C-B792-421D-B324-1587619BB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388" y="4419600"/>
            <a:ext cx="3657600" cy="1535113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223838" indent="-223838" eaLnBrk="0" hangingPunct="0">
              <a:lnSpc>
                <a:spcPct val="90000"/>
              </a:lnSpc>
              <a:spcBef>
                <a:spcPct val="25000"/>
              </a:spcBef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Superlocal techniques </a:t>
            </a:r>
          </a:p>
          <a:p>
            <a:pPr marL="223838" indent="-223838" eaLnBrk="0" hangingPunct="0">
              <a:lnSpc>
                <a:spcPct val="9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Some local methods extend cleanly to superlocal scopes</a:t>
            </a:r>
          </a:p>
          <a:p>
            <a:pPr marL="223838" indent="-223838" eaLnBrk="0" hangingPunct="0">
              <a:lnSpc>
                <a:spcPct val="9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VN does not back up</a:t>
            </a:r>
          </a:p>
          <a:p>
            <a:pPr marL="223838" indent="-223838" eaLnBrk="0" hangingPunct="0">
              <a:lnSpc>
                <a:spcPct val="90000"/>
              </a:lnSpc>
              <a:spcBef>
                <a:spcPct val="2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Backward motion causes probs</a:t>
            </a:r>
            <a:endParaRPr lang="en-US" sz="1600">
              <a:latin typeface="Arial Rounded MT Bold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E0CF019B-20FE-4CC1-9672-89A16371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Loop Unrolling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A67B8E72-79A6-4DCF-9C99-ABB3EBF36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Applications spend a lot of time in loops</a:t>
            </a:r>
          </a:p>
          <a:p>
            <a:pPr eaLnBrk="1" hangingPunct="1"/>
            <a:r>
              <a:rPr lang="en-US" altLang="it-IT"/>
              <a:t>We can reduce loop overhead by unrolling the loop</a:t>
            </a:r>
          </a:p>
          <a:p>
            <a:pPr eaLnBrk="1" hangingPunct="1">
              <a:spcBef>
                <a:spcPts val="16800"/>
              </a:spcBef>
            </a:pPr>
            <a:r>
              <a:rPr lang="en-US" altLang="it-IT"/>
              <a:t>Eliminated additions, tests, and branches</a:t>
            </a:r>
          </a:p>
          <a:p>
            <a:pPr lvl="1" eaLnBrk="1" hangingPunct="1"/>
            <a:r>
              <a:rPr lang="en-US" altLang="it-IT" i="1"/>
              <a:t>Can subject resulting code to strong local optimization!</a:t>
            </a:r>
          </a:p>
          <a:p>
            <a:pPr eaLnBrk="1" hangingPunct="1"/>
            <a:r>
              <a:rPr lang="en-US" altLang="it-IT"/>
              <a:t>Only works with fixed loop bounds &amp; few iterations</a:t>
            </a:r>
          </a:p>
          <a:p>
            <a:pPr eaLnBrk="1" hangingPunct="1"/>
            <a:r>
              <a:rPr lang="en-US" altLang="it-IT"/>
              <a:t>The principle, however, is sound</a:t>
            </a:r>
          </a:p>
          <a:p>
            <a:pPr eaLnBrk="1" hangingPunct="1"/>
            <a:r>
              <a:rPr lang="en-US" altLang="it-IT"/>
              <a:t>Unrolling is always safe, as long as we get the bounds right</a:t>
            </a:r>
          </a:p>
        </p:txBody>
      </p:sp>
      <p:sp>
        <p:nvSpPr>
          <p:cNvPr id="44035" name="Footer Placeholder 3">
            <a:extLst>
              <a:ext uri="{FF2B5EF4-FFF2-40B4-BE49-F238E27FC236}">
                <a16:creationId xmlns:a16="http://schemas.microsoft.com/office/drawing/2014/main" id="{A383ABBF-06CA-4AF9-8626-D9E4779CB5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4036" name="Slide Number Placeholder 4">
            <a:extLst>
              <a:ext uri="{FF2B5EF4-FFF2-40B4-BE49-F238E27FC236}">
                <a16:creationId xmlns:a16="http://schemas.microsoft.com/office/drawing/2014/main" id="{BBD64121-CBBC-4587-A8C7-0FE74B2BC7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82ECE50-205B-4833-8063-9113CF0155C7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82844-6D42-4AA3-B08B-B57717FB7424}"/>
              </a:ext>
            </a:extLst>
          </p:cNvPr>
          <p:cNvSpPr txBox="1"/>
          <p:nvPr/>
        </p:nvSpPr>
        <p:spPr>
          <a:xfrm>
            <a:off x="685800" y="190500"/>
            <a:ext cx="2438400" cy="36988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 Regional Technique</a:t>
            </a:r>
          </a:p>
        </p:txBody>
      </p:sp>
      <p:sp>
        <p:nvSpPr>
          <p:cNvPr id="44038" name="TextBox 6">
            <a:extLst>
              <a:ext uri="{FF2B5EF4-FFF2-40B4-BE49-F238E27FC236}">
                <a16:creationId xmlns:a16="http://schemas.microsoft.com/office/drawing/2014/main" id="{5130AD6D-21DC-498A-9D28-D51760435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latin typeface="Geneva"/>
                <a:ea typeface="Geneva"/>
                <a:cs typeface="Geneva"/>
              </a:rPr>
              <a:t>do i = 1 to 100 by 1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a(i) ← b(i) * c(i)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end</a:t>
            </a:r>
          </a:p>
        </p:txBody>
      </p:sp>
      <p:sp>
        <p:nvSpPr>
          <p:cNvPr id="44039" name="TextBox 7">
            <a:extLst>
              <a:ext uri="{FF2B5EF4-FFF2-40B4-BE49-F238E27FC236}">
                <a16:creationId xmlns:a16="http://schemas.microsoft.com/office/drawing/2014/main" id="{2DB07E0B-134C-4281-83EE-40841BB73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286000"/>
            <a:ext cx="32766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latin typeface="Geneva"/>
                <a:ea typeface="Geneva"/>
                <a:cs typeface="Geneva"/>
              </a:rPr>
              <a:t>a(1)     ← b(1) * c(1)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a(2)     ← b(2) * c(2)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a(2)     ← b(3) * c(3)</a:t>
            </a:r>
          </a:p>
          <a:p>
            <a:pPr>
              <a:lnSpc>
                <a:spcPts val="1500"/>
              </a:lnSpc>
            </a:pPr>
            <a:r>
              <a:rPr lang="en-US" altLang="it-IT" i="1">
                <a:latin typeface="Geneva"/>
                <a:ea typeface="Geneva"/>
                <a:cs typeface="Geneva"/>
              </a:rPr>
              <a:t>  …</a:t>
            </a:r>
          </a:p>
          <a:p>
            <a:pPr>
              <a:spcBef>
                <a:spcPts val="600"/>
              </a:spcBef>
            </a:pPr>
            <a:r>
              <a:rPr lang="en-US" altLang="it-IT" i="1">
                <a:latin typeface="Geneva"/>
                <a:ea typeface="Geneva"/>
                <a:cs typeface="Geneva"/>
              </a:rPr>
              <a:t>a(100) ← b(100) * c(100)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34BFC02-E49E-426D-BDC7-9303FB86EDAB}"/>
              </a:ext>
            </a:extLst>
          </p:cNvPr>
          <p:cNvSpPr/>
          <p:nvPr/>
        </p:nvSpPr>
        <p:spPr bwMode="auto">
          <a:xfrm>
            <a:off x="3810000" y="2514600"/>
            <a:ext cx="1066800" cy="457200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CA2B6-1B2B-4449-8B67-BDFFCC77990A}"/>
              </a:ext>
            </a:extLst>
          </p:cNvPr>
          <p:cNvSpPr txBox="1"/>
          <p:nvPr/>
        </p:nvSpPr>
        <p:spPr>
          <a:xfrm>
            <a:off x="3581400" y="3048000"/>
            <a:ext cx="1524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Complete unrolling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0542F638-6145-4F05-85C5-36DB4804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Loop Unrolling</a:t>
            </a:r>
          </a:p>
        </p:txBody>
      </p:sp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7CFB87B8-5646-4655-A19F-BF3E381A2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Unrolling by smaller factors can achieve much of the benefit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Example: unroll by 4</a:t>
            </a:r>
          </a:p>
          <a:p>
            <a:pPr eaLnBrk="1" hangingPunct="1">
              <a:spcBef>
                <a:spcPts val="16200"/>
              </a:spcBef>
              <a:buFont typeface="Times" panose="02020603050405020304" pitchFamily="18" charset="0"/>
              <a:buNone/>
            </a:pPr>
            <a:r>
              <a:rPr lang="en-US" altLang="it-IT"/>
              <a:t>Achieves much of the savings with lower code growth</a:t>
            </a:r>
          </a:p>
          <a:p>
            <a:pPr eaLnBrk="1" hangingPunct="1"/>
            <a:r>
              <a:rPr lang="en-US" altLang="it-IT"/>
              <a:t>Reduces tests &amp; branches by 25%</a:t>
            </a:r>
          </a:p>
          <a:p>
            <a:pPr eaLnBrk="1" hangingPunct="1"/>
            <a:r>
              <a:rPr lang="en-US" altLang="it-IT"/>
              <a:t>LVN will eliminate duplicate adds and redundant expressions</a:t>
            </a:r>
          </a:p>
          <a:p>
            <a:pPr eaLnBrk="1" hangingPunct="1"/>
            <a:r>
              <a:rPr lang="en-US" altLang="it-IT"/>
              <a:t>Less overhead per useful operation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But, it relied on knowledge of the loop bounds…</a:t>
            </a:r>
          </a:p>
        </p:txBody>
      </p:sp>
      <p:sp>
        <p:nvSpPr>
          <p:cNvPr id="45059" name="Footer Placeholder 3">
            <a:extLst>
              <a:ext uri="{FF2B5EF4-FFF2-40B4-BE49-F238E27FC236}">
                <a16:creationId xmlns:a16="http://schemas.microsoft.com/office/drawing/2014/main" id="{9DDB4A8D-597A-4959-BDA5-D0AC3BE907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060" name="Slide Number Placeholder 4">
            <a:extLst>
              <a:ext uri="{FF2B5EF4-FFF2-40B4-BE49-F238E27FC236}">
                <a16:creationId xmlns:a16="http://schemas.microsoft.com/office/drawing/2014/main" id="{37B22D68-9C38-42CF-B131-73B2C1C4E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BFEC15E-3282-4786-AA14-639B13B7A5A9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5061" name="TextBox 5">
            <a:extLst>
              <a:ext uri="{FF2B5EF4-FFF2-40B4-BE49-F238E27FC236}">
                <a16:creationId xmlns:a16="http://schemas.microsoft.com/office/drawing/2014/main" id="{E8D42BD7-DCF3-42D8-ADB7-0617868CD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latin typeface="Geneva"/>
                <a:ea typeface="Geneva"/>
                <a:cs typeface="Geneva"/>
              </a:rPr>
              <a:t>do i = 1 to 100 by 1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a(i) ← b(i) * c(i)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end</a:t>
            </a:r>
          </a:p>
        </p:txBody>
      </p:sp>
      <p:sp>
        <p:nvSpPr>
          <p:cNvPr id="45062" name="TextBox 6">
            <a:extLst>
              <a:ext uri="{FF2B5EF4-FFF2-40B4-BE49-F238E27FC236}">
                <a16:creationId xmlns:a16="http://schemas.microsoft.com/office/drawing/2014/main" id="{B94B96DA-A3E1-4DA3-8ADB-F483C4C95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286000"/>
            <a:ext cx="32766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latin typeface="Geneva"/>
                <a:ea typeface="Geneva"/>
                <a:cs typeface="Geneva"/>
              </a:rPr>
              <a:t>do i = 1 to 100 by 4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a(i)     ← b(i) * c(i)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a(i+1) ← b(i+1) * c(i+1)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a(i+2) ← b(i+2) * c(i+2)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a(i+3) ← b(i+3) * c(i+3)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end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58E5E48-EEFA-4EF0-A8FC-63778AF69618}"/>
              </a:ext>
            </a:extLst>
          </p:cNvPr>
          <p:cNvSpPr/>
          <p:nvPr/>
        </p:nvSpPr>
        <p:spPr bwMode="auto">
          <a:xfrm>
            <a:off x="3810000" y="2514600"/>
            <a:ext cx="1066800" cy="457200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F913DD-9FDF-460B-B512-258F370A34B7}"/>
              </a:ext>
            </a:extLst>
          </p:cNvPr>
          <p:cNvSpPr txBox="1"/>
          <p:nvPr/>
        </p:nvSpPr>
        <p:spPr>
          <a:xfrm>
            <a:off x="3581400" y="3048000"/>
            <a:ext cx="1524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Unroll by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8F8D468B-C515-4D3E-BCF5-5069929D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Loop Unrolling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4742EFBF-D7B0-42B8-AD7B-AD5167C52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Unrolling with unknown bounds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Need to generate guard loops</a:t>
            </a:r>
          </a:p>
          <a:p>
            <a:pPr eaLnBrk="1" hangingPunct="1">
              <a:spcBef>
                <a:spcPts val="16200"/>
              </a:spcBef>
              <a:buFont typeface="Times" panose="02020603050405020304" pitchFamily="18" charset="0"/>
              <a:buNone/>
            </a:pPr>
            <a:r>
              <a:rPr lang="en-US" altLang="it-IT"/>
              <a:t>Achieves most of the savings</a:t>
            </a:r>
          </a:p>
          <a:p>
            <a:pPr eaLnBrk="1" hangingPunct="1"/>
            <a:r>
              <a:rPr lang="en-US" altLang="it-IT"/>
              <a:t>Reduces tests &amp; branches by 25%</a:t>
            </a:r>
          </a:p>
          <a:p>
            <a:pPr eaLnBrk="1" hangingPunct="1"/>
            <a:r>
              <a:rPr lang="en-US" altLang="it-IT"/>
              <a:t>LVN still works on loop body</a:t>
            </a:r>
          </a:p>
          <a:p>
            <a:pPr eaLnBrk="1" hangingPunct="1"/>
            <a:r>
              <a:rPr lang="en-US" altLang="it-IT"/>
              <a:t>Guard loop takes some space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Can generalize to arbitrary upper &amp; lower bounds, unroll factors</a:t>
            </a:r>
          </a:p>
        </p:txBody>
      </p:sp>
      <p:sp>
        <p:nvSpPr>
          <p:cNvPr id="46083" name="Footer Placeholder 3">
            <a:extLst>
              <a:ext uri="{FF2B5EF4-FFF2-40B4-BE49-F238E27FC236}">
                <a16:creationId xmlns:a16="http://schemas.microsoft.com/office/drawing/2014/main" id="{FF3B72C9-1C58-46EE-85F6-BA67B82FE6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6084" name="Slide Number Placeholder 4">
            <a:extLst>
              <a:ext uri="{FF2B5EF4-FFF2-40B4-BE49-F238E27FC236}">
                <a16:creationId xmlns:a16="http://schemas.microsoft.com/office/drawing/2014/main" id="{47B2124D-3B53-4E9D-B1FB-463660560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24B954C-4190-4B05-8C6A-DA788A601EE4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46085" name="TextBox 5">
            <a:extLst>
              <a:ext uri="{FF2B5EF4-FFF2-40B4-BE49-F238E27FC236}">
                <a16:creationId xmlns:a16="http://schemas.microsoft.com/office/drawing/2014/main" id="{41BE7E54-ABD5-48C0-92B5-6E6CFD009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latin typeface="Geneva"/>
                <a:ea typeface="Geneva"/>
                <a:cs typeface="Geneva"/>
              </a:rPr>
              <a:t>do i = 1 to n by 1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a(i) ← b(i) * c(i)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end</a:t>
            </a:r>
          </a:p>
        </p:txBody>
      </p:sp>
      <p:sp>
        <p:nvSpPr>
          <p:cNvPr id="46086" name="TextBox 6">
            <a:extLst>
              <a:ext uri="{FF2B5EF4-FFF2-40B4-BE49-F238E27FC236}">
                <a16:creationId xmlns:a16="http://schemas.microsoft.com/office/drawing/2014/main" id="{BF6424EF-A545-43FC-824B-15B8623AA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219200"/>
            <a:ext cx="3276600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latin typeface="Geneva"/>
                <a:ea typeface="Geneva"/>
                <a:cs typeface="Geneva"/>
              </a:rPr>
              <a:t>i ← 1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do while (i+3 &lt; n 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a(i)     ← b(i) * c(i)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a(i+1) ← b(i+1) * c(i+1)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a(i+2) ← b(i+2) * c(i+2)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a(i+3) ← b(i+3) * c(i+3)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i ←i + 4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end</a:t>
            </a:r>
          </a:p>
          <a:p>
            <a:pPr>
              <a:spcBef>
                <a:spcPts val="600"/>
              </a:spcBef>
            </a:pPr>
            <a:r>
              <a:rPr lang="en-US" altLang="it-IT" i="1">
                <a:latin typeface="Geneva"/>
                <a:ea typeface="Geneva"/>
                <a:cs typeface="Geneva"/>
              </a:rPr>
              <a:t>do while (i &lt; n)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a(i)     ← b(i) * c(i)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i ← i + 1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end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ABA14E19-05EB-4D42-AE14-A2A56BFFBE56}"/>
              </a:ext>
            </a:extLst>
          </p:cNvPr>
          <p:cNvSpPr/>
          <p:nvPr/>
        </p:nvSpPr>
        <p:spPr bwMode="auto">
          <a:xfrm>
            <a:off x="3810000" y="2514600"/>
            <a:ext cx="1066800" cy="457200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20AC0-8278-4B09-9DDB-40BA573CA225}"/>
              </a:ext>
            </a:extLst>
          </p:cNvPr>
          <p:cNvSpPr txBox="1"/>
          <p:nvPr/>
        </p:nvSpPr>
        <p:spPr>
          <a:xfrm>
            <a:off x="3581400" y="3048000"/>
            <a:ext cx="1524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Unroll by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F64209CE-8000-4D10-A1F7-07B1D27D6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Loop Unrolling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AFF88CB7-F5BE-44BB-AE05-12FE26A23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One other unrolling trick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Eliminate copies at the end of a loop</a:t>
            </a:r>
          </a:p>
          <a:p>
            <a:pPr eaLnBrk="1" hangingPunct="1">
              <a:spcBef>
                <a:spcPts val="17400"/>
              </a:spcBef>
              <a:buFont typeface="Times" panose="02020603050405020304" pitchFamily="18" charset="0"/>
              <a:buNone/>
            </a:pPr>
            <a:r>
              <a:rPr lang="en-US" altLang="it-IT"/>
              <a:t>Unroll by LCM of copy-cycle lengths</a:t>
            </a:r>
          </a:p>
          <a:p>
            <a:pPr eaLnBrk="1" hangingPunct="1"/>
            <a:r>
              <a:rPr lang="en-US" altLang="it-IT"/>
              <a:t>Eliminates the copies, which were a naming artifact</a:t>
            </a:r>
          </a:p>
          <a:p>
            <a:pPr eaLnBrk="1" hangingPunct="1"/>
            <a:r>
              <a:rPr lang="en-US" altLang="it-IT"/>
              <a:t>Achieves some of the benefits of unrolling</a:t>
            </a:r>
          </a:p>
          <a:p>
            <a:pPr lvl="1" eaLnBrk="1" hangingPunct="1"/>
            <a:r>
              <a:rPr lang="en-US" altLang="it-IT"/>
              <a:t>Lower overhead, longer blocks for local optimization</a:t>
            </a:r>
          </a:p>
          <a:p>
            <a:pPr eaLnBrk="1" hangingPunct="1"/>
            <a:r>
              <a:rPr lang="en-US" altLang="it-IT"/>
              <a:t>Situation occurs in more cases than you might suspect</a:t>
            </a:r>
          </a:p>
        </p:txBody>
      </p:sp>
      <p:sp>
        <p:nvSpPr>
          <p:cNvPr id="47107" name="Footer Placeholder 3">
            <a:extLst>
              <a:ext uri="{FF2B5EF4-FFF2-40B4-BE49-F238E27FC236}">
                <a16:creationId xmlns:a16="http://schemas.microsoft.com/office/drawing/2014/main" id="{92E229D7-BD1E-4359-B8D7-B5C98B1575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8" name="Slide Number Placeholder 4">
            <a:extLst>
              <a:ext uri="{FF2B5EF4-FFF2-40B4-BE49-F238E27FC236}">
                <a16:creationId xmlns:a16="http://schemas.microsoft.com/office/drawing/2014/main" id="{7F92A884-E239-4DF5-B3E0-1EEBF1B2F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3CEAC5D-2707-49BC-AA91-74C8F43E46CF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47109" name="TextBox 5">
            <a:extLst>
              <a:ext uri="{FF2B5EF4-FFF2-40B4-BE49-F238E27FC236}">
                <a16:creationId xmlns:a16="http://schemas.microsoft.com/office/drawing/2014/main" id="{C0597F97-8C9A-40F0-AC2E-D6078171A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2743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latin typeface="Geneva"/>
                <a:ea typeface="Geneva"/>
                <a:cs typeface="Geneva"/>
              </a:rPr>
              <a:t>t1 ← b(0)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do i = 1 to 100 by 1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     t2 ← b(i)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a(i) ← a(i) + t1 + t2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t1 ← t2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end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4150E8D-2E15-4874-B567-EAA2610BF4A1}"/>
              </a:ext>
            </a:extLst>
          </p:cNvPr>
          <p:cNvSpPr/>
          <p:nvPr/>
        </p:nvSpPr>
        <p:spPr bwMode="auto">
          <a:xfrm>
            <a:off x="3810000" y="2514600"/>
            <a:ext cx="1066800" cy="457200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9BB9D-0FD3-4E10-99D1-77E896E741C7}"/>
              </a:ext>
            </a:extLst>
          </p:cNvPr>
          <p:cNvSpPr txBox="1"/>
          <p:nvPr/>
        </p:nvSpPr>
        <p:spPr>
          <a:xfrm>
            <a:off x="3581400" y="3048000"/>
            <a:ext cx="1524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Unroll and rename</a:t>
            </a:r>
          </a:p>
        </p:txBody>
      </p:sp>
      <p:sp>
        <p:nvSpPr>
          <p:cNvPr id="47112" name="TextBox 10">
            <a:extLst>
              <a:ext uri="{FF2B5EF4-FFF2-40B4-BE49-F238E27FC236}">
                <a16:creationId xmlns:a16="http://schemas.microsoft.com/office/drawing/2014/main" id="{E58F1904-0051-4E63-8696-6D2508DE6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286000"/>
            <a:ext cx="33528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latin typeface="Geneva"/>
                <a:ea typeface="Geneva"/>
                <a:cs typeface="Geneva"/>
              </a:rPr>
              <a:t>t1 ← b(0)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do i = 1 to 100 by 2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     t2      ← b(i)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a(i)     ← a(i) + t1 + t2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t1      </a:t>
            </a:r>
            <a:r>
              <a:rPr lang="en-US" altLang="it-IT" sz="1200" i="1">
                <a:latin typeface="Geneva"/>
                <a:ea typeface="Geneva"/>
                <a:cs typeface="Geneva"/>
              </a:rPr>
              <a:t> </a:t>
            </a:r>
            <a:r>
              <a:rPr lang="en-US" altLang="it-IT" i="1">
                <a:latin typeface="Geneva"/>
                <a:ea typeface="Geneva"/>
                <a:cs typeface="Geneva"/>
              </a:rPr>
              <a:t>← b(i+1)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a(i+1) ← a(i+1) + t2 + t1</a:t>
            </a:r>
          </a:p>
          <a:p>
            <a:r>
              <a:rPr lang="en-US" altLang="it-IT" i="1">
                <a:latin typeface="Geneva"/>
                <a:ea typeface="Geneva"/>
                <a:cs typeface="Geneva"/>
              </a:rPr>
              <a:t>	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B3B26-94D7-4E2B-A409-DC045EEDD43A}"/>
              </a:ext>
            </a:extLst>
          </p:cNvPr>
          <p:cNvSpPr txBox="1"/>
          <p:nvPr/>
        </p:nvSpPr>
        <p:spPr>
          <a:xfrm>
            <a:off x="2438400" y="6245225"/>
            <a:ext cx="5638800" cy="3079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result has been rediscovered many times.  [Kennedy’s thesis]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2096</Words>
  <Application>Microsoft Office PowerPoint</Application>
  <PresentationFormat>Presentazione su schermo (4:3)</PresentationFormat>
  <Paragraphs>533</Paragraphs>
  <Slides>21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2" baseType="lpstr">
      <vt:lpstr>Blank Presentation</vt:lpstr>
      <vt:lpstr>Code Optimization, Part II Regional Techniques  Comp 412</vt:lpstr>
      <vt:lpstr>Last Lecture</vt:lpstr>
      <vt:lpstr>Local Value Numbering    (Recap)</vt:lpstr>
      <vt:lpstr>Local Value Numbering</vt:lpstr>
      <vt:lpstr>Terminology </vt:lpstr>
      <vt:lpstr>Scope of Optimization</vt:lpstr>
      <vt:lpstr>Scope of Optimization</vt:lpstr>
      <vt:lpstr>A Comp 412 Fairy Tale</vt:lpstr>
      <vt:lpstr>Superlocal Value Numbering</vt:lpstr>
      <vt:lpstr>Superlocal Value Numbering</vt:lpstr>
      <vt:lpstr>Superlocal Value Numbering</vt:lpstr>
      <vt:lpstr>Superlocal Value Numbering</vt:lpstr>
      <vt:lpstr>SSA Name Space     (locally)</vt:lpstr>
      <vt:lpstr>SSA Name Space           (in general) </vt:lpstr>
      <vt:lpstr>Superlocal Value Numbering</vt:lpstr>
      <vt:lpstr>Superlocal Value Numbering    </vt:lpstr>
      <vt:lpstr>Superlocal Value Numbering</vt:lpstr>
      <vt:lpstr>Loop Unrolling</vt:lpstr>
      <vt:lpstr>Loop Unrolling</vt:lpstr>
      <vt:lpstr>Loop Unrolling</vt:lpstr>
      <vt:lpstr>Loop Unrolling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30</cp:revision>
  <cp:lastPrinted>2010-11-08T15:11:20Z</cp:lastPrinted>
  <dcterms:created xsi:type="dcterms:W3CDTF">2011-01-19T21:55:59Z</dcterms:created>
  <dcterms:modified xsi:type="dcterms:W3CDTF">2020-10-20T11:48:00Z</dcterms:modified>
</cp:coreProperties>
</file>